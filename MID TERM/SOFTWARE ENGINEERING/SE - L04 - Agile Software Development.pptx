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3"/>
  </p:notesMasterIdLst>
  <p:sldIdLst>
    <p:sldId id="256" r:id="rId2"/>
    <p:sldId id="312" r:id="rId3"/>
    <p:sldId id="293" r:id="rId4"/>
    <p:sldId id="294" r:id="rId5"/>
    <p:sldId id="295" r:id="rId6"/>
    <p:sldId id="296" r:id="rId7"/>
    <p:sldId id="301" r:id="rId8"/>
    <p:sldId id="302" r:id="rId9"/>
    <p:sldId id="306" r:id="rId10"/>
    <p:sldId id="307" r:id="rId11"/>
    <p:sldId id="31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3" autoAdjust="0"/>
    <p:restoredTop sz="94660"/>
  </p:normalViewPr>
  <p:slideViewPr>
    <p:cSldViewPr snapToGrid="0">
      <p:cViewPr varScale="1">
        <p:scale>
          <a:sx n="63" d="100"/>
          <a:sy n="63" d="100"/>
        </p:scale>
        <p:origin x="61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8498978A-3D07-4CDA-A6FF-28AAFDDD6327}"/>
    <pc:docChg chg="modSld">
      <pc:chgData name="Saikat Baul" userId="dae859d7-ea3e-4a5d-83a1-d953f3940120" providerId="ADAL" clId="{8498978A-3D07-4CDA-A6FF-28AAFDDD6327}" dt="2025-03-15T07:36:36.096" v="15" actId="20577"/>
      <pc:docMkLst>
        <pc:docMk/>
      </pc:docMkLst>
      <pc:sldChg chg="modSp mod">
        <pc:chgData name="Saikat Baul" userId="dae859d7-ea3e-4a5d-83a1-d953f3940120" providerId="ADAL" clId="{8498978A-3D07-4CDA-A6FF-28AAFDDD6327}" dt="2025-03-15T07:36:36.096" v="15" actId="20577"/>
        <pc:sldMkLst>
          <pc:docMk/>
          <pc:sldMk cId="721621709" sldId="298"/>
        </pc:sldMkLst>
        <pc:spChg chg="mod">
          <ac:chgData name="Saikat Baul" userId="dae859d7-ea3e-4a5d-83a1-d953f3940120" providerId="ADAL" clId="{8498978A-3D07-4CDA-A6FF-28AAFDDD6327}" dt="2025-03-15T07:36:36.096" v="15" actId="20577"/>
          <ac:spMkLst>
            <pc:docMk/>
            <pc:sldMk cId="721621709" sldId="298"/>
            <ac:spMk id="3" creationId="{00000000-0000-0000-0000-000000000000}"/>
          </ac:spMkLst>
        </pc:spChg>
      </pc:sldChg>
    </pc:docChg>
  </pc:docChgLst>
  <pc:docChgLst>
    <pc:chgData name="Saikat Baul" userId="dae859d7-ea3e-4a5d-83a1-d953f3940120" providerId="ADAL" clId="{CAEF7DB1-8943-4AC1-8806-C24C468FC32B}"/>
    <pc:docChg chg="undo custSel modSld">
      <pc:chgData name="Saikat Baul" userId="dae859d7-ea3e-4a5d-83a1-d953f3940120" providerId="ADAL" clId="{CAEF7DB1-8943-4AC1-8806-C24C468FC32B}" dt="2025-03-01T08:38:58.499" v="50" actId="20577"/>
      <pc:docMkLst>
        <pc:docMk/>
      </pc:docMkLst>
      <pc:sldChg chg="delSp modSp mod">
        <pc:chgData name="Saikat Baul" userId="dae859d7-ea3e-4a5d-83a1-d953f3940120" providerId="ADAL" clId="{CAEF7DB1-8943-4AC1-8806-C24C468FC32B}" dt="2025-03-01T08:36:33.228" v="4" actId="1076"/>
        <pc:sldMkLst>
          <pc:docMk/>
          <pc:sldMk cId="2664565021" sldId="256"/>
        </pc:sldMkLst>
        <pc:spChg chg="mod">
          <ac:chgData name="Saikat Baul" userId="dae859d7-ea3e-4a5d-83a1-d953f3940120" providerId="ADAL" clId="{CAEF7DB1-8943-4AC1-8806-C24C468FC32B}" dt="2025-03-01T08:36:33.228" v="4" actId="1076"/>
          <ac:spMkLst>
            <pc:docMk/>
            <pc:sldMk cId="2664565021" sldId="256"/>
            <ac:spMk id="24" creationId="{C2082529-78D7-4EA7-BFF9-A1D1F62040C8}"/>
          </ac:spMkLst>
        </pc:spChg>
      </pc:sldChg>
      <pc:sldChg chg="modSp mod">
        <pc:chgData name="Saikat Baul" userId="dae859d7-ea3e-4a5d-83a1-d953f3940120" providerId="ADAL" clId="{CAEF7DB1-8943-4AC1-8806-C24C468FC32B}" dt="2025-03-01T08:38:58.499" v="50" actId="20577"/>
        <pc:sldMkLst>
          <pc:docMk/>
          <pc:sldMk cId="3411684674" sldId="293"/>
        </pc:sldMkLst>
        <pc:spChg chg="mod">
          <ac:chgData name="Saikat Baul" userId="dae859d7-ea3e-4a5d-83a1-d953f3940120" providerId="ADAL" clId="{CAEF7DB1-8943-4AC1-8806-C24C468FC32B}" dt="2025-03-01T08:38:58.499" v="50" actId="20577"/>
          <ac:spMkLst>
            <pc:docMk/>
            <pc:sldMk cId="3411684674" sldId="293"/>
            <ac:spMk id="3" creationId="{00000000-0000-0000-0000-000000000000}"/>
          </ac:spMkLst>
        </pc:spChg>
        <pc:spChg chg="mod">
          <ac:chgData name="Saikat Baul" userId="dae859d7-ea3e-4a5d-83a1-d953f3940120" providerId="ADAL" clId="{CAEF7DB1-8943-4AC1-8806-C24C468FC32B}" dt="2025-03-01T08:36:54.863" v="10" actId="122"/>
          <ac:spMkLst>
            <pc:docMk/>
            <pc:sldMk cId="3411684674" sldId="293"/>
            <ac:spMk id="6" creationId="{00000000-0000-0000-0000-000000000000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13.698" v="17"/>
        <pc:sldMkLst>
          <pc:docMk/>
          <pc:sldMk cId="291408106" sldId="294"/>
        </pc:sldMkLst>
        <pc:spChg chg="add mod">
          <ac:chgData name="Saikat Baul" userId="dae859d7-ea3e-4a5d-83a1-d953f3940120" providerId="ADAL" clId="{CAEF7DB1-8943-4AC1-8806-C24C468FC32B}" dt="2025-03-01T08:37:13.698" v="17"/>
          <ac:spMkLst>
            <pc:docMk/>
            <pc:sldMk cId="291408106" sldId="294"/>
            <ac:spMk id="7" creationId="{D2BEDC39-C1E3-7B8C-2792-255706C16BD8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20.848" v="19"/>
        <pc:sldMkLst>
          <pc:docMk/>
          <pc:sldMk cId="3572633632" sldId="295"/>
        </pc:sldMkLst>
        <pc:spChg chg="add mod">
          <ac:chgData name="Saikat Baul" userId="dae859d7-ea3e-4a5d-83a1-d953f3940120" providerId="ADAL" clId="{CAEF7DB1-8943-4AC1-8806-C24C468FC32B}" dt="2025-03-01T08:37:20.848" v="19"/>
          <ac:spMkLst>
            <pc:docMk/>
            <pc:sldMk cId="3572633632" sldId="295"/>
            <ac:spMk id="4" creationId="{C07B2D7A-CBEE-25EB-3781-0D99501FC71C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28.598" v="21"/>
        <pc:sldMkLst>
          <pc:docMk/>
          <pc:sldMk cId="3180374787" sldId="296"/>
        </pc:sldMkLst>
        <pc:spChg chg="add mod">
          <ac:chgData name="Saikat Baul" userId="dae859d7-ea3e-4a5d-83a1-d953f3940120" providerId="ADAL" clId="{CAEF7DB1-8943-4AC1-8806-C24C468FC32B}" dt="2025-03-01T08:37:28.598" v="21"/>
          <ac:spMkLst>
            <pc:docMk/>
            <pc:sldMk cId="3180374787" sldId="296"/>
            <ac:spMk id="4" creationId="{63510ABD-DB0E-DF52-07EB-740E2D14E3EC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39.814" v="25"/>
        <pc:sldMkLst>
          <pc:docMk/>
          <pc:sldMk cId="721621709" sldId="298"/>
        </pc:sldMkLst>
        <pc:spChg chg="add mod">
          <ac:chgData name="Saikat Baul" userId="dae859d7-ea3e-4a5d-83a1-d953f3940120" providerId="ADAL" clId="{CAEF7DB1-8943-4AC1-8806-C24C468FC32B}" dt="2025-03-01T08:37:39.814" v="25"/>
          <ac:spMkLst>
            <pc:docMk/>
            <pc:sldMk cId="721621709" sldId="298"/>
            <ac:spMk id="4" creationId="{F5DA4B15-233A-29DD-5BFC-8441CFFCD4E1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34.957" v="23"/>
        <pc:sldMkLst>
          <pc:docMk/>
          <pc:sldMk cId="1471183104" sldId="299"/>
        </pc:sldMkLst>
        <pc:spChg chg="add mod">
          <ac:chgData name="Saikat Baul" userId="dae859d7-ea3e-4a5d-83a1-d953f3940120" providerId="ADAL" clId="{CAEF7DB1-8943-4AC1-8806-C24C468FC32B}" dt="2025-03-01T08:37:34.957" v="23"/>
          <ac:spMkLst>
            <pc:docMk/>
            <pc:sldMk cId="1471183104" sldId="299"/>
            <ac:spMk id="4" creationId="{8D092BAC-5BD5-6FA5-4270-AA052E9739FA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44.980" v="27"/>
        <pc:sldMkLst>
          <pc:docMk/>
          <pc:sldMk cId="1434796336" sldId="300"/>
        </pc:sldMkLst>
        <pc:spChg chg="add mod">
          <ac:chgData name="Saikat Baul" userId="dae859d7-ea3e-4a5d-83a1-d953f3940120" providerId="ADAL" clId="{CAEF7DB1-8943-4AC1-8806-C24C468FC32B}" dt="2025-03-01T08:37:44.980" v="27"/>
          <ac:spMkLst>
            <pc:docMk/>
            <pc:sldMk cId="1434796336" sldId="300"/>
            <ac:spMk id="4" creationId="{D08B636A-0CB5-F3C2-B63A-1B9237AD3761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50.243" v="29"/>
        <pc:sldMkLst>
          <pc:docMk/>
          <pc:sldMk cId="3527609015" sldId="301"/>
        </pc:sldMkLst>
        <pc:spChg chg="add mod">
          <ac:chgData name="Saikat Baul" userId="dae859d7-ea3e-4a5d-83a1-d953f3940120" providerId="ADAL" clId="{CAEF7DB1-8943-4AC1-8806-C24C468FC32B}" dt="2025-03-01T08:37:50.243" v="29"/>
          <ac:spMkLst>
            <pc:docMk/>
            <pc:sldMk cId="3527609015" sldId="301"/>
            <ac:spMk id="3" creationId="{BEC75998-0B41-0AE9-551D-D54E5715142B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7:57.298" v="31"/>
        <pc:sldMkLst>
          <pc:docMk/>
          <pc:sldMk cId="2493567879" sldId="302"/>
        </pc:sldMkLst>
        <pc:spChg chg="add mod">
          <ac:chgData name="Saikat Baul" userId="dae859d7-ea3e-4a5d-83a1-d953f3940120" providerId="ADAL" clId="{CAEF7DB1-8943-4AC1-8806-C24C468FC32B}" dt="2025-03-01T08:37:57.298" v="31"/>
          <ac:spMkLst>
            <pc:docMk/>
            <pc:sldMk cId="2493567879" sldId="302"/>
            <ac:spMk id="4" creationId="{5CE0013D-DEDE-2C8C-836B-C2523BE1D182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02.555" v="33"/>
        <pc:sldMkLst>
          <pc:docMk/>
          <pc:sldMk cId="278277641" sldId="304"/>
        </pc:sldMkLst>
        <pc:spChg chg="add mod">
          <ac:chgData name="Saikat Baul" userId="dae859d7-ea3e-4a5d-83a1-d953f3940120" providerId="ADAL" clId="{CAEF7DB1-8943-4AC1-8806-C24C468FC32B}" dt="2025-03-01T08:38:02.555" v="33"/>
          <ac:spMkLst>
            <pc:docMk/>
            <pc:sldMk cId="278277641" sldId="304"/>
            <ac:spMk id="4" creationId="{B59A2C31-FE4F-FD17-CB5D-6D1724075AD3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07.624" v="35"/>
        <pc:sldMkLst>
          <pc:docMk/>
          <pc:sldMk cId="3626468180" sldId="305"/>
        </pc:sldMkLst>
        <pc:spChg chg="add mod">
          <ac:chgData name="Saikat Baul" userId="dae859d7-ea3e-4a5d-83a1-d953f3940120" providerId="ADAL" clId="{CAEF7DB1-8943-4AC1-8806-C24C468FC32B}" dt="2025-03-01T08:38:07.624" v="35"/>
          <ac:spMkLst>
            <pc:docMk/>
            <pc:sldMk cId="3626468180" sldId="305"/>
            <ac:spMk id="4" creationId="{EEE3E51F-F0B4-D160-AD98-98050DC522EB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12.896" v="37"/>
        <pc:sldMkLst>
          <pc:docMk/>
          <pc:sldMk cId="3234957445" sldId="306"/>
        </pc:sldMkLst>
        <pc:spChg chg="add mod">
          <ac:chgData name="Saikat Baul" userId="dae859d7-ea3e-4a5d-83a1-d953f3940120" providerId="ADAL" clId="{CAEF7DB1-8943-4AC1-8806-C24C468FC32B}" dt="2025-03-01T08:38:12.896" v="37"/>
          <ac:spMkLst>
            <pc:docMk/>
            <pc:sldMk cId="3234957445" sldId="306"/>
            <ac:spMk id="4" creationId="{ACC1759B-8ED8-6864-1BA5-3B0DC0869E24}"/>
          </ac:spMkLst>
        </pc:spChg>
      </pc:sldChg>
      <pc:sldChg chg="addSp delSp modSp mod">
        <pc:chgData name="Saikat Baul" userId="dae859d7-ea3e-4a5d-83a1-d953f3940120" providerId="ADAL" clId="{CAEF7DB1-8943-4AC1-8806-C24C468FC32B}" dt="2025-03-01T08:38:17.889" v="39"/>
        <pc:sldMkLst>
          <pc:docMk/>
          <pc:sldMk cId="665948692" sldId="307"/>
        </pc:sldMkLst>
        <pc:spChg chg="add mod">
          <ac:chgData name="Saikat Baul" userId="dae859d7-ea3e-4a5d-83a1-d953f3940120" providerId="ADAL" clId="{CAEF7DB1-8943-4AC1-8806-C24C468FC32B}" dt="2025-03-01T08:38:17.889" v="39"/>
          <ac:spMkLst>
            <pc:docMk/>
            <pc:sldMk cId="665948692" sldId="307"/>
            <ac:spMk id="4" creationId="{830E328A-3046-A1A4-6F7F-41053FB04F30}"/>
          </ac:spMkLst>
        </pc:spChg>
      </pc:sldChg>
      <pc:sldChg chg="addSp modSp">
        <pc:chgData name="Saikat Baul" userId="dae859d7-ea3e-4a5d-83a1-d953f3940120" providerId="ADAL" clId="{CAEF7DB1-8943-4AC1-8806-C24C468FC32B}" dt="2025-03-01T08:38:21.505" v="40"/>
        <pc:sldMkLst>
          <pc:docMk/>
          <pc:sldMk cId="64039236" sldId="311"/>
        </pc:sldMkLst>
        <pc:spChg chg="add mod">
          <ac:chgData name="Saikat Baul" userId="dae859d7-ea3e-4a5d-83a1-d953f3940120" providerId="ADAL" clId="{CAEF7DB1-8943-4AC1-8806-C24C468FC32B}" dt="2025-03-01T08:38:21.505" v="40"/>
          <ac:spMkLst>
            <pc:docMk/>
            <pc:sldMk cId="64039236" sldId="311"/>
            <ac:spMk id="4" creationId="{528DA654-9A91-4CCA-8E45-E5168893F26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  <a:pPr/>
              <a:t>16/07/2025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58052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  <a:pPr/>
              <a:t>7/16/2025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  <a:pPr/>
              <a:t>7/16/2025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7/16/2025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  <a:pPr/>
              <a:t>7/16/2025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  <a:pPr/>
              <a:t>7/16/2025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  <a:pPr/>
              <a:t>7/16/2025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  <a:pPr/>
              <a:t>7/16/2025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  <a:pPr/>
              <a:t>7/16/2025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  <a:pPr/>
              <a:t>7/16/2025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  <a:pPr/>
              <a:t>7/16/2025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  <a:pPr/>
              <a:t>7/16/2025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7/16/2025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jubayer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>
                <a:solidFill>
                  <a:srgbClr val="C00000"/>
                </a:solidFill>
              </a:rPr>
              <a:t>Chapter 4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agile software development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C2082529-78D7-4EA7-BFF9-A1D1F62040C8}"/>
              </a:ext>
            </a:extLst>
          </p:cNvPr>
          <p:cNvSpPr txBox="1">
            <a:spLocks/>
          </p:cNvSpPr>
          <p:nvPr/>
        </p:nvSpPr>
        <p:spPr>
          <a:xfrm>
            <a:off x="4596388" y="4963700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rgbClr val="7030A0"/>
                </a:solidFill>
              </a:rPr>
              <a:t>Jubayer Ahamed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Lecturer, CS,  AIUB</a:t>
            </a:r>
          </a:p>
          <a:p>
            <a:r>
              <a:rPr lang="en-US" sz="2400" cap="none">
                <a:solidFill>
                  <a:schemeClr val="tx1"/>
                </a:solidFill>
                <a:hlinkClick r:id="rId3"/>
              </a:rPr>
              <a:t>jubayer@</a:t>
            </a:r>
            <a:r>
              <a:rPr lang="en-US" sz="2400" cap="none" dirty="0">
                <a:solidFill>
                  <a:schemeClr val="tx1"/>
                </a:solidFill>
                <a:hlinkClick r:id="rId3"/>
              </a:rPr>
              <a:t>aiub</a:t>
            </a:r>
            <a:r>
              <a:rPr lang="en-US" sz="2400" cap="none">
                <a:solidFill>
                  <a:schemeClr val="tx1"/>
                </a:solidFill>
                <a:hlinkClick r:id="rId3"/>
              </a:rPr>
              <a:t>.edu</a:t>
            </a:r>
            <a:r>
              <a:rPr lang="en-US" sz="2400" cap="none">
                <a:solidFill>
                  <a:schemeClr val="tx1"/>
                </a:solidFill>
              </a:rPr>
              <a:t> </a:t>
            </a:r>
            <a:endParaRPr lang="en-US" sz="2800" cap="none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E5F233-5F84-472A-B835-11475F02A795}"/>
              </a:ext>
            </a:extLst>
          </p:cNvPr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AEA6F-6557-2028-7F67-B84EF553A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A10F-01E2-1781-9B49-36D464B56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What  is  an  agile  method?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CC354-A5FB-5796-91DB-84788870D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569" y="1998616"/>
            <a:ext cx="10914122" cy="438893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Agile methods are considered 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Lightweight (do not concentrate on the whole software development at once)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People-based rather than Plan-based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Several agile methods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  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No single agile method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Different agile methods can be combined </a:t>
            </a:r>
            <a:r>
              <a:rPr lang="en-US" sz="2200">
                <a:solidFill>
                  <a:srgbClr val="C00000"/>
                </a:solidFill>
                <a:latin typeface="+mj-lt"/>
                <a:cs typeface="Calibri" pitchFamily="34" charset="0"/>
              </a:rPr>
              <a:t>in software development </a:t>
            </a: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(Hybrid) 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No single definition.  Agile Manifesto closest to a definition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Set of principles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Developed by Agile Alliance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6691B349-AB37-6538-1DC9-CD66C4ECFE7B}"/>
              </a:ext>
            </a:extLst>
          </p:cNvPr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AD4AF5-6752-2C14-A830-2D9A2840F4AA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81064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884" y="1972492"/>
            <a:ext cx="10914122" cy="4428308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400" dirty="0">
                <a:latin typeface="+mj-lt"/>
                <a:cs typeface="Calibri" pitchFamily="34" charset="0"/>
              </a:rPr>
              <a:t>    </a:t>
            </a: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“Plan-driven methods work best when developers can determine the requirements in  </a:t>
            </a:r>
            <a:b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advance . . . and when the requirements remain relatively stable, with change rates on</a:t>
            </a:r>
            <a:b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the order of one percent per month.”</a:t>
            </a:r>
            <a:r>
              <a:rPr lang="en-US" sz="2400" i="1" dirty="0">
                <a:solidFill>
                  <a:srgbClr val="C00000"/>
                </a:solidFill>
                <a:latin typeface="+mj-lt"/>
                <a:cs typeface="Calibri" pitchFamily="34" charset="0"/>
              </a:rPr>
              <a:t>~ Barry Boehm</a:t>
            </a:r>
          </a:p>
          <a:p>
            <a:pPr>
              <a:buNone/>
            </a:pPr>
            <a:endParaRPr lang="en-US" sz="2400" i="1" dirty="0">
              <a:latin typeface="+mj-lt"/>
              <a:cs typeface="Calibri" pitchFamily="34" charset="0"/>
            </a:endParaRP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400" dirty="0">
                <a:latin typeface="+mj-lt"/>
                <a:cs typeface="Calibri" pitchFamily="34" charset="0"/>
              </a:rPr>
              <a:t>Agility is the ability to create and respond to change in order to profit in </a:t>
            </a:r>
            <a:r>
              <a:rPr lang="en-US" sz="2400">
                <a:latin typeface="+mj-lt"/>
                <a:cs typeface="Calibri" pitchFamily="34" charset="0"/>
              </a:rPr>
              <a:t>a turbulent business </a:t>
            </a:r>
            <a:r>
              <a:rPr lang="en-US" sz="2400" dirty="0">
                <a:latin typeface="+mj-lt"/>
                <a:cs typeface="Calibri" pitchFamily="34" charset="0"/>
              </a:rPr>
              <a:t>environment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400" dirty="0">
                <a:latin typeface="+mj-lt"/>
                <a:cs typeface="Calibri" pitchFamily="34" charset="0"/>
              </a:rPr>
              <a:t>Companies need to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latin typeface="+mj-lt"/>
                <a:cs typeface="Calibri" pitchFamily="34" charset="0"/>
              </a:rPr>
              <a:t>  innovate better and faster operations</a:t>
            </a:r>
          </a:p>
          <a:p>
            <a:pPr lvl="1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2400" dirty="0">
                <a:latin typeface="+mj-lt"/>
                <a:cs typeface="Calibri" pitchFamily="34" charset="0"/>
              </a:rPr>
              <a:t>  respond quickly to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competitive initiatives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new technology</a:t>
            </a: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sz="24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 customer's requirements</a:t>
            </a: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411684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1821" y="1907176"/>
            <a:ext cx="10914122" cy="414906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Subset of iterative and evolutionary methods </a:t>
            </a:r>
          </a:p>
          <a:p>
            <a:pPr>
              <a:buNone/>
            </a:pPr>
            <a:r>
              <a:rPr lang="en-US" sz="2200" b="1" u="sng" dirty="0">
                <a:latin typeface="+mj-lt"/>
                <a:cs typeface="Calibri" pitchFamily="34" charset="0"/>
              </a:rPr>
              <a:t>Iterative Products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Each iteration is a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self-contained, mini-project </a:t>
            </a:r>
            <a:r>
              <a:rPr lang="en-US" sz="2200" dirty="0">
                <a:latin typeface="+mj-lt"/>
                <a:cs typeface="Calibri" pitchFamily="34" charset="0"/>
              </a:rPr>
              <a:t>with activities that span requirements analysis, design, implementation, and test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Leads to an iteration release (which may be only an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internal release</a:t>
            </a:r>
            <a:r>
              <a:rPr lang="en-US" sz="2200" dirty="0">
                <a:latin typeface="+mj-lt"/>
                <a:cs typeface="Calibri" pitchFamily="34" charset="0"/>
              </a:rPr>
              <a:t>) that integrates all software across the team and is a growing and evolving subset of the final system</a:t>
            </a:r>
          </a:p>
          <a:p>
            <a:pPr>
              <a:buFont typeface="Wingdings" pitchFamily="2" charset="2"/>
              <a:buChar char="§"/>
            </a:pPr>
            <a:r>
              <a:rPr lang="en-US" sz="2200" dirty="0">
                <a:latin typeface="+mj-lt"/>
                <a:cs typeface="Calibri" pitchFamily="34" charset="0"/>
              </a:rPr>
              <a:t>The purpose of having short iterations is so that feedback from iterations N and earlier, </a:t>
            </a:r>
            <a:br>
              <a:rPr lang="en-US" sz="2200" dirty="0">
                <a:latin typeface="+mj-lt"/>
                <a:cs typeface="Calibri" pitchFamily="34" charset="0"/>
              </a:rPr>
            </a:br>
            <a:r>
              <a:rPr lang="en-US" sz="2200" dirty="0">
                <a:latin typeface="+mj-lt"/>
                <a:cs typeface="Calibri" pitchFamily="34" charset="0"/>
              </a:rPr>
              <a:t>and any other new information, can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lead to refinement </a:t>
            </a:r>
            <a:r>
              <a:rPr lang="en-US" sz="2200" dirty="0">
                <a:latin typeface="+mj-lt"/>
                <a:cs typeface="Calibri" pitchFamily="34" charset="0"/>
              </a:rPr>
              <a:t>and requirements adaptation for iteration N + 1</a:t>
            </a: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BEDC39-C1E3-7B8C-2792-255706C16BD8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9140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methods  vs.  Past  Iterative 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939" y="2275207"/>
            <a:ext cx="10914122" cy="3396723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A key difference between agile methods and past iterative methods is the length of each  </a:t>
            </a:r>
            <a:br>
              <a:rPr lang="en-US" sz="2200" dirty="0">
                <a:latin typeface="+mj-lt"/>
                <a:cs typeface="Calibri" pitchFamily="34" charset="0"/>
              </a:rPr>
            </a:br>
            <a:r>
              <a:rPr lang="en-US" sz="2200" dirty="0">
                <a:latin typeface="+mj-lt"/>
                <a:cs typeface="Calibri" pitchFamily="34" charset="0"/>
              </a:rPr>
              <a:t> iteration</a:t>
            </a:r>
            <a:br>
              <a:rPr lang="en-US" sz="2200" dirty="0">
                <a:latin typeface="+mj-lt"/>
                <a:cs typeface="Calibri" pitchFamily="34" charset="0"/>
              </a:rPr>
            </a:br>
            <a:endParaRPr lang="en-US" sz="2200" dirty="0">
              <a:latin typeface="+mj-lt"/>
              <a:cs typeface="Calibri" pitchFamily="34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In the past, iterations might have been three or six months long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In agile methods, iteration lengths vary between one to four weeks, and intentionally</a:t>
            </a:r>
            <a:b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do not exceed 30 days</a:t>
            </a:r>
          </a:p>
          <a:p>
            <a:pPr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Research has shown that shorter iterations have lower complexity and risk, better  </a:t>
            </a:r>
            <a:b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C00000"/>
                </a:solidFill>
                <a:latin typeface="+mj-lt"/>
                <a:cs typeface="Calibri" pitchFamily="34" charset="0"/>
              </a:rPr>
              <a:t> feedback, and higher productivity and success rates</a:t>
            </a:r>
          </a:p>
          <a:p>
            <a:pPr>
              <a:buFont typeface="Wingdings" pitchFamily="2" charset="2"/>
              <a:buChar char="q"/>
            </a:pP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07B2D7A-CBEE-25EB-3781-0D99501FC71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572633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" pitchFamily="34" charset="0"/>
              </a:rPr>
              <a:t>Timebox</a:t>
            </a:r>
            <a:r>
              <a:rPr lang="en-US" dirty="0">
                <a:cs typeface="Calibri" pitchFamily="34" charset="0"/>
              </a:rPr>
              <a:t>  &amp;  scope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9569" y="2116182"/>
            <a:ext cx="10914122" cy="2416629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The pre-determined iteration length serves as a </a:t>
            </a:r>
            <a:r>
              <a:rPr lang="en-US" sz="2200" dirty="0" err="1">
                <a:latin typeface="+mj-lt"/>
                <a:cs typeface="Calibri" pitchFamily="34" charset="0"/>
              </a:rPr>
              <a:t>timebox</a:t>
            </a:r>
            <a:r>
              <a:rPr lang="en-US" sz="2200" dirty="0">
                <a:latin typeface="+mj-lt"/>
                <a:cs typeface="Calibri" pitchFamily="34" charset="0"/>
              </a:rPr>
              <a:t> for the team. 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Scope (set of tasks) is chosen for each iteration to fill the iteration length. </a:t>
            </a:r>
          </a:p>
          <a:p>
            <a:pPr>
              <a:buFont typeface="Wingdings" pitchFamily="2" charset="2"/>
              <a:buChar char="q"/>
            </a:pPr>
            <a:r>
              <a:rPr lang="en-US" sz="2200" dirty="0">
                <a:latin typeface="+mj-lt"/>
                <a:cs typeface="Calibri" pitchFamily="34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Rather than increase the iteration length to fit the chosen scope, </a:t>
            </a:r>
            <a:b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</a:br>
            <a:r>
              <a:rPr lang="en-US" sz="2200" dirty="0">
                <a:solidFill>
                  <a:srgbClr val="FF0000"/>
                </a:solidFill>
                <a:latin typeface="+mj-lt"/>
                <a:cs typeface="Calibri" pitchFamily="34" charset="0"/>
              </a:rPr>
              <a:t> the scope is reduced to fit the iteration length.</a:t>
            </a:r>
          </a:p>
          <a:p>
            <a:pPr>
              <a:lnSpc>
                <a:spcPct val="80000"/>
              </a:lnSpc>
              <a:buFont typeface="Wingdings" pitchFamily="2" charset="2"/>
              <a:buChar char="q"/>
            </a:pPr>
            <a:endParaRPr lang="en-GB" sz="22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510ABD-DB0E-DF52-07EB-740E2D14E3EC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180374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vs.  Plan  driven  process</a:t>
            </a:r>
            <a:endParaRPr lang="en-GB" dirty="0"/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51652" cy="988551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6609" y="2102394"/>
          <a:ext cx="10665824" cy="4075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2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2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05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</a:rPr>
                        <a:t>Agile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</a:rPr>
                        <a:t>Plan Driven Process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cs typeface="Calibri" pitchFamily="34" charset="0"/>
                        </a:rPr>
                        <a:t>Small products and teams; scalability limited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j-lt"/>
                          <a:cs typeface="Calibri" pitchFamily="34" charset="0"/>
                        </a:rPr>
                        <a:t>Large products and teams; hard to scale down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Inappropriate</a:t>
                      </a:r>
                      <a:r>
                        <a:rPr lang="en-US" sz="2000" b="0" baseline="0" dirty="0">
                          <a:latin typeface="+mj-lt"/>
                          <a:cs typeface="Calibri" pitchFamily="34" charset="0"/>
                        </a:rPr>
                        <a:t> for </a:t>
                      </a: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safety-critical products because of frequent changes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Handles highly critical products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Good for dynamic, but expensive for stable environments.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Good for stable, but expensive for dynamic environments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83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Require experienced Agile personnel throughout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Require experienced personnel only at start if stable environment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7995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Personnel succeed on freedom and chaos</a:t>
                      </a:r>
                      <a:endParaRPr lang="en-US" sz="2000" b="0" dirty="0"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latin typeface="+mj-lt"/>
                          <a:cs typeface="Calibri" pitchFamily="34" charset="0"/>
                        </a:rPr>
                        <a:t>Personnel succeed on structure and order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75998-0B41-0AE9-551D-D54E5715142B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527609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assumption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884" y="2050868"/>
            <a:ext cx="10914122" cy="4441372"/>
          </a:xfrm>
        </p:spPr>
        <p:txBody>
          <a:bodyPr>
            <a:noAutofit/>
          </a:bodyPr>
          <a:lstStyle/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It is difficult to predict in advance which software </a:t>
            </a:r>
          </a:p>
          <a:p>
            <a:pPr marL="414488"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requirements will persist and which will change</a:t>
            </a:r>
          </a:p>
          <a:p>
            <a:pPr marL="414488" lvl="1">
              <a:lnSpc>
                <a:spcPct val="90000"/>
              </a:lnSpc>
            </a:pPr>
            <a:r>
              <a:rPr lang="en-US" sz="2200" dirty="0">
                <a:solidFill>
                  <a:srgbClr val="C00000"/>
                </a:solidFill>
                <a:latin typeface="+mj-lt"/>
              </a:rPr>
              <a:t>It is equally difficult to predict how customer priorities will change as the project proceeds</a:t>
            </a:r>
          </a:p>
          <a:p>
            <a:pPr marL="90488">
              <a:lnSpc>
                <a:spcPct val="90000"/>
              </a:lnSpc>
            </a:pPr>
            <a:endParaRPr lang="en-US" sz="2200" dirty="0">
              <a:latin typeface="+mj-lt"/>
            </a:endParaRPr>
          </a:p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/>
              <a:t>Design and construction are interleaved in</a:t>
            </a:r>
            <a:r>
              <a:rPr lang="en-US" sz="2200" dirty="0">
                <a:latin typeface="+mj-lt"/>
              </a:rPr>
              <a:t> many types of software. That is, both activities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should be performed tightly so that design models are proven as they are created. It is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difficult to predict how much design is necessary before construction is used to prove the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design.</a:t>
            </a:r>
          </a:p>
          <a:p>
            <a:pPr marL="90488">
              <a:lnSpc>
                <a:spcPct val="90000"/>
              </a:lnSpc>
              <a:buFont typeface="Wingdings" pitchFamily="2" charset="2"/>
              <a:buChar char="q"/>
            </a:pPr>
            <a:r>
              <a:rPr lang="en-US" sz="2200" dirty="0">
                <a:latin typeface="+mj-lt"/>
              </a:rPr>
              <a:t>Analysis, design, construction, and testing are not as predictable (from a planning point of </a:t>
            </a:r>
            <a:br>
              <a:rPr lang="en-US" sz="2200" dirty="0">
                <a:latin typeface="+mj-lt"/>
              </a:rPr>
            </a:br>
            <a:r>
              <a:rPr lang="en-US" sz="2200" dirty="0">
                <a:latin typeface="+mj-lt"/>
              </a:rPr>
              <a:t>   view) as we might like.</a:t>
            </a:r>
            <a:endParaRPr lang="en-US" sz="2200" dirty="0">
              <a:solidFill>
                <a:srgbClr val="00206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CE0013D-DEDE-2C8C-836B-C2523BE1D182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2493567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Human  factors  in  agile  development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96" y="1985555"/>
            <a:ext cx="10914122" cy="3526971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Competence/skill/capability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Common focus 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Collaboration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Decision-making 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Fuzzy (vague) problem-solving ability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Mutual trust and respect</a:t>
            </a:r>
          </a:p>
          <a:p>
            <a:pPr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Self-organization</a:t>
            </a:r>
            <a:endParaRPr lang="en-US" sz="2000" dirty="0">
              <a:solidFill>
                <a:srgbClr val="002060"/>
              </a:solidFill>
              <a:latin typeface="+mj-lt"/>
              <a:cs typeface="Calibri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C1759B-8ED8-6864-1BA5-3B0DC0869E24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3234957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" pitchFamily="34" charset="0"/>
              </a:rPr>
              <a:t>Agile  methods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696" y="1985555"/>
            <a:ext cx="10914122" cy="352697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</a:rPr>
              <a:t>  </a:t>
            </a:r>
            <a:r>
              <a:rPr lang="en-US" sz="2000" dirty="0">
                <a:latin typeface="+mj-lt"/>
                <a:cs typeface="Calibri" pitchFamily="34" charset="0"/>
              </a:rPr>
              <a:t>Extreme Programming (XP)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 Scrum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 Dynamic Systems Development Method (DSDM)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 Feature-Driven Development (FDD)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 Crystal Methods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 Lean Development (LD)</a:t>
            </a:r>
          </a:p>
          <a:p>
            <a:pPr>
              <a:lnSpc>
                <a:spcPct val="90000"/>
              </a:lnSpc>
              <a:buFont typeface="Wingdings" pitchFamily="2" charset="2"/>
              <a:buChar char="q"/>
            </a:pPr>
            <a:r>
              <a:rPr lang="en-US" sz="2000" dirty="0">
                <a:latin typeface="+mj-lt"/>
                <a:cs typeface="Calibri" pitchFamily="34" charset="0"/>
              </a:rPr>
              <a:t>  Adaptive Software Development (ASD)</a:t>
            </a: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11766177" y="605118"/>
            <a:ext cx="212463" cy="1158367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0E328A-3046-A1A4-6F7F-41053FB04F30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65948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ＭＳ Ｐゴシック" pitchFamily="34" charset="-128"/>
              </a:rPr>
              <a:t>R.S. Pressman &amp; Associates, Inc. (2010). </a:t>
            </a:r>
            <a:r>
              <a:rPr lang="en-US" sz="2000" i="1" dirty="0">
                <a:ea typeface="ＭＳ Ｐゴシック" pitchFamily="34" charset="-128"/>
              </a:rPr>
              <a:t>Software Engineering: A Practitioner’s Approach.</a:t>
            </a: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ＭＳ Ｐゴシック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8DA654-9A91-4CCA-8E45-E5168893F26E}"/>
              </a:ext>
            </a:extLst>
          </p:cNvPr>
          <p:cNvSpPr>
            <a:spLocks noGrp="1"/>
          </p:cNvSpPr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SB</a:t>
            </a:r>
          </a:p>
        </p:txBody>
      </p:sp>
    </p:spTree>
    <p:extLst>
      <p:ext uri="{BB962C8B-B14F-4D97-AF65-F5344CB8AC3E}">
        <p14:creationId xmlns:p14="http://schemas.microsoft.com/office/powerpoint/2010/main" val="640392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842</Words>
  <Application>Microsoft Office PowerPoint</Application>
  <PresentationFormat>Widescreen</PresentationFormat>
  <Paragraphs>104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ＭＳ Ｐゴシック</vt:lpstr>
      <vt:lpstr>Calibri</vt:lpstr>
      <vt:lpstr>Gill Sans MT</vt:lpstr>
      <vt:lpstr>Wingdings</vt:lpstr>
      <vt:lpstr>Wingdings 2</vt:lpstr>
      <vt:lpstr>Dividend</vt:lpstr>
      <vt:lpstr>PowerPoint Presentation</vt:lpstr>
      <vt:lpstr>What  is  an  agile  method?</vt:lpstr>
      <vt:lpstr>Agile  development</vt:lpstr>
      <vt:lpstr>Agile  Model</vt:lpstr>
      <vt:lpstr>Agile  methods  vs.  Past  Iterative  methods</vt:lpstr>
      <vt:lpstr>Timebox  &amp;  scope</vt:lpstr>
      <vt:lpstr>Agile  vs.  Plan  driven  process</vt:lpstr>
      <vt:lpstr>Agile  assumption</vt:lpstr>
      <vt:lpstr>Human  factors  in  agile  development</vt:lpstr>
      <vt:lpstr>Agile  methods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Ch.03 - Agile Software Development</dc:title>
  <dc:subject>Software Engineering</dc:subject>
  <dc:creator>M. Mahmudul Hasan</dc:creator>
  <cp:lastModifiedBy>Jubayer Ahamed</cp:lastModifiedBy>
  <cp:revision>10</cp:revision>
  <dcterms:created xsi:type="dcterms:W3CDTF">2019-05-13T08:37:20Z</dcterms:created>
  <dcterms:modified xsi:type="dcterms:W3CDTF">2025-07-16T12:33:28Z</dcterms:modified>
</cp:coreProperties>
</file>