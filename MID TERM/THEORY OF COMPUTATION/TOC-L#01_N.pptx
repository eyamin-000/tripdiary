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4"/>
  </p:sldMasterIdLst>
  <p:notesMasterIdLst>
    <p:notesMasterId r:id="rId25"/>
  </p:notesMasterIdLst>
  <p:sldIdLst>
    <p:sldId id="256" r:id="rId5"/>
    <p:sldId id="274" r:id="rId6"/>
    <p:sldId id="261" r:id="rId7"/>
    <p:sldId id="262" r:id="rId8"/>
    <p:sldId id="258" r:id="rId9"/>
    <p:sldId id="259" r:id="rId10"/>
    <p:sldId id="260" r:id="rId11"/>
    <p:sldId id="264" r:id="rId12"/>
    <p:sldId id="265" r:id="rId13"/>
    <p:sldId id="263" r:id="rId14"/>
    <p:sldId id="275" r:id="rId15"/>
    <p:sldId id="276" r:id="rId16"/>
    <p:sldId id="279" r:id="rId17"/>
    <p:sldId id="267" r:id="rId18"/>
    <p:sldId id="270" r:id="rId19"/>
    <p:sldId id="269" r:id="rId20"/>
    <p:sldId id="268" r:id="rId21"/>
    <p:sldId id="272" r:id="rId22"/>
    <p:sldId id="273" r:id="rId23"/>
    <p:sldId id="27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E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838" autoAdjust="0"/>
    <p:restoredTop sz="94660"/>
  </p:normalViewPr>
  <p:slideViewPr>
    <p:cSldViewPr snapToGrid="0">
      <p:cViewPr varScale="1">
        <p:scale>
          <a:sx n="59" d="100"/>
          <a:sy n="59" d="100"/>
        </p:scale>
        <p:origin x="8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F940FF-212E-4766-8272-E7D63D7DB223}" type="datetimeFigureOut">
              <a:rPr lang="en-US" smtClean="0"/>
              <a:t>10/30/2024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DC4F57-215F-4620-ADB6-4279BF5FF7C2}" type="slidenum">
              <a:rPr lang="en-US" smtClean="0"/>
              <a:t>‹#›</a:t>
            </a:fld>
            <a:endParaRPr lang="en-US"/>
          </a:p>
        </p:txBody>
      </p:sp>
    </p:spTree>
    <p:extLst>
      <p:ext uri="{BB962C8B-B14F-4D97-AF65-F5344CB8AC3E}">
        <p14:creationId xmlns:p14="http://schemas.microsoft.com/office/powerpoint/2010/main" val="380744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781946078"/>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982858675"/>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386327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0609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userDrawn="1"/>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141805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userDrawn="1"/>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11150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550879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536537201"/>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72233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978101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853399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8229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376129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968492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5668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endParaRPr lang="en-US"/>
          </a:p>
        </p:txBody>
      </p:sp>
    </p:spTree>
    <p:extLst>
      <p:ext uri="{BB962C8B-B14F-4D97-AF65-F5344CB8AC3E}">
        <p14:creationId xmlns:p14="http://schemas.microsoft.com/office/powerpoint/2010/main" val="9455180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endParaRPr lang="en-US"/>
          </a:p>
        </p:txBody>
      </p:sp>
    </p:spTree>
    <p:extLst>
      <p:ext uri="{BB962C8B-B14F-4D97-AF65-F5344CB8AC3E}">
        <p14:creationId xmlns:p14="http://schemas.microsoft.com/office/powerpoint/2010/main" val="2784162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endParaRPr lang="en-US"/>
          </a:p>
        </p:txBody>
      </p:sp>
    </p:spTree>
    <p:extLst>
      <p:ext uri="{BB962C8B-B14F-4D97-AF65-F5344CB8AC3E}">
        <p14:creationId xmlns:p14="http://schemas.microsoft.com/office/powerpoint/2010/main" val="1489769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endParaRPr lang="en-US"/>
          </a:p>
        </p:txBody>
      </p:sp>
    </p:spTree>
    <p:extLst>
      <p:ext uri="{BB962C8B-B14F-4D97-AF65-F5344CB8AC3E}">
        <p14:creationId xmlns:p14="http://schemas.microsoft.com/office/powerpoint/2010/main" val="29580699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8999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endParaRPr lang="en-US"/>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3936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endParaRPr lang="en-US"/>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17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134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endParaRPr lang="en-US"/>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30844638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userDrawn="1"/>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userDrawn="1"/>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userDrawn="1"/>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userDrawn="1"/>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userDrawn="1"/>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userDrawn="1"/>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3281116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userDrawn="1"/>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7371191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Master text styles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Master text styles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dirty="0"/>
              <a:t>CSC3113-Theory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userDrawn="1"/>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4238855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224902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userDrawn="1"/>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274895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userDrawn="1"/>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1644707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userDrawn="1"/>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67315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dirty="0"/>
              <a:t>CSC 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43178296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4" r:id="rId4"/>
    <p:sldLayoutId id="2147483705" r:id="rId5"/>
    <p:sldLayoutId id="2147483703" r:id="rId6"/>
    <p:sldLayoutId id="2147483707" r:id="rId7"/>
    <p:sldLayoutId id="2147483708" r:id="rId8"/>
    <p:sldLayoutId id="2147483709" r:id="rId9"/>
    <p:sldLayoutId id="2147483710" r:id="rId10"/>
    <p:sldLayoutId id="2147483732" r:id="rId11"/>
    <p:sldLayoutId id="2147483711" r:id="rId12"/>
    <p:sldLayoutId id="2147483712" r:id="rId13"/>
    <p:sldLayoutId id="2147483713" r:id="rId14"/>
    <p:sldLayoutId id="2147483733" r:id="rId15"/>
    <p:sldLayoutId id="2147483734" r:id="rId16"/>
    <p:sldLayoutId id="2147483735" r:id="rId17"/>
    <p:sldLayoutId id="2147483731" r:id="rId18"/>
    <p:sldLayoutId id="2147483727" r:id="rId19"/>
    <p:sldLayoutId id="2147483728" r:id="rId20"/>
    <p:sldLayoutId id="2147483729" r:id="rId21"/>
    <p:sldLayoutId id="2147483730" r:id="rId22"/>
    <p:sldLayoutId id="2147483719" r:id="rId23"/>
    <p:sldLayoutId id="2147483720" r:id="rId24"/>
    <p:sldLayoutId id="2147483721" r:id="rId25"/>
    <p:sldLayoutId id="2147483722" r:id="rId26"/>
    <p:sldLayoutId id="2147483723" r:id="rId27"/>
    <p:sldLayoutId id="2147483724" r:id="rId28"/>
    <p:sldLayoutId id="2147483698" r:id="rId29"/>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hyperlink" Target="Theory%20of%20Computation%20Fall%2024-25_Student.pdf" TargetMode="Externa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cstheory.stackexchange.com/a/14818"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CSC3113-Prerequisite.pdf" TargetMode="External"/><Relationship Id="rId2" Type="http://schemas.openxmlformats.org/officeDocument/2006/relationships/hyperlink" Target="Pre-requisite%20Reading-TOC_Sipser_Ch_1.pdf"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14EA1-FF1F-4C8C-953C-BFA5AD0EAB0F}"/>
              </a:ext>
            </a:extLst>
          </p:cNvPr>
          <p:cNvSpPr>
            <a:spLocks noGrp="1"/>
          </p:cNvSpPr>
          <p:nvPr>
            <p:ph type="ctr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0053A0D-C7B3-4808-ABAF-AC6AFB2BEBE8}"/>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464B0C3-2693-43F6-99F9-2EECD2D065A5}"/>
              </a:ext>
            </a:extLst>
          </p:cNvPr>
          <p:cNvSpPr>
            <a:spLocks noGrp="1"/>
          </p:cNvSpPr>
          <p:nvPr>
            <p:ph type="body" sz="quarter" idx="11"/>
          </p:nvPr>
        </p:nvSpPr>
        <p:spPr/>
        <p:txBody>
          <a:bodyPr/>
          <a:lstStyle/>
          <a:p>
            <a:r>
              <a:rPr lang="en-US" dirty="0"/>
              <a:t>1</a:t>
            </a:r>
          </a:p>
        </p:txBody>
      </p:sp>
      <p:sp>
        <p:nvSpPr>
          <p:cNvPr id="5" name="Text Placeholder 4">
            <a:extLst>
              <a:ext uri="{FF2B5EF4-FFF2-40B4-BE49-F238E27FC236}">
                <a16:creationId xmlns:a16="http://schemas.microsoft.com/office/drawing/2014/main" id="{AE9FE7D0-6EA7-4406-A508-3B009D2236D4}"/>
              </a:ext>
            </a:extLst>
          </p:cNvPr>
          <p:cNvSpPr>
            <a:spLocks noGrp="1"/>
          </p:cNvSpPr>
          <p:nvPr>
            <p:ph type="body" sz="quarter" idx="12"/>
          </p:nvPr>
        </p:nvSpPr>
        <p:spPr/>
        <p:txBody>
          <a:bodyPr/>
          <a:lstStyle/>
          <a:p>
            <a:r>
              <a:rPr lang="en-US" dirty="0"/>
              <a:t>1</a:t>
            </a:r>
          </a:p>
        </p:txBody>
      </p:sp>
      <p:sp>
        <p:nvSpPr>
          <p:cNvPr id="6" name="Text Placeholder 5">
            <a:extLst>
              <a:ext uri="{FF2B5EF4-FFF2-40B4-BE49-F238E27FC236}">
                <a16:creationId xmlns:a16="http://schemas.microsoft.com/office/drawing/2014/main" id="{3B6D3FE6-5ED9-41C9-BB8E-BB5A45BA42A1}"/>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978D74E9-ADD8-4095-90A1-6502D4133F8E}"/>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dirty="0"/>
              <a:t>smahmood@aiub.edu</a:t>
            </a:r>
          </a:p>
        </p:txBody>
      </p:sp>
    </p:spTree>
    <p:extLst>
      <p:ext uri="{BB962C8B-B14F-4D97-AF65-F5344CB8AC3E}">
        <p14:creationId xmlns:p14="http://schemas.microsoft.com/office/powerpoint/2010/main" val="552491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C4B66B-4102-4CEF-BA1F-EDC78CE5E9A4}"/>
              </a:ext>
            </a:extLst>
          </p:cNvPr>
          <p:cNvSpPr>
            <a:spLocks noGrp="1"/>
          </p:cNvSpPr>
          <p:nvPr>
            <p:ph type="ftr" sz="quarter" idx="11"/>
          </p:nvPr>
        </p:nvSpPr>
        <p:spPr/>
        <p:txBody>
          <a:bodyPr/>
          <a:lstStyle/>
          <a:p>
            <a:r>
              <a:rPr lang="en-US"/>
              <a:t>CSC3113-Theory of Computation</a:t>
            </a:r>
          </a:p>
        </p:txBody>
      </p:sp>
      <p:sp>
        <p:nvSpPr>
          <p:cNvPr id="3" name="Subtitle 2">
            <a:extLst>
              <a:ext uri="{FF2B5EF4-FFF2-40B4-BE49-F238E27FC236}">
                <a16:creationId xmlns:a16="http://schemas.microsoft.com/office/drawing/2014/main" id="{106A92DC-5CB6-47F1-991C-FD9CBD204FE2}"/>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BF77F311-76AF-473A-BEED-E7E6035DD22B}"/>
              </a:ext>
            </a:extLst>
          </p:cNvPr>
          <p:cNvSpPr>
            <a:spLocks noGrp="1"/>
          </p:cNvSpPr>
          <p:nvPr>
            <p:ph type="body" sz="quarter" idx="12"/>
          </p:nvPr>
        </p:nvSpPr>
        <p:spPr/>
        <p:txBody>
          <a:bodyPr/>
          <a:lstStyle/>
          <a:p>
            <a:r>
              <a:rPr lang="en-US" dirty="0"/>
              <a:t>Mission and Vision</a:t>
            </a:r>
          </a:p>
          <a:p>
            <a:r>
              <a:rPr lang="en-US" dirty="0"/>
              <a:t>Learning Objective &amp; Outcome</a:t>
            </a:r>
          </a:p>
          <a:p>
            <a:r>
              <a:rPr lang="en-US" dirty="0"/>
              <a:t>Class &amp; Course Policies</a:t>
            </a:r>
          </a:p>
          <a:p>
            <a:r>
              <a:rPr lang="en-US" dirty="0"/>
              <a:t>Exam &amp; Evaluation Policies</a:t>
            </a:r>
          </a:p>
          <a:p>
            <a:r>
              <a:rPr lang="en-US" dirty="0"/>
              <a:t>Course Objective</a:t>
            </a:r>
          </a:p>
          <a:p>
            <a:r>
              <a:rPr lang="en-US" dirty="0"/>
              <a:t>Course Outcome</a:t>
            </a:r>
          </a:p>
          <a:p>
            <a:r>
              <a:rPr lang="en-US" dirty="0"/>
              <a:t>Course Outline</a:t>
            </a:r>
          </a:p>
          <a:p>
            <a:r>
              <a:rPr lang="en-US" dirty="0"/>
              <a:t>Pre-requisite</a:t>
            </a:r>
          </a:p>
          <a:p>
            <a:r>
              <a:rPr lang="en-US" dirty="0"/>
              <a:t>Introduction to Theory of Computation</a:t>
            </a:r>
          </a:p>
          <a:p>
            <a:endParaRPr lang="en-US" dirty="0"/>
          </a:p>
        </p:txBody>
      </p:sp>
    </p:spTree>
    <p:extLst>
      <p:ext uri="{BB962C8B-B14F-4D97-AF65-F5344CB8AC3E}">
        <p14:creationId xmlns:p14="http://schemas.microsoft.com/office/powerpoint/2010/main" val="3745005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F07A556-F248-41B1-8A63-F983B9CF52DA}"/>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D46CD3E8-BF4E-4186-B16D-177F1F95AED1}"/>
              </a:ext>
            </a:extLst>
          </p:cNvPr>
          <p:cNvSpPr>
            <a:spLocks noGrp="1"/>
          </p:cNvSpPr>
          <p:nvPr>
            <p:ph type="subTitle" idx="1"/>
          </p:nvPr>
        </p:nvSpPr>
        <p:spPr/>
        <p:txBody>
          <a:bodyPr/>
          <a:lstStyle/>
          <a:p>
            <a:r>
              <a:rPr lang="en-US" dirty="0"/>
              <a:t>Welcome &amp; Introduction</a:t>
            </a:r>
          </a:p>
        </p:txBody>
      </p:sp>
      <p:sp>
        <p:nvSpPr>
          <p:cNvPr id="3" name="Text Placeholder 2">
            <a:extLst>
              <a:ext uri="{FF2B5EF4-FFF2-40B4-BE49-F238E27FC236}">
                <a16:creationId xmlns:a16="http://schemas.microsoft.com/office/drawing/2014/main" id="{A657580F-A2A0-41CC-8C10-BD4292BAF3AA}"/>
              </a:ext>
            </a:extLst>
          </p:cNvPr>
          <p:cNvSpPr>
            <a:spLocks noGrp="1"/>
          </p:cNvSpPr>
          <p:nvPr>
            <p:ph type="body" sz="quarter" idx="12"/>
          </p:nvPr>
        </p:nvSpPr>
        <p:spPr/>
        <p:txBody>
          <a:bodyPr/>
          <a:lstStyle/>
          <a:p>
            <a:r>
              <a:rPr lang="en-US" dirty="0"/>
              <a:t>To know the vision &amp; mission of AIUB and the FST.</a:t>
            </a:r>
          </a:p>
          <a:p>
            <a:r>
              <a:rPr lang="en-US" dirty="0"/>
              <a:t>To understand the policies regarding class, course, exam and evaluation.</a:t>
            </a:r>
          </a:p>
          <a:p>
            <a:r>
              <a:rPr lang="en-US" dirty="0"/>
              <a:t>To grasp the course content, outline, objective &amp; outcome as a whole.</a:t>
            </a:r>
          </a:p>
          <a:p>
            <a:r>
              <a:rPr lang="en-US" dirty="0"/>
              <a:t>To prepare with the pre-requisite course/topic for this course.</a:t>
            </a:r>
          </a:p>
          <a:p>
            <a:r>
              <a:rPr lang="en-US" dirty="0"/>
              <a:t>Introduction to the course Theory of Computation.</a:t>
            </a:r>
          </a:p>
        </p:txBody>
      </p:sp>
    </p:spTree>
    <p:extLst>
      <p:ext uri="{BB962C8B-B14F-4D97-AF65-F5344CB8AC3E}">
        <p14:creationId xmlns:p14="http://schemas.microsoft.com/office/powerpoint/2010/main" val="47130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5004EC-FF85-4296-B6D6-4524CC255E5D}"/>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004D9AA3-9712-4F7A-947F-35C517CE2B1D}"/>
              </a:ext>
            </a:extLst>
          </p:cNvPr>
          <p:cNvSpPr>
            <a:spLocks noGrp="1"/>
          </p:cNvSpPr>
          <p:nvPr>
            <p:ph type="subTitle" idx="1"/>
          </p:nvPr>
        </p:nvSpPr>
        <p:spPr/>
        <p:txBody>
          <a:bodyPr/>
          <a:lstStyle/>
          <a:p>
            <a:r>
              <a:rPr lang="en-US" dirty="0"/>
              <a:t>Welcome &amp; Introduction</a:t>
            </a:r>
          </a:p>
        </p:txBody>
      </p:sp>
      <p:sp>
        <p:nvSpPr>
          <p:cNvPr id="3" name="Text Placeholder 2">
            <a:extLst>
              <a:ext uri="{FF2B5EF4-FFF2-40B4-BE49-F238E27FC236}">
                <a16:creationId xmlns:a16="http://schemas.microsoft.com/office/drawing/2014/main" id="{4D97C0ED-AFC6-4514-AD50-552DA3738EAF}"/>
              </a:ext>
            </a:extLst>
          </p:cNvPr>
          <p:cNvSpPr>
            <a:spLocks noGrp="1"/>
          </p:cNvSpPr>
          <p:nvPr>
            <p:ph type="body" sz="quarter" idx="12"/>
          </p:nvPr>
        </p:nvSpPr>
        <p:spPr/>
        <p:txBody>
          <a:bodyPr>
            <a:normAutofit fontScale="85000" lnSpcReduction="10000"/>
          </a:bodyPr>
          <a:lstStyle/>
          <a:p>
            <a:r>
              <a:rPr lang="en-US" dirty="0"/>
              <a:t>Students will understand the vision &amp; mission of the university and the faculty the belong to.</a:t>
            </a:r>
          </a:p>
          <a:p>
            <a:r>
              <a:rPr lang="en-US" dirty="0"/>
              <a:t>Students will know the policies regarding – </a:t>
            </a:r>
          </a:p>
          <a:p>
            <a:pPr lvl="1"/>
            <a:r>
              <a:rPr lang="en-US" dirty="0"/>
              <a:t>Class attendance; Classroom behavior &amp; interaction; Q/A session rules</a:t>
            </a:r>
          </a:p>
          <a:p>
            <a:pPr lvl="1"/>
            <a:r>
              <a:rPr lang="en-US" dirty="0"/>
              <a:t>Outside class interaction, consultation and communication.</a:t>
            </a:r>
          </a:p>
          <a:p>
            <a:pPr lvl="1"/>
            <a:r>
              <a:rPr lang="en-US" dirty="0"/>
              <a:t>Exams/viva/assignment… overall assessment policies and marks distribution</a:t>
            </a:r>
          </a:p>
          <a:p>
            <a:r>
              <a:rPr lang="en-US" dirty="0"/>
              <a:t>Students will have a clear idea about the – </a:t>
            </a:r>
          </a:p>
          <a:p>
            <a:pPr lvl="1"/>
            <a:r>
              <a:rPr lang="en-US" dirty="0"/>
              <a:t>Objective and outcome of the course; Course outline/syllabus</a:t>
            </a:r>
          </a:p>
          <a:p>
            <a:pPr lvl="1"/>
            <a:r>
              <a:rPr lang="en-US" dirty="0"/>
              <a:t>Weekly distribution of the topics; Books and references</a:t>
            </a:r>
          </a:p>
          <a:p>
            <a:pPr lvl="1"/>
            <a:r>
              <a:rPr lang="en-US" dirty="0"/>
              <a:t>Pre-requisite course/topics provided as a reading material</a:t>
            </a:r>
          </a:p>
          <a:p>
            <a:r>
              <a:rPr lang="en-US" dirty="0"/>
              <a:t>A brief introduction about “Theory” and “Computation” in computer science.</a:t>
            </a:r>
          </a:p>
        </p:txBody>
      </p:sp>
    </p:spTree>
    <p:extLst>
      <p:ext uri="{BB962C8B-B14F-4D97-AF65-F5344CB8AC3E}">
        <p14:creationId xmlns:p14="http://schemas.microsoft.com/office/powerpoint/2010/main" val="4055806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3651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B74E80-499B-48E8-AED0-54A3C0C2E7CF}"/>
              </a:ext>
            </a:extLst>
          </p:cNvPr>
          <p:cNvSpPr>
            <a:spLocks noGrp="1"/>
          </p:cNvSpPr>
          <p:nvPr>
            <p:ph sz="half" idx="1"/>
          </p:nvPr>
        </p:nvSpPr>
        <p:spPr/>
        <p:txBody>
          <a:bodyPr>
            <a:normAutofit/>
          </a:bodyPr>
          <a:lstStyle/>
          <a:p>
            <a:pPr algn="just"/>
            <a:r>
              <a:rPr lang="en-US" sz="1600" dirty="0"/>
              <a:t>At least 80% presence. </a:t>
            </a:r>
          </a:p>
          <a:p>
            <a:pPr algn="just"/>
            <a:r>
              <a:rPr lang="en-US" sz="1600" dirty="0"/>
              <a:t>Go through the topics before attending the class (from course outline).</a:t>
            </a:r>
          </a:p>
          <a:p>
            <a:pPr algn="just"/>
            <a:r>
              <a:rPr lang="en-US" sz="1600" dirty="0"/>
              <a:t>First 10 minutes of the class will be question/answer session of previous class topics.</a:t>
            </a:r>
          </a:p>
          <a:p>
            <a:pPr algn="just"/>
            <a:r>
              <a:rPr lang="en-US" sz="1600" dirty="0"/>
              <a:t>Every 20-25 minutes of the lecture, you will be given time to ask questions. </a:t>
            </a:r>
          </a:p>
          <a:p>
            <a:pPr algn="just"/>
            <a:r>
              <a:rPr lang="en-US" sz="1600" dirty="0"/>
              <a:t>Outside class for any unresolved issue, </a:t>
            </a:r>
          </a:p>
          <a:p>
            <a:pPr lvl="1" algn="just"/>
            <a:r>
              <a:rPr lang="en-US" sz="1600" dirty="0"/>
              <a:t>Consultation time will be provided. Make use of these times.</a:t>
            </a:r>
          </a:p>
          <a:p>
            <a:pPr lvl="1" algn="just"/>
            <a:r>
              <a:rPr lang="en-US" sz="1600" dirty="0"/>
              <a:t>Use the TEAMS message box for appointment [if required]</a:t>
            </a:r>
          </a:p>
          <a:p>
            <a:pPr marL="0" indent="0">
              <a:buNone/>
            </a:pPr>
            <a:r>
              <a:rPr lang="en-US" dirty="0"/>
              <a:t>     </a:t>
            </a:r>
          </a:p>
        </p:txBody>
      </p:sp>
      <p:sp>
        <p:nvSpPr>
          <p:cNvPr id="3" name="Content Placeholder 2">
            <a:extLst>
              <a:ext uri="{FF2B5EF4-FFF2-40B4-BE49-F238E27FC236}">
                <a16:creationId xmlns:a16="http://schemas.microsoft.com/office/drawing/2014/main" id="{DB4FE948-EEAC-4200-911A-8097278BCD6C}"/>
              </a:ext>
            </a:extLst>
          </p:cNvPr>
          <p:cNvSpPr>
            <a:spLocks noGrp="1"/>
          </p:cNvSpPr>
          <p:nvPr>
            <p:ph sz="half" idx="2"/>
          </p:nvPr>
        </p:nvSpPr>
        <p:spPr/>
        <p:txBody>
          <a:bodyPr/>
          <a:lstStyle/>
          <a:p>
            <a:pPr algn="just"/>
            <a:r>
              <a:rPr lang="en-US" sz="1600" b="1" dirty="0"/>
              <a:t>REMEMBER: </a:t>
            </a:r>
          </a:p>
          <a:p>
            <a:pPr lvl="1" algn="just"/>
            <a:r>
              <a:rPr lang="en-US" sz="1600" b="1" dirty="0"/>
              <a:t>Your feedback is the key to the completion of this course successfully.</a:t>
            </a:r>
          </a:p>
          <a:p>
            <a:pPr lvl="1" algn="just"/>
            <a:r>
              <a:rPr lang="en-US" sz="1600" b="1" dirty="0"/>
              <a:t>After a topic is completed, prepare &amp; ask QUESTIONS (during/after the class). </a:t>
            </a:r>
          </a:p>
          <a:p>
            <a:pPr lvl="1" algn="just"/>
            <a:r>
              <a:rPr lang="en-US" sz="1600" b="1" dirty="0"/>
              <a:t>REPETATION is never a good solution as the lecture you heard before will be said again. To answer a question the teacher may repeat the topic in a different way as per your question.</a:t>
            </a:r>
            <a:endParaRPr lang="en-US" sz="1600" dirty="0"/>
          </a:p>
          <a:p>
            <a:endParaRPr lang="en-US" dirty="0"/>
          </a:p>
        </p:txBody>
      </p:sp>
      <p:sp>
        <p:nvSpPr>
          <p:cNvPr id="7" name="Footer Placeholder 6">
            <a:extLst>
              <a:ext uri="{FF2B5EF4-FFF2-40B4-BE49-F238E27FC236}">
                <a16:creationId xmlns:a16="http://schemas.microsoft.com/office/drawing/2014/main" id="{9603880A-5061-4B8B-8FDC-CD10915A5515}"/>
              </a:ext>
            </a:extLst>
          </p:cNvPr>
          <p:cNvSpPr>
            <a:spLocks noGrp="1"/>
          </p:cNvSpPr>
          <p:nvPr>
            <p:ph type="ftr" sz="quarter" idx="11"/>
          </p:nvPr>
        </p:nvSpPr>
        <p:spPr/>
        <p:txBody>
          <a:bodyPr/>
          <a:lstStyle/>
          <a:p>
            <a:r>
              <a:rPr lang="en-US"/>
              <a:t>CSC3113-Theory of Computation</a:t>
            </a:r>
          </a:p>
        </p:txBody>
      </p:sp>
    </p:spTree>
    <p:extLst>
      <p:ext uri="{BB962C8B-B14F-4D97-AF65-F5344CB8AC3E}">
        <p14:creationId xmlns:p14="http://schemas.microsoft.com/office/powerpoint/2010/main" val="71731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B06E18-26FD-4901-8CB4-621DE8113661}"/>
              </a:ext>
            </a:extLst>
          </p:cNvPr>
          <p:cNvSpPr>
            <a:spLocks noGrp="1"/>
          </p:cNvSpPr>
          <p:nvPr>
            <p:ph type="body" idx="1"/>
          </p:nvPr>
        </p:nvSpPr>
        <p:spPr>
          <a:xfrm>
            <a:off x="0" y="1291790"/>
            <a:ext cx="4476198" cy="462059"/>
          </a:xfrm>
        </p:spPr>
        <p:txBody>
          <a:bodyPr/>
          <a:lstStyle/>
          <a:p>
            <a:r>
              <a:rPr lang="en-US" dirty="0"/>
              <a:t>Exam Policies</a:t>
            </a:r>
          </a:p>
        </p:txBody>
      </p:sp>
      <p:sp>
        <p:nvSpPr>
          <p:cNvPr id="3" name="Content Placeholder 2">
            <a:extLst>
              <a:ext uri="{FF2B5EF4-FFF2-40B4-BE49-F238E27FC236}">
                <a16:creationId xmlns:a16="http://schemas.microsoft.com/office/drawing/2014/main" id="{54178807-9FA4-42EA-8D19-64CD9D259D94}"/>
              </a:ext>
            </a:extLst>
          </p:cNvPr>
          <p:cNvSpPr>
            <a:spLocks noGrp="1"/>
          </p:cNvSpPr>
          <p:nvPr>
            <p:ph sz="half" idx="2"/>
          </p:nvPr>
        </p:nvSpPr>
        <p:spPr>
          <a:xfrm>
            <a:off x="0" y="1788910"/>
            <a:ext cx="4476198" cy="4675836"/>
          </a:xfrm>
        </p:spPr>
        <p:txBody>
          <a:bodyPr>
            <a:normAutofit fontScale="70000" lnSpcReduction="20000"/>
          </a:bodyPr>
          <a:lstStyle/>
          <a:p>
            <a:pPr lvl="1" algn="just"/>
            <a:r>
              <a:rPr lang="en-US" dirty="0"/>
              <a:t>Learn &amp; understand all technical aspect of online quiz and assignment, specially, document upload, time limits, Hand In/Turn In options, submission, etc.</a:t>
            </a:r>
          </a:p>
          <a:p>
            <a:pPr lvl="1" algn="just"/>
            <a:r>
              <a:rPr lang="en-US" dirty="0"/>
              <a:t>When you are appearing for the exam, make sure to switch/turn off all other internet/background activities in your machine.</a:t>
            </a:r>
          </a:p>
          <a:p>
            <a:pPr lvl="1" algn="just"/>
            <a:r>
              <a:rPr lang="en-US" dirty="0"/>
              <a:t>It is strictly recommended to use PC/Laptop for classes &amp; exams, unless there is an emergency. </a:t>
            </a:r>
          </a:p>
          <a:p>
            <a:pPr algn="just"/>
            <a:r>
              <a:rPr lang="en-US" dirty="0"/>
              <a:t>There will be at least one assessment (quiz/assignment/viva) each week. Most assignment &amp; quiz will be problem solving in nature. Quiz may also contain theoretical questions.</a:t>
            </a:r>
          </a:p>
          <a:p>
            <a:pPr algn="just"/>
            <a:r>
              <a:rPr lang="en-US" dirty="0"/>
              <a:t>Mid Semester assessment and Final Assessment will consist of Assignment,  Exam &amp; Viva on the defined week in the academic calendar.</a:t>
            </a:r>
          </a:p>
          <a:p>
            <a:pPr algn="just"/>
            <a:r>
              <a:rPr lang="en-US" dirty="0"/>
              <a:t> Any plagiarism will be result in grade “F”.</a:t>
            </a:r>
          </a:p>
        </p:txBody>
      </p:sp>
      <p:sp>
        <p:nvSpPr>
          <p:cNvPr id="4" name="Text Placeholder 3">
            <a:extLst>
              <a:ext uri="{FF2B5EF4-FFF2-40B4-BE49-F238E27FC236}">
                <a16:creationId xmlns:a16="http://schemas.microsoft.com/office/drawing/2014/main" id="{37FBF1C5-3489-4A7E-8266-0CDC236A3794}"/>
              </a:ext>
            </a:extLst>
          </p:cNvPr>
          <p:cNvSpPr>
            <a:spLocks noGrp="1"/>
          </p:cNvSpPr>
          <p:nvPr>
            <p:ph type="body" sz="quarter" idx="3"/>
          </p:nvPr>
        </p:nvSpPr>
        <p:spPr>
          <a:xfrm>
            <a:off x="4638628" y="1291790"/>
            <a:ext cx="4476199" cy="462059"/>
          </a:xfrm>
        </p:spPr>
        <p:txBody>
          <a:bodyPr/>
          <a:lstStyle/>
          <a:p>
            <a:r>
              <a:rPr lang="en-US" dirty="0"/>
              <a:t>Marks Distribution</a:t>
            </a:r>
          </a:p>
        </p:txBody>
      </p:sp>
      <p:sp>
        <p:nvSpPr>
          <p:cNvPr id="5" name="Content Placeholder 4">
            <a:extLst>
              <a:ext uri="{FF2B5EF4-FFF2-40B4-BE49-F238E27FC236}">
                <a16:creationId xmlns:a16="http://schemas.microsoft.com/office/drawing/2014/main" id="{2635F4C9-38CA-412C-A9A2-BB7AA2A85CF0}"/>
              </a:ext>
            </a:extLst>
          </p:cNvPr>
          <p:cNvSpPr>
            <a:spLocks noGrp="1"/>
          </p:cNvSpPr>
          <p:nvPr>
            <p:ph sz="quarter" idx="4"/>
          </p:nvPr>
        </p:nvSpPr>
        <p:spPr>
          <a:xfrm>
            <a:off x="4640094" y="1788909"/>
            <a:ext cx="4476196" cy="4640776"/>
          </a:xfrm>
        </p:spPr>
        <p:txBody>
          <a:bodyPr>
            <a:normAutofit lnSpcReduction="10000"/>
          </a:bodyPr>
          <a:lstStyle/>
          <a:p>
            <a:pPr lvl="1" algn="just"/>
            <a:r>
              <a:rPr lang="en-US" sz="2000" dirty="0">
                <a:effectLst/>
                <a:ea typeface="Times New Roman" panose="02020603050405020304" pitchFamily="18" charset="0"/>
                <a:cs typeface="Arial" panose="020B0604020202020204" pitchFamily="34" charset="0"/>
              </a:rPr>
              <a:t>Attendance/Performance: 10%</a:t>
            </a:r>
            <a:endParaRPr lang="en-US" sz="2000" dirty="0">
              <a:ea typeface="Times New Roman" panose="02020603050405020304" pitchFamily="18" charset="0"/>
            </a:endParaRPr>
          </a:p>
          <a:p>
            <a:pPr lvl="1" algn="just"/>
            <a:r>
              <a:rPr lang="en-US" sz="2000" dirty="0">
                <a:effectLst/>
                <a:ea typeface="Times New Roman" panose="02020603050405020304" pitchFamily="18" charset="0"/>
                <a:cs typeface="Arial" panose="020B0604020202020204" pitchFamily="34" charset="0"/>
              </a:rPr>
              <a:t>Midterm Assessment </a:t>
            </a:r>
          </a:p>
          <a:p>
            <a:pPr lvl="2" algn="just"/>
            <a:r>
              <a:rPr lang="en-US" sz="1800" dirty="0">
                <a:effectLst/>
                <a:ea typeface="Times New Roman" panose="02020603050405020304" pitchFamily="18" charset="0"/>
                <a:cs typeface="Arial" panose="020B0604020202020204" pitchFamily="34" charset="0"/>
              </a:rPr>
              <a:t>Quizzes: 40% (best will be counted)</a:t>
            </a:r>
          </a:p>
          <a:p>
            <a:pPr lvl="2"/>
            <a:r>
              <a:rPr lang="en-US" sz="1800" dirty="0">
                <a:effectLst/>
                <a:ea typeface="Times New Roman" panose="02020603050405020304" pitchFamily="18" charset="0"/>
                <a:cs typeface="Arial" panose="020B0604020202020204" pitchFamily="34" charset="0"/>
              </a:rPr>
              <a:t>Term Exam: 50%</a:t>
            </a:r>
          </a:p>
          <a:p>
            <a:pPr lvl="1"/>
            <a:r>
              <a:rPr lang="en-US" sz="2000" dirty="0">
                <a:effectLst/>
                <a:ea typeface="Times New Roman" panose="02020603050405020304" pitchFamily="18" charset="0"/>
                <a:cs typeface="Arial" panose="020B0604020202020204" pitchFamily="34" charset="0"/>
              </a:rPr>
              <a:t>Final term Assessment </a:t>
            </a:r>
          </a:p>
          <a:p>
            <a:pPr lvl="2"/>
            <a:r>
              <a:rPr lang="en-US" sz="1800" dirty="0">
                <a:effectLst/>
                <a:ea typeface="Times New Roman" panose="02020603050405020304" pitchFamily="18" charset="0"/>
                <a:cs typeface="Arial" panose="020B0604020202020204" pitchFamily="34" charset="0"/>
              </a:rPr>
              <a:t>Quizzes: 40% (best will be counted)</a:t>
            </a:r>
          </a:p>
          <a:p>
            <a:pPr lvl="2"/>
            <a:r>
              <a:rPr lang="en-US" sz="1800" dirty="0">
                <a:effectLst/>
                <a:ea typeface="Times New Roman" panose="02020603050405020304" pitchFamily="18" charset="0"/>
                <a:cs typeface="Arial" panose="020B0604020202020204" pitchFamily="34" charset="0"/>
              </a:rPr>
              <a:t>Term Exam 50%</a:t>
            </a:r>
          </a:p>
          <a:p>
            <a:pPr lvl="2"/>
            <a:r>
              <a:rPr lang="en-US" sz="1800" dirty="0">
                <a:effectLst/>
                <a:ea typeface="Times New Roman" panose="02020603050405020304" pitchFamily="18" charset="0"/>
              </a:rPr>
              <a:t>Attendance/Performance: 10%</a:t>
            </a:r>
          </a:p>
          <a:p>
            <a:pPr marL="0" marR="0" algn="just">
              <a:spcBef>
                <a:spcPts val="0"/>
              </a:spcBef>
              <a:spcAft>
                <a:spcPts val="0"/>
              </a:spcAft>
            </a:pPr>
            <a:endParaRPr lang="en-US" sz="2000" b="1" dirty="0">
              <a:effectLst/>
              <a:ea typeface="Times New Roman" panose="02020603050405020304" pitchFamily="18" charset="0"/>
              <a:cs typeface="Arial" panose="020B0604020202020204" pitchFamily="34" charset="0"/>
            </a:endParaRPr>
          </a:p>
          <a:p>
            <a:pPr marL="0" marR="0" algn="just">
              <a:spcBef>
                <a:spcPts val="0"/>
              </a:spcBef>
              <a:spcAft>
                <a:spcPts val="0"/>
              </a:spcAft>
            </a:pPr>
            <a:r>
              <a:rPr lang="en-US" sz="2000" b="1" dirty="0">
                <a:effectLst/>
                <a:ea typeface="Times New Roman" panose="02020603050405020304" pitchFamily="18" charset="0"/>
                <a:cs typeface="Arial" panose="020B0604020202020204" pitchFamily="34" charset="0"/>
              </a:rPr>
              <a:t>Total: </a:t>
            </a:r>
            <a:r>
              <a:rPr lang="en-US" sz="2000" dirty="0">
                <a:effectLst/>
                <a:ea typeface="Times New Roman" panose="02020603050405020304" pitchFamily="18" charset="0"/>
                <a:cs typeface="Arial" panose="020B0604020202020204" pitchFamily="34" charset="0"/>
              </a:rPr>
              <a:t>100%</a:t>
            </a:r>
            <a:endParaRPr lang="en-US" sz="2000" dirty="0">
              <a:effectLst/>
              <a:ea typeface="Times New Roman" panose="02020603050405020304" pitchFamily="18" charset="0"/>
            </a:endParaRPr>
          </a:p>
          <a:p>
            <a:pPr marL="0" marR="0" indent="0" algn="just">
              <a:spcBef>
                <a:spcPts val="0"/>
              </a:spcBef>
              <a:spcAft>
                <a:spcPts val="0"/>
              </a:spcAft>
              <a:buNone/>
            </a:pPr>
            <a:endParaRPr lang="en-US" sz="2000" dirty="0">
              <a:effectLst/>
              <a:ea typeface="Times New Roman" panose="02020603050405020304" pitchFamily="18" charset="0"/>
            </a:endParaRPr>
          </a:p>
          <a:p>
            <a:pPr marL="0" marR="0" algn="just">
              <a:spcBef>
                <a:spcPts val="0"/>
              </a:spcBef>
              <a:spcAft>
                <a:spcPts val="0"/>
              </a:spcAft>
            </a:pPr>
            <a:r>
              <a:rPr lang="en-US" sz="2000" b="1" dirty="0">
                <a:effectLst/>
                <a:ea typeface="Times New Roman" panose="02020603050405020304" pitchFamily="18" charset="0"/>
                <a:cs typeface="Arial" panose="020B0604020202020204" pitchFamily="34" charset="0"/>
              </a:rPr>
              <a:t>Final Grade/ Grand Total</a:t>
            </a:r>
            <a:endParaRPr lang="en-US" sz="2000" b="1" dirty="0">
              <a:ea typeface="Times New Roman" panose="02020603050405020304" pitchFamily="18" charset="0"/>
            </a:endParaRPr>
          </a:p>
          <a:p>
            <a:pPr marL="509588" lvl="1" algn="just">
              <a:spcBef>
                <a:spcPts val="0"/>
              </a:spcBef>
            </a:pPr>
            <a:r>
              <a:rPr lang="en-US" dirty="0">
                <a:effectLst/>
                <a:ea typeface="Times New Roman" panose="02020603050405020304" pitchFamily="18" charset="0"/>
                <a:cs typeface="Arial" panose="020B0604020202020204" pitchFamily="34" charset="0"/>
              </a:rPr>
              <a:t>Midterm:   40%</a:t>
            </a:r>
            <a:endParaRPr lang="en-US" dirty="0">
              <a:effectLst/>
              <a:ea typeface="Times New Roman" panose="02020603050405020304" pitchFamily="18" charset="0"/>
            </a:endParaRPr>
          </a:p>
          <a:p>
            <a:pPr marL="509588" lvl="1" indent="-225425">
              <a:spcBef>
                <a:spcPts val="0"/>
              </a:spcBef>
            </a:pPr>
            <a:r>
              <a:rPr lang="en-US" dirty="0">
                <a:effectLst/>
                <a:ea typeface="Times New Roman" panose="02020603050405020304" pitchFamily="18" charset="0"/>
                <a:cs typeface="Arial" panose="020B0604020202020204" pitchFamily="34" charset="0"/>
              </a:rPr>
              <a:t>Final Term: 60%</a:t>
            </a:r>
            <a:endParaRPr lang="en-US" dirty="0">
              <a:effectLst/>
              <a:ea typeface="Times New Roman" panose="02020603050405020304" pitchFamily="18" charset="0"/>
            </a:endParaRPr>
          </a:p>
        </p:txBody>
      </p:sp>
      <p:sp>
        <p:nvSpPr>
          <p:cNvPr id="7" name="Footer Placeholder 6">
            <a:extLst>
              <a:ext uri="{FF2B5EF4-FFF2-40B4-BE49-F238E27FC236}">
                <a16:creationId xmlns:a16="http://schemas.microsoft.com/office/drawing/2014/main" id="{0F5CCD6A-CD67-43EF-9072-A0AF12863F23}"/>
              </a:ext>
            </a:extLst>
          </p:cNvPr>
          <p:cNvSpPr>
            <a:spLocks noGrp="1"/>
          </p:cNvSpPr>
          <p:nvPr>
            <p:ph type="ftr" sz="quarter" idx="11"/>
          </p:nvPr>
        </p:nvSpPr>
        <p:spPr/>
        <p:txBody>
          <a:bodyPr/>
          <a:lstStyle/>
          <a:p>
            <a:r>
              <a:rPr lang="en-US"/>
              <a:t>CSC3113-Theory of Computation</a:t>
            </a:r>
          </a:p>
        </p:txBody>
      </p:sp>
    </p:spTree>
    <p:extLst>
      <p:ext uri="{BB962C8B-B14F-4D97-AF65-F5344CB8AC3E}">
        <p14:creationId xmlns:p14="http://schemas.microsoft.com/office/powerpoint/2010/main" val="1491572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AE666D-5BF1-4331-BF8B-A906D2C45A35}"/>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6BCF0B67-4C83-48FA-A0A6-F818DCFE76D3}"/>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C13361AA-B314-4391-99B2-D3ADEEF4C82F}"/>
              </a:ext>
            </a:extLst>
          </p:cNvPr>
          <p:cNvSpPr>
            <a:spLocks noGrp="1"/>
          </p:cNvSpPr>
          <p:nvPr>
            <p:ph type="body" sz="quarter" idx="12"/>
          </p:nvPr>
        </p:nvSpPr>
        <p:spPr/>
        <p:txBody>
          <a:bodyPr>
            <a:normAutofit lnSpcReduction="10000"/>
          </a:bodyPr>
          <a:lstStyle/>
          <a:p>
            <a:pPr algn="just"/>
            <a:r>
              <a:rPr lang="en-US" b="0" i="0" dirty="0">
                <a:solidFill>
                  <a:srgbClr val="000000"/>
                </a:solidFill>
                <a:effectLst/>
              </a:rPr>
              <a:t>Learn about different mathematical (formal) model for computation.</a:t>
            </a:r>
          </a:p>
          <a:p>
            <a:pPr algn="just"/>
            <a:r>
              <a:rPr lang="en-US" b="0" i="0" dirty="0">
                <a:solidFill>
                  <a:srgbClr val="000000"/>
                </a:solidFill>
                <a:effectLst/>
              </a:rPr>
              <a:t>Understand how to reason about computation using abstract, formal models.</a:t>
            </a:r>
          </a:p>
          <a:p>
            <a:pPr algn="just"/>
            <a:r>
              <a:rPr lang="en-US" b="0" i="0" dirty="0">
                <a:solidFill>
                  <a:srgbClr val="000000"/>
                </a:solidFill>
                <a:effectLst/>
              </a:rPr>
              <a:t>Go through the definitions of several specific models of computation including finite automata, context-free grammars, and Turing machines along with the tools for analyzing their power and limitations.</a:t>
            </a:r>
          </a:p>
          <a:p>
            <a:pPr algn="just"/>
            <a:r>
              <a:rPr lang="en-US" b="0" i="0" dirty="0">
                <a:solidFill>
                  <a:srgbClr val="000000"/>
                </a:solidFill>
                <a:effectLst/>
              </a:rPr>
              <a:t>Design and analyze how the nature of computation (solvable, unsolvable, efficient problems by computers) can be formalized as precise mathematical problems for different computational devices.</a:t>
            </a:r>
          </a:p>
          <a:p>
            <a:pPr algn="just"/>
            <a:r>
              <a:rPr lang="en-US" b="0" i="0" dirty="0">
                <a:solidFill>
                  <a:srgbClr val="000000"/>
                </a:solidFill>
                <a:effectLst/>
              </a:rPr>
              <a:t>Practice creative mathematical problem solving.</a:t>
            </a:r>
            <a:endParaRPr lang="en-US" dirty="0"/>
          </a:p>
        </p:txBody>
      </p:sp>
    </p:spTree>
    <p:extLst>
      <p:ext uri="{BB962C8B-B14F-4D97-AF65-F5344CB8AC3E}">
        <p14:creationId xmlns:p14="http://schemas.microsoft.com/office/powerpoint/2010/main" val="3008106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2209C70-10D2-4E7C-BBBB-BA9561CFD851}"/>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F344AF42-E606-439F-8E29-42483F3A391A}"/>
              </a:ext>
            </a:extLst>
          </p:cNvPr>
          <p:cNvSpPr>
            <a:spLocks noGrp="1"/>
          </p:cNvSpPr>
          <p:nvPr>
            <p:ph type="subTitle" idx="1"/>
          </p:nvPr>
        </p:nvSpPr>
        <p:spPr/>
        <p:txBody>
          <a:bodyPr>
            <a:normAutofit fontScale="92500"/>
          </a:bodyPr>
          <a:lstStyle/>
          <a:p>
            <a:r>
              <a:rPr lang="en-US" sz="2000" dirty="0">
                <a:effectLst/>
                <a:latin typeface="Times New Roman" panose="02020603050405020304" pitchFamily="18" charset="0"/>
                <a:ea typeface="Times New Roman" panose="02020603050405020304" pitchFamily="18" charset="0"/>
              </a:rPr>
              <a:t>At the end of this course, the following outcome shall have been attained</a:t>
            </a:r>
            <a:endParaRPr lang="en-US" dirty="0"/>
          </a:p>
        </p:txBody>
      </p:sp>
      <p:sp>
        <p:nvSpPr>
          <p:cNvPr id="3" name="Text Placeholder 2">
            <a:extLst>
              <a:ext uri="{FF2B5EF4-FFF2-40B4-BE49-F238E27FC236}">
                <a16:creationId xmlns:a16="http://schemas.microsoft.com/office/drawing/2014/main" id="{2AFABE9B-C439-4A2F-AEBA-1C689FB0FB04}"/>
              </a:ext>
            </a:extLst>
          </p:cNvPr>
          <p:cNvSpPr>
            <a:spLocks noGrp="1"/>
          </p:cNvSpPr>
          <p:nvPr>
            <p:ph type="body" sz="quarter" idx="12"/>
          </p:nvPr>
        </p:nvSpPr>
        <p:spPr/>
        <p:txBody>
          <a:bodyPr>
            <a:normAutofit/>
          </a:bodyPr>
          <a:lstStyle/>
          <a:p>
            <a:pPr marL="228600" marR="0" algn="just">
              <a:spcBef>
                <a:spcPts val="0"/>
              </a:spcBef>
              <a:spcAft>
                <a:spcPts val="0"/>
              </a:spcAft>
            </a:pPr>
            <a:r>
              <a:rPr lang="en-US" dirty="0">
                <a:effectLst/>
                <a:ea typeface="Times New Roman" panose="02020603050405020304" pitchFamily="18" charset="0"/>
              </a:rPr>
              <a:t>Basic notations used in computer science literature</a:t>
            </a:r>
          </a:p>
          <a:p>
            <a:pPr marL="228600" marR="0" algn="just">
              <a:spcBef>
                <a:spcPts val="0"/>
              </a:spcBef>
              <a:spcAft>
                <a:spcPts val="0"/>
              </a:spcAft>
            </a:pPr>
            <a:r>
              <a:rPr lang="en-US" dirty="0">
                <a:effectLst/>
                <a:ea typeface="Times New Roman" panose="02020603050405020304" pitchFamily="18" charset="0"/>
              </a:rPr>
              <a:t>Understand the mathematical model of Computation.</a:t>
            </a:r>
          </a:p>
          <a:p>
            <a:pPr marL="228600" marR="0" algn="just">
              <a:spcBef>
                <a:spcPts val="0"/>
              </a:spcBef>
              <a:spcAft>
                <a:spcPts val="0"/>
              </a:spcAft>
            </a:pPr>
            <a:r>
              <a:rPr lang="en-US" dirty="0">
                <a:effectLst/>
                <a:ea typeface="Times New Roman" panose="02020603050405020304" pitchFamily="18" charset="0"/>
              </a:rPr>
              <a:t>Use of Computational models to solve problems for different computational devices</a:t>
            </a:r>
          </a:p>
          <a:p>
            <a:pPr marL="228600" algn="just">
              <a:spcBef>
                <a:spcPts val="0"/>
              </a:spcBef>
            </a:pPr>
            <a:r>
              <a:rPr lang="en-US" dirty="0"/>
              <a:t>Learn how to formally reason about computation.</a:t>
            </a:r>
          </a:p>
          <a:p>
            <a:pPr marL="228600" marR="0" algn="just">
              <a:spcBef>
                <a:spcPts val="0"/>
              </a:spcBef>
              <a:spcAft>
                <a:spcPts val="0"/>
              </a:spcAft>
            </a:pPr>
            <a:r>
              <a:rPr lang="en-US" b="0" i="0" dirty="0">
                <a:solidFill>
                  <a:srgbClr val="000000"/>
                </a:solidFill>
                <a:effectLst/>
              </a:rPr>
              <a:t>Develop the ability to compose correct, clear, and concise mathematical proofs.</a:t>
            </a:r>
            <a:endParaRPr lang="en-US" dirty="0">
              <a:effectLst/>
              <a:ea typeface="Times New Roman" panose="02020603050405020304" pitchFamily="18" charset="0"/>
            </a:endParaRPr>
          </a:p>
          <a:p>
            <a:pPr marL="228600" marR="0" algn="just">
              <a:spcBef>
                <a:spcPts val="0"/>
              </a:spcBef>
              <a:spcAft>
                <a:spcPts val="0"/>
              </a:spcAft>
            </a:pPr>
            <a:r>
              <a:rPr lang="en-US" dirty="0">
                <a:effectLst/>
                <a:ea typeface="Times New Roman" panose="02020603050405020304" pitchFamily="18" charset="0"/>
              </a:rPr>
              <a:t>Understand Computability</a:t>
            </a:r>
          </a:p>
          <a:p>
            <a:pPr marL="228600" marR="0" algn="just">
              <a:spcBef>
                <a:spcPts val="0"/>
              </a:spcBef>
              <a:spcAft>
                <a:spcPts val="0"/>
              </a:spcAft>
            </a:pPr>
            <a:r>
              <a:rPr lang="en-US" dirty="0">
                <a:effectLst/>
                <a:ea typeface="Times New Roman" panose="02020603050405020304" pitchFamily="18" charset="0"/>
              </a:rPr>
              <a:t>Determine Complexity of problems</a:t>
            </a:r>
          </a:p>
          <a:p>
            <a:pPr marL="228600" marR="0" algn="just">
              <a:spcBef>
                <a:spcPts val="0"/>
              </a:spcBef>
              <a:spcAft>
                <a:spcPts val="0"/>
              </a:spcAft>
            </a:pPr>
            <a:r>
              <a:rPr lang="en-US" dirty="0"/>
              <a:t>Learn the technology-independent foundations of CS</a:t>
            </a:r>
            <a:endParaRPr lang="en-US" dirty="0">
              <a:effectLst/>
              <a:ea typeface="Times New Roman" panose="02020603050405020304" pitchFamily="18" charset="0"/>
            </a:endParaRPr>
          </a:p>
        </p:txBody>
      </p:sp>
    </p:spTree>
    <p:extLst>
      <p:ext uri="{BB962C8B-B14F-4D97-AF65-F5344CB8AC3E}">
        <p14:creationId xmlns:p14="http://schemas.microsoft.com/office/powerpoint/2010/main" val="1211172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03F6A2-5ED1-404B-9856-A8FA5C255915}"/>
              </a:ext>
            </a:extLst>
          </p:cNvPr>
          <p:cNvSpPr>
            <a:spLocks noGrp="1"/>
          </p:cNvSpPr>
          <p:nvPr>
            <p:ph type="ftr" sz="quarter" idx="11"/>
          </p:nvPr>
        </p:nvSpPr>
        <p:spPr/>
        <p:txBody>
          <a:bodyPr/>
          <a:lstStyle/>
          <a:p>
            <a:r>
              <a:rPr lang="en-US"/>
              <a:t>CSC3113-Theory of Computation</a:t>
            </a:r>
          </a:p>
        </p:txBody>
      </p:sp>
      <p:sp>
        <p:nvSpPr>
          <p:cNvPr id="2" name="Subtitle 1">
            <a:extLst>
              <a:ext uri="{FF2B5EF4-FFF2-40B4-BE49-F238E27FC236}">
                <a16:creationId xmlns:a16="http://schemas.microsoft.com/office/drawing/2014/main" id="{74B7B75F-B04F-429B-97B6-44E2C82C2528}"/>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643D6E3B-0383-4DEC-A3BC-C075F0C224CA}"/>
              </a:ext>
            </a:extLst>
          </p:cNvPr>
          <p:cNvSpPr>
            <a:spLocks noGrp="1"/>
          </p:cNvSpPr>
          <p:nvPr>
            <p:ph type="body" sz="quarter" idx="12"/>
          </p:nvPr>
        </p:nvSpPr>
        <p:spPr/>
        <p:txBody>
          <a:bodyPr>
            <a:normAutofit fontScale="77500" lnSpcReduction="20000"/>
          </a:bodyPr>
          <a:lstStyle/>
          <a:p>
            <a:pPr algn="just"/>
            <a:r>
              <a:rPr lang="en-US" b="1" i="0" dirty="0">
                <a:solidFill>
                  <a:srgbClr val="000000"/>
                </a:solidFill>
                <a:effectLst/>
              </a:rPr>
              <a:t>Automata and Formal Language Theory:</a:t>
            </a:r>
            <a:r>
              <a:rPr lang="en-US" b="0" i="0" dirty="0">
                <a:solidFill>
                  <a:srgbClr val="000000"/>
                </a:solidFill>
                <a:effectLst/>
              </a:rPr>
              <a:t> Deterministic finite automata, nondeterministic finite automata, regular expressions; Pumping Lemma, non-regular languages; Pushdown automata and context-free languages.</a:t>
            </a:r>
          </a:p>
          <a:p>
            <a:pPr algn="just"/>
            <a:r>
              <a:rPr lang="en-US" b="1" i="0" dirty="0">
                <a:solidFill>
                  <a:srgbClr val="000000"/>
                </a:solidFill>
                <a:effectLst/>
              </a:rPr>
              <a:t>Computability Theory:</a:t>
            </a:r>
            <a:r>
              <a:rPr lang="en-US" b="0" i="0" dirty="0">
                <a:solidFill>
                  <a:srgbClr val="000000"/>
                </a:solidFill>
                <a:effectLst/>
              </a:rPr>
              <a:t> Turing Machines and the Church-Turing thesis; Decidability, halting problem; </a:t>
            </a:r>
          </a:p>
          <a:p>
            <a:pPr algn="just"/>
            <a:r>
              <a:rPr lang="en-US" b="1" i="0" dirty="0">
                <a:solidFill>
                  <a:srgbClr val="000000"/>
                </a:solidFill>
                <a:effectLst/>
              </a:rPr>
              <a:t>Complexity Theory:</a:t>
            </a:r>
            <a:r>
              <a:rPr lang="en-US" b="0" i="0" dirty="0">
                <a:solidFill>
                  <a:srgbClr val="000000"/>
                </a:solidFill>
                <a:effectLst/>
              </a:rPr>
              <a:t> Time complexity, space complexity; Complexity classes P, NP, PSPACE and the P vs. NP question. Polynomial time reductions and NP-completeness.</a:t>
            </a:r>
          </a:p>
          <a:p>
            <a:r>
              <a:rPr lang="en-US" b="1" dirty="0">
                <a:hlinkClick r:id="rId2" action="ppaction://hlinkfile"/>
              </a:rPr>
              <a:t>Week wise topic distribution</a:t>
            </a:r>
            <a:r>
              <a:rPr lang="en-US" dirty="0">
                <a:hlinkClick r:id="rId2" action="ppaction://hlinkfile"/>
              </a:rPr>
              <a:t>.</a:t>
            </a:r>
            <a:endParaRPr lang="en-US" dirty="0"/>
          </a:p>
          <a:p>
            <a:r>
              <a:rPr lang="en-US" sz="2400" b="1" dirty="0">
                <a:solidFill>
                  <a:schemeClr val="tx1"/>
                </a:solidFill>
              </a:rPr>
              <a:t>Books &amp; References:</a:t>
            </a:r>
          </a:p>
          <a:p>
            <a:pPr lvl="1" algn="just"/>
            <a:r>
              <a:rPr lang="en-US" i="1" dirty="0"/>
              <a:t>Introduction to the Theory of Computation</a:t>
            </a:r>
            <a:r>
              <a:rPr lang="en-US" dirty="0"/>
              <a:t>; (Latest Edition) by Michael </a:t>
            </a:r>
            <a:r>
              <a:rPr lang="en-US" dirty="0" err="1"/>
              <a:t>Sipser</a:t>
            </a:r>
            <a:r>
              <a:rPr lang="en-US" dirty="0"/>
              <a:t>.</a:t>
            </a:r>
          </a:p>
          <a:p>
            <a:pPr lvl="1" algn="just"/>
            <a:r>
              <a:rPr lang="en-US" i="1" dirty="0"/>
              <a:t>Introduction to Automata Theory, Languages, and Computation</a:t>
            </a:r>
            <a:r>
              <a:rPr lang="en-US" dirty="0"/>
              <a:t>; (Latest Edition) by John E. Hopcroft, et al.</a:t>
            </a:r>
          </a:p>
          <a:p>
            <a:pPr lvl="1" algn="just"/>
            <a:r>
              <a:rPr lang="en-US" i="1" dirty="0"/>
              <a:t>Elements of the Theory of Computation</a:t>
            </a:r>
            <a:r>
              <a:rPr lang="en-US" dirty="0"/>
              <a:t>, (Latest Edition) by Harry R. Lewis, Christos H. Papadimitriou.</a:t>
            </a:r>
          </a:p>
          <a:p>
            <a:pPr lvl="1"/>
            <a:endParaRPr lang="en-US" dirty="0">
              <a:solidFill>
                <a:schemeClr val="tx1"/>
              </a:solidFill>
            </a:endParaRPr>
          </a:p>
          <a:p>
            <a:endParaRPr lang="en-US" dirty="0"/>
          </a:p>
        </p:txBody>
      </p:sp>
    </p:spTree>
    <p:extLst>
      <p:ext uri="{BB962C8B-B14F-4D97-AF65-F5344CB8AC3E}">
        <p14:creationId xmlns:p14="http://schemas.microsoft.com/office/powerpoint/2010/main" val="2585851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903C60F-41A0-412E-8F04-23BB8F5DEFD4}"/>
              </a:ext>
            </a:extLst>
          </p:cNvPr>
          <p:cNvSpPr>
            <a:spLocks noGrp="1"/>
          </p:cNvSpPr>
          <p:nvPr>
            <p:ph type="ftr" sz="quarter" idx="11"/>
          </p:nvPr>
        </p:nvSpPr>
        <p:spPr/>
        <p:txBody>
          <a:bodyPr/>
          <a:lstStyle/>
          <a:p>
            <a:r>
              <a:rPr lang="en-US"/>
              <a:t>CSC3113-Theory of Computation</a:t>
            </a:r>
          </a:p>
        </p:txBody>
      </p:sp>
      <p:sp>
        <p:nvSpPr>
          <p:cNvPr id="3" name="Subtitle 2">
            <a:extLst>
              <a:ext uri="{FF2B5EF4-FFF2-40B4-BE49-F238E27FC236}">
                <a16:creationId xmlns:a16="http://schemas.microsoft.com/office/drawing/2014/main" id="{F0D8A41B-61AB-4932-9524-99EC17A98469}"/>
              </a:ext>
            </a:extLst>
          </p:cNvPr>
          <p:cNvSpPr>
            <a:spLocks noGrp="1"/>
          </p:cNvSpPr>
          <p:nvPr>
            <p:ph type="subTitle" idx="1"/>
          </p:nvPr>
        </p:nvSpPr>
        <p:spPr/>
        <p:txBody>
          <a:bodyPr>
            <a:normAutofit fontScale="85000" lnSpcReduction="10000"/>
          </a:bodyPr>
          <a:lstStyle/>
          <a:p>
            <a:pPr algn="l"/>
            <a:r>
              <a:rPr lang="en-US" dirty="0"/>
              <a:t>Mathematical reasoning and algorithmic thinking is required:</a:t>
            </a:r>
          </a:p>
          <a:p>
            <a:pPr algn="l"/>
            <a:endParaRPr lang="en-US" dirty="0"/>
          </a:p>
        </p:txBody>
      </p:sp>
      <p:sp>
        <p:nvSpPr>
          <p:cNvPr id="4" name="Text Placeholder 3">
            <a:extLst>
              <a:ext uri="{FF2B5EF4-FFF2-40B4-BE49-F238E27FC236}">
                <a16:creationId xmlns:a16="http://schemas.microsoft.com/office/drawing/2014/main" id="{C4BA2D9B-5A79-4A76-BB86-F18261A35D06}"/>
              </a:ext>
            </a:extLst>
          </p:cNvPr>
          <p:cNvSpPr>
            <a:spLocks noGrp="1"/>
          </p:cNvSpPr>
          <p:nvPr>
            <p:ph type="body" sz="quarter" idx="12"/>
          </p:nvPr>
        </p:nvSpPr>
        <p:spPr/>
        <p:txBody>
          <a:bodyPr>
            <a:normAutofit/>
          </a:bodyPr>
          <a:lstStyle/>
          <a:p>
            <a:pPr marL="541139" indent="-342900" algn="just"/>
            <a:r>
              <a:rPr lang="en-US" dirty="0"/>
              <a:t>Set theory (sub-set, power set </a:t>
            </a:r>
            <a:r>
              <a:rPr lang="en-US" dirty="0" err="1"/>
              <a:t>etc</a:t>
            </a:r>
            <a:r>
              <a:rPr lang="en-US" dirty="0"/>
              <a:t>)</a:t>
            </a:r>
          </a:p>
          <a:p>
            <a:pPr marL="541139" indent="-342900" algn="just"/>
            <a:r>
              <a:rPr lang="en-US" dirty="0"/>
              <a:t>Sequence, Tuple</a:t>
            </a:r>
          </a:p>
          <a:p>
            <a:pPr marL="541139" indent="-342900" algn="just"/>
            <a:r>
              <a:rPr lang="en-US" dirty="0"/>
              <a:t>Function &amp; relation (domain, range </a:t>
            </a:r>
            <a:r>
              <a:rPr lang="en-US" dirty="0" err="1"/>
              <a:t>etc</a:t>
            </a:r>
            <a:r>
              <a:rPr lang="en-US" dirty="0"/>
              <a:t>)</a:t>
            </a:r>
          </a:p>
          <a:p>
            <a:pPr marL="541139" indent="-342900" algn="just"/>
            <a:r>
              <a:rPr lang="en-US" dirty="0"/>
              <a:t>Propositional logic</a:t>
            </a:r>
          </a:p>
          <a:p>
            <a:pPr marL="541139" indent="-342900" algn="just"/>
            <a:r>
              <a:rPr lang="en-US" dirty="0"/>
              <a:t>Graph theory, mathematical representation &amp; algorithms</a:t>
            </a:r>
          </a:p>
          <a:p>
            <a:pPr marL="541139" indent="-342900" algn="just"/>
            <a:r>
              <a:rPr lang="en-US" dirty="0"/>
              <a:t>Asymptotic notation, NP-completeness</a:t>
            </a:r>
          </a:p>
          <a:p>
            <a:pPr marL="541139" indent="-342900" algn="just"/>
            <a:r>
              <a:rPr lang="en-US" dirty="0"/>
              <a:t>Proof by : Construction, Contradiction, Induction</a:t>
            </a:r>
          </a:p>
          <a:p>
            <a:pPr marL="541139" indent="-342900" algn="just"/>
            <a:endParaRPr lang="en-US" dirty="0"/>
          </a:p>
          <a:p>
            <a:pPr marL="198239" indent="0" algn="just">
              <a:buNone/>
            </a:pPr>
            <a:r>
              <a:rPr lang="en-US" sz="2000" u="sng" dirty="0"/>
              <a:t>** some reading material regarding these topics are given at the end.</a:t>
            </a:r>
          </a:p>
          <a:p>
            <a:endParaRPr lang="en-US" dirty="0"/>
          </a:p>
        </p:txBody>
      </p:sp>
    </p:spTree>
    <p:extLst>
      <p:ext uri="{BB962C8B-B14F-4D97-AF65-F5344CB8AC3E}">
        <p14:creationId xmlns:p14="http://schemas.microsoft.com/office/powerpoint/2010/main" val="3697770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42D7DD-F71E-4433-8EAB-952CC17EBFF6}"/>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C8811139-2014-4510-95CC-0DE5F31357C9}"/>
              </a:ext>
            </a:extLst>
          </p:cNvPr>
          <p:cNvSpPr>
            <a:spLocks noGrp="1"/>
          </p:cNvSpPr>
          <p:nvPr>
            <p:ph type="body" sz="quarter" idx="12"/>
          </p:nvPr>
        </p:nvSpPr>
        <p:spPr/>
        <p:txBody>
          <a:bodyPr/>
          <a:lstStyle/>
          <a:p>
            <a:r>
              <a:rPr lang="en-US" dirty="0"/>
              <a:t>Why study Theory of Computation?</a:t>
            </a:r>
          </a:p>
        </p:txBody>
      </p:sp>
      <p:sp>
        <p:nvSpPr>
          <p:cNvPr id="4" name="Text Placeholder 3">
            <a:extLst>
              <a:ext uri="{FF2B5EF4-FFF2-40B4-BE49-F238E27FC236}">
                <a16:creationId xmlns:a16="http://schemas.microsoft.com/office/drawing/2014/main" id="{C2F28995-8D13-498F-BEE4-DEAAAD300479}"/>
              </a:ext>
            </a:extLst>
          </p:cNvPr>
          <p:cNvSpPr>
            <a:spLocks noGrp="1"/>
          </p:cNvSpPr>
          <p:nvPr>
            <p:ph type="body" sz="quarter" idx="13"/>
          </p:nvPr>
        </p:nvSpPr>
        <p:spPr/>
        <p:txBody>
          <a:bodyPr>
            <a:normAutofit fontScale="77500" lnSpcReduction="20000"/>
          </a:bodyPr>
          <a:lstStyle/>
          <a:p>
            <a:r>
              <a:rPr lang="en-US" dirty="0"/>
              <a:t>Let us consider a scenario – </a:t>
            </a:r>
          </a:p>
          <a:p>
            <a:pPr lvl="1" algn="just"/>
            <a:r>
              <a:rPr lang="en-US" dirty="0"/>
              <a:t>You are in a room full of different objects scattered all over the floor. You need to go from one end of the room to another end crossing over these objects. You may step onto the objects in the room or remove the objects from the path to crossover. But some objects may be too hard to step on or may be too heavy (or fixed on the floor) to be removed from the path. </a:t>
            </a:r>
          </a:p>
          <a:p>
            <a:pPr algn="just"/>
            <a:r>
              <a:rPr lang="en-US" dirty="0"/>
              <a:t>Now let us consider 3 conditions – </a:t>
            </a:r>
          </a:p>
          <a:p>
            <a:pPr lvl="1" algn="just"/>
            <a:r>
              <a:rPr lang="en-US" dirty="0"/>
              <a:t>If you are crossing the room blindfolded, you would definitely step onto the objects in the room to crossover, but some objects may be too hard to step on which may result in painful experience on your legs.</a:t>
            </a:r>
          </a:p>
          <a:p>
            <a:pPr lvl="1" algn="just"/>
            <a:r>
              <a:rPr lang="en-US" dirty="0"/>
              <a:t>If you are crossing with eyes open, you may remove/move away some of the objects while stepping towards the other end but may remove something which shouldn’t be removed or may try to move something which you can never be moved.</a:t>
            </a:r>
          </a:p>
          <a:p>
            <a:pPr lvl="1" algn="just"/>
            <a:r>
              <a:rPr lang="en-US" dirty="0"/>
              <a:t>If you are crossing the room with your eyes open and knowing the nature of the objects, you may reach the other end without any problem by removing the objects which can be removed and stepping on the (soft) objects which will not give you pain. Still there may be some instances where you need to step onto some hard objects, but this time you would be prepared as you know from before.</a:t>
            </a:r>
          </a:p>
          <a:p>
            <a:pPr algn="just"/>
            <a:r>
              <a:rPr lang="en-US" dirty="0"/>
              <a:t>This is known as classical difference between “Walking the path” and “Knowing the path”.</a:t>
            </a:r>
          </a:p>
        </p:txBody>
      </p:sp>
    </p:spTree>
    <p:extLst>
      <p:ext uri="{BB962C8B-B14F-4D97-AF65-F5344CB8AC3E}">
        <p14:creationId xmlns:p14="http://schemas.microsoft.com/office/powerpoint/2010/main" val="2027079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C6B610-712B-49B9-AC43-1C627985BDC7}"/>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62585403-E531-4B1C-8D1E-58A03C40D908}"/>
              </a:ext>
            </a:extLst>
          </p:cNvPr>
          <p:cNvSpPr>
            <a:spLocks noGrp="1"/>
          </p:cNvSpPr>
          <p:nvPr>
            <p:ph type="body" sz="quarter" idx="12"/>
          </p:nvPr>
        </p:nvSpPr>
        <p:spPr/>
        <p:txBody>
          <a:bodyPr/>
          <a:lstStyle/>
          <a:p>
            <a:r>
              <a:rPr lang="en-US" dirty="0"/>
              <a:t>…Why study Theory of Computation?</a:t>
            </a:r>
          </a:p>
        </p:txBody>
      </p:sp>
      <p:sp>
        <p:nvSpPr>
          <p:cNvPr id="4" name="Text Placeholder 3">
            <a:extLst>
              <a:ext uri="{FF2B5EF4-FFF2-40B4-BE49-F238E27FC236}">
                <a16:creationId xmlns:a16="http://schemas.microsoft.com/office/drawing/2014/main" id="{E4F8ED01-4536-4A55-9DF2-53A7A6D8B33B}"/>
              </a:ext>
            </a:extLst>
          </p:cNvPr>
          <p:cNvSpPr>
            <a:spLocks noGrp="1"/>
          </p:cNvSpPr>
          <p:nvPr>
            <p:ph type="body" sz="quarter" idx="13"/>
          </p:nvPr>
        </p:nvSpPr>
        <p:spPr/>
        <p:txBody>
          <a:bodyPr>
            <a:normAutofit fontScale="92500" lnSpcReduction="10000"/>
          </a:bodyPr>
          <a:lstStyle/>
          <a:p>
            <a:pPr algn="just"/>
            <a:r>
              <a:rPr lang="en-US" dirty="0"/>
              <a:t>The importance to study the theory of computation is to </a:t>
            </a:r>
          </a:p>
          <a:p>
            <a:pPr lvl="1" algn="just"/>
            <a:r>
              <a:rPr lang="en-US" dirty="0"/>
              <a:t>Better understand the development of formal mathematical models of computation that reflect the real-world of computer.</a:t>
            </a:r>
          </a:p>
          <a:p>
            <a:pPr lvl="1" algn="just"/>
            <a:r>
              <a:rPr lang="en-US" dirty="0"/>
              <a:t>To achieve deep understanding about the mathematical properties of computer hardware and software.</a:t>
            </a:r>
          </a:p>
          <a:p>
            <a:pPr lvl="1" algn="just"/>
            <a:r>
              <a:rPr lang="en-US" dirty="0"/>
              <a:t>Mathematical definitions of the computation and the algorithm.</a:t>
            </a:r>
          </a:p>
          <a:p>
            <a:pPr lvl="1" algn="just"/>
            <a:r>
              <a:rPr lang="en-US" dirty="0"/>
              <a:t>To rectify the limitations of computers and answer what kind of problems can be computed?</a:t>
            </a:r>
          </a:p>
          <a:p>
            <a:r>
              <a:rPr lang="en-US" b="1" dirty="0"/>
              <a:t>Usability </a:t>
            </a:r>
            <a:r>
              <a:rPr lang="en-US" dirty="0"/>
              <a:t>of TOC</a:t>
            </a:r>
            <a:r>
              <a:rPr lang="en-US" b="1" dirty="0"/>
              <a:t>:</a:t>
            </a:r>
          </a:p>
          <a:p>
            <a:pPr lvl="1"/>
            <a:r>
              <a:rPr lang="en-US" dirty="0"/>
              <a:t>Machines Models (different computational devices/SW tools)</a:t>
            </a:r>
          </a:p>
          <a:p>
            <a:pPr lvl="1"/>
            <a:r>
              <a:rPr lang="en-US" dirty="0"/>
              <a:t>Problem/solution Models (machines/algorithms can be used to solve)</a:t>
            </a:r>
          </a:p>
          <a:p>
            <a:pPr lvl="1"/>
            <a:r>
              <a:rPr lang="en-US" dirty="0"/>
              <a:t>Theorems about what types of machines can solve what types of problems, and at what cost.</a:t>
            </a:r>
          </a:p>
          <a:p>
            <a:r>
              <a:rPr lang="en-US" dirty="0"/>
              <a:t>We will work on </a:t>
            </a:r>
            <a:r>
              <a:rPr lang="en-US" b="1" dirty="0"/>
              <a:t>Sequential</a:t>
            </a:r>
            <a:r>
              <a:rPr lang="en-US" dirty="0"/>
              <a:t> and </a:t>
            </a:r>
            <a:r>
              <a:rPr lang="en-US" b="1" dirty="0"/>
              <a:t>single-processor</a:t>
            </a:r>
            <a:r>
              <a:rPr lang="en-US" dirty="0"/>
              <a:t> computing, Focus on </a:t>
            </a:r>
            <a:r>
              <a:rPr lang="en-US" b="1" dirty="0"/>
              <a:t>decision problems </a:t>
            </a:r>
            <a:r>
              <a:rPr lang="en-US" dirty="0"/>
              <a:t>(yes/no answers) on </a:t>
            </a:r>
            <a:r>
              <a:rPr lang="en-US" b="1" dirty="0"/>
              <a:t>discrete </a:t>
            </a:r>
            <a:r>
              <a:rPr lang="en-US" dirty="0"/>
              <a:t>inputs.</a:t>
            </a:r>
          </a:p>
          <a:p>
            <a:pPr algn="just"/>
            <a:endParaRPr lang="en-US" dirty="0"/>
          </a:p>
          <a:p>
            <a:endParaRPr lang="en-US" dirty="0"/>
          </a:p>
        </p:txBody>
      </p:sp>
    </p:spTree>
    <p:extLst>
      <p:ext uri="{BB962C8B-B14F-4D97-AF65-F5344CB8AC3E}">
        <p14:creationId xmlns:p14="http://schemas.microsoft.com/office/powerpoint/2010/main" val="1790684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34B9B4-D264-4AD4-A28D-5175FDA7CAC3}"/>
              </a:ext>
            </a:extLst>
          </p:cNvPr>
          <p:cNvSpPr>
            <a:spLocks noGrp="1"/>
          </p:cNvSpPr>
          <p:nvPr>
            <p:ph type="ftr" sz="quarter" idx="11"/>
          </p:nvPr>
        </p:nvSpPr>
        <p:spPr/>
        <p:txBody>
          <a:bodyPr/>
          <a:lstStyle/>
          <a:p>
            <a:r>
              <a:rPr lang="en-US"/>
              <a:t>CSC3113-Theory of Computation</a:t>
            </a:r>
          </a:p>
        </p:txBody>
      </p:sp>
      <p:sp>
        <p:nvSpPr>
          <p:cNvPr id="2" name="Text Placeholder 1">
            <a:extLst>
              <a:ext uri="{FF2B5EF4-FFF2-40B4-BE49-F238E27FC236}">
                <a16:creationId xmlns:a16="http://schemas.microsoft.com/office/drawing/2014/main" id="{B0018EAE-842A-419B-BF7D-9FA1FD22BD51}"/>
              </a:ext>
            </a:extLst>
          </p:cNvPr>
          <p:cNvSpPr>
            <a:spLocks noGrp="1"/>
          </p:cNvSpPr>
          <p:nvPr>
            <p:ph type="body" sz="quarter" idx="12"/>
          </p:nvPr>
        </p:nvSpPr>
        <p:spPr/>
        <p:txBody>
          <a:bodyPr/>
          <a:lstStyle/>
          <a:p>
            <a:r>
              <a:rPr lang="en-US" sz="3600" dirty="0">
                <a:solidFill>
                  <a:schemeClr val="tx1"/>
                </a:solidFill>
              </a:rPr>
              <a:t>“Theory” of “Computation”</a:t>
            </a:r>
          </a:p>
        </p:txBody>
      </p:sp>
      <p:sp>
        <p:nvSpPr>
          <p:cNvPr id="3" name="Text Placeholder 2">
            <a:extLst>
              <a:ext uri="{FF2B5EF4-FFF2-40B4-BE49-F238E27FC236}">
                <a16:creationId xmlns:a16="http://schemas.microsoft.com/office/drawing/2014/main" id="{55B3D44F-B333-419C-B7D0-080B23B962D4}"/>
              </a:ext>
            </a:extLst>
          </p:cNvPr>
          <p:cNvSpPr>
            <a:spLocks noGrp="1"/>
          </p:cNvSpPr>
          <p:nvPr>
            <p:ph type="body" sz="quarter" idx="13"/>
          </p:nvPr>
        </p:nvSpPr>
        <p:spPr/>
        <p:txBody>
          <a:bodyPr>
            <a:normAutofit/>
          </a:bodyPr>
          <a:lstStyle/>
          <a:p>
            <a:pPr algn="just"/>
            <a:r>
              <a:rPr lang="en-US" b="1" dirty="0"/>
              <a:t>Computation:</a:t>
            </a:r>
            <a:r>
              <a:rPr lang="en-US" dirty="0"/>
              <a:t> The processing of information by the unlimited application of a finite set of operations or rules.</a:t>
            </a:r>
          </a:p>
          <a:p>
            <a:pPr algn="just"/>
            <a:r>
              <a:rPr lang="en-US" b="1" dirty="0"/>
              <a:t>Theory:</a:t>
            </a:r>
            <a:r>
              <a:rPr lang="en-US" dirty="0"/>
              <a:t> General ideas that apply to many different systems (Independence from Technology); Expressed simply, abstractly, and precisely.</a:t>
            </a:r>
          </a:p>
          <a:p>
            <a:pPr lvl="1"/>
            <a:r>
              <a:rPr lang="en-US" dirty="0"/>
              <a:t>Precision: Can be used to prove formal mathematical theorems</a:t>
            </a:r>
          </a:p>
          <a:p>
            <a:pPr lvl="2"/>
            <a:r>
              <a:rPr lang="en-US" dirty="0"/>
              <a:t>Positive results (what can be computed): correctness of algorithms and system designs</a:t>
            </a:r>
          </a:p>
          <a:p>
            <a:pPr lvl="2"/>
            <a:r>
              <a:rPr lang="en-US" dirty="0"/>
              <a:t>Negative results (what cannot be computed): proof that there is no algorithm to solve some problem in some setting (with certain cost)</a:t>
            </a:r>
          </a:p>
        </p:txBody>
      </p:sp>
    </p:spTree>
    <p:extLst>
      <p:ext uri="{BB962C8B-B14F-4D97-AF65-F5344CB8AC3E}">
        <p14:creationId xmlns:p14="http://schemas.microsoft.com/office/powerpoint/2010/main" val="4071078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40FCF3-B6D9-4094-B9D8-9DF6AFFB7AB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B8DD3A40-DADB-48EB-B506-54E1917AC69C}"/>
              </a:ext>
            </a:extLst>
          </p:cNvPr>
          <p:cNvSpPr>
            <a:spLocks noGrp="1"/>
          </p:cNvSpPr>
          <p:nvPr>
            <p:ph type="body" sz="quarter" idx="12"/>
          </p:nvPr>
        </p:nvSpPr>
        <p:spPr/>
        <p:txBody>
          <a:bodyPr/>
          <a:lstStyle/>
          <a:p>
            <a:r>
              <a:rPr lang="en-US" sz="3600" b="1" dirty="0">
                <a:solidFill>
                  <a:schemeClr val="tx1"/>
                </a:solidFill>
              </a:rPr>
              <a:t>Automata Theory</a:t>
            </a:r>
          </a:p>
        </p:txBody>
      </p:sp>
      <p:sp>
        <p:nvSpPr>
          <p:cNvPr id="4" name="Text Placeholder 3">
            <a:extLst>
              <a:ext uri="{FF2B5EF4-FFF2-40B4-BE49-F238E27FC236}">
                <a16:creationId xmlns:a16="http://schemas.microsoft.com/office/drawing/2014/main" id="{0299779A-9ACD-4715-8B20-60E5527C7A68}"/>
              </a:ext>
            </a:extLst>
          </p:cNvPr>
          <p:cNvSpPr>
            <a:spLocks noGrp="1"/>
          </p:cNvSpPr>
          <p:nvPr>
            <p:ph type="body" sz="quarter" idx="13"/>
          </p:nvPr>
        </p:nvSpPr>
        <p:spPr/>
        <p:txBody>
          <a:bodyPr>
            <a:normAutofit fontScale="92500" lnSpcReduction="20000"/>
          </a:bodyPr>
          <a:lstStyle/>
          <a:p>
            <a:pPr algn="just"/>
            <a:r>
              <a:rPr lang="en-US" dirty="0"/>
              <a:t>Automata comes from the Greek word (</a:t>
            </a:r>
            <a:r>
              <a:rPr lang="en-US" dirty="0" err="1"/>
              <a:t>Αυτόμ</a:t>
            </a:r>
            <a:r>
              <a:rPr lang="en-US" dirty="0"/>
              <a:t>ατα) which means that something is doing something by itself. </a:t>
            </a:r>
          </a:p>
          <a:p>
            <a:pPr algn="just"/>
            <a:r>
              <a:rPr lang="en-US" dirty="0"/>
              <a:t>Automata deals with the study of abstract (mathematical model) machines or systems (definition and properties) and the computational problems (defined in terms of formal languages) that can be solved (recognized) using these machines. </a:t>
            </a:r>
          </a:p>
          <a:p>
            <a:pPr lvl="1" algn="just"/>
            <a:r>
              <a:rPr lang="en-US" dirty="0"/>
              <a:t>An automaton can be a finite representation of a formal language that may be an infinite set (language theory). Formal languages are the preferred mode of specification (input) for any problem that must be computed (processed).</a:t>
            </a:r>
          </a:p>
          <a:p>
            <a:pPr lvl="1" algn="just"/>
            <a:r>
              <a:rPr lang="en-US" dirty="0"/>
              <a:t>Automata are used as theoretical models for computing machines (input, process, output),  </a:t>
            </a:r>
          </a:p>
          <a:p>
            <a:pPr lvl="1" algn="just"/>
            <a:r>
              <a:rPr lang="en-US" dirty="0"/>
              <a:t>These abstract computing machines are used for proofs about computability (solvability).</a:t>
            </a:r>
          </a:p>
          <a:p>
            <a:pPr algn="just"/>
            <a:r>
              <a:rPr lang="en-US" dirty="0"/>
              <a:t>Such models include –</a:t>
            </a:r>
          </a:p>
          <a:p>
            <a:pPr lvl="1" algn="just"/>
            <a:r>
              <a:rPr lang="en-US" i="1" dirty="0"/>
              <a:t>finite automaton</a:t>
            </a:r>
            <a:r>
              <a:rPr lang="en-US" dirty="0"/>
              <a:t>, used in text processing, compilers, and hardware design</a:t>
            </a:r>
          </a:p>
          <a:p>
            <a:pPr lvl="1" algn="just"/>
            <a:r>
              <a:rPr lang="en-US" i="1" dirty="0"/>
              <a:t>Context-free grammar</a:t>
            </a:r>
            <a:r>
              <a:rPr lang="en-US" dirty="0"/>
              <a:t>, used in programming languages and artificial intelligence</a:t>
            </a:r>
          </a:p>
          <a:p>
            <a:endParaRPr lang="en-US" dirty="0"/>
          </a:p>
        </p:txBody>
      </p:sp>
    </p:spTree>
    <p:extLst>
      <p:ext uri="{BB962C8B-B14F-4D97-AF65-F5344CB8AC3E}">
        <p14:creationId xmlns:p14="http://schemas.microsoft.com/office/powerpoint/2010/main" val="3383359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F4DE4D-57BF-4C60-AEA6-18B5B2E4AE5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AC1C6897-3F2F-4B05-8DC5-E6DA46FC7703}"/>
              </a:ext>
            </a:extLst>
          </p:cNvPr>
          <p:cNvSpPr>
            <a:spLocks noGrp="1"/>
          </p:cNvSpPr>
          <p:nvPr>
            <p:ph type="body" sz="quarter" idx="12"/>
          </p:nvPr>
        </p:nvSpPr>
        <p:spPr/>
        <p:txBody>
          <a:bodyPr/>
          <a:lstStyle/>
          <a:p>
            <a:r>
              <a:rPr lang="en-US" sz="3600" b="1" dirty="0">
                <a:solidFill>
                  <a:schemeClr val="tx1"/>
                </a:solidFill>
              </a:rPr>
              <a:t>Computability Theory</a:t>
            </a:r>
          </a:p>
        </p:txBody>
      </p:sp>
      <p:sp>
        <p:nvSpPr>
          <p:cNvPr id="4" name="Text Placeholder 3">
            <a:extLst>
              <a:ext uri="{FF2B5EF4-FFF2-40B4-BE49-F238E27FC236}">
                <a16:creationId xmlns:a16="http://schemas.microsoft.com/office/drawing/2014/main" id="{403B590B-15CD-411A-A998-E556D16038AF}"/>
              </a:ext>
            </a:extLst>
          </p:cNvPr>
          <p:cNvSpPr>
            <a:spLocks noGrp="1"/>
          </p:cNvSpPr>
          <p:nvPr>
            <p:ph type="body" sz="quarter" idx="13"/>
          </p:nvPr>
        </p:nvSpPr>
        <p:spPr/>
        <p:txBody>
          <a:bodyPr/>
          <a:lstStyle/>
          <a:p>
            <a:pPr algn="just"/>
            <a:r>
              <a:rPr lang="en-US" dirty="0"/>
              <a:t>Deals with certain basic problems that cannot be solved by computers (how do we know/prove?).</a:t>
            </a:r>
          </a:p>
          <a:p>
            <a:pPr lvl="1" algn="just"/>
            <a:r>
              <a:rPr lang="en-US" dirty="0"/>
              <a:t>For example – Problem of determining whether a mathematical statement is true or false. No computer algorithm can perform this task, at least, no algorithm is known till now.</a:t>
            </a:r>
          </a:p>
          <a:p>
            <a:pPr algn="just"/>
            <a:r>
              <a:rPr lang="en-US" dirty="0"/>
              <a:t>Development of ideas concerning theoretical models of computers that eventually would help to lead to the construction of actual computers.</a:t>
            </a:r>
          </a:p>
          <a:p>
            <a:pPr algn="just"/>
            <a:r>
              <a:rPr lang="en-US" dirty="0"/>
              <a:t>In computability theory, the classification of problems is by those that are solvable and those that are not.</a:t>
            </a:r>
          </a:p>
          <a:p>
            <a:endParaRPr lang="en-US" dirty="0"/>
          </a:p>
        </p:txBody>
      </p:sp>
    </p:spTree>
    <p:extLst>
      <p:ext uri="{BB962C8B-B14F-4D97-AF65-F5344CB8AC3E}">
        <p14:creationId xmlns:p14="http://schemas.microsoft.com/office/powerpoint/2010/main" val="1235747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CE1FA8-E801-4B93-87E9-B8E1E2FEC3DF}"/>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D0C7ED10-557E-4425-84BE-3B9ECFF7A62B}"/>
              </a:ext>
            </a:extLst>
          </p:cNvPr>
          <p:cNvSpPr>
            <a:spLocks noGrp="1"/>
          </p:cNvSpPr>
          <p:nvPr>
            <p:ph type="body" sz="quarter" idx="12"/>
          </p:nvPr>
        </p:nvSpPr>
        <p:spPr/>
        <p:txBody>
          <a:bodyPr/>
          <a:lstStyle/>
          <a:p>
            <a:r>
              <a:rPr lang="en-US" sz="3600" b="1" dirty="0">
                <a:solidFill>
                  <a:schemeClr val="tx1"/>
                </a:solidFill>
              </a:rPr>
              <a:t>Complexity Theory</a:t>
            </a:r>
            <a:endParaRPr lang="en-US" sz="3600" dirty="0">
              <a:solidFill>
                <a:schemeClr val="tx1"/>
              </a:solidFill>
            </a:endParaRPr>
          </a:p>
        </p:txBody>
      </p:sp>
      <p:sp>
        <p:nvSpPr>
          <p:cNvPr id="4" name="Text Placeholder 3">
            <a:extLst>
              <a:ext uri="{FF2B5EF4-FFF2-40B4-BE49-F238E27FC236}">
                <a16:creationId xmlns:a16="http://schemas.microsoft.com/office/drawing/2014/main" id="{4D79C7E8-C0CE-47CC-8D37-664F9A7C773A}"/>
              </a:ext>
            </a:extLst>
          </p:cNvPr>
          <p:cNvSpPr>
            <a:spLocks noGrp="1"/>
          </p:cNvSpPr>
          <p:nvPr>
            <p:ph type="body" sz="quarter" idx="13"/>
          </p:nvPr>
        </p:nvSpPr>
        <p:spPr/>
        <p:txBody>
          <a:bodyPr>
            <a:normAutofit lnSpcReduction="10000"/>
          </a:bodyPr>
          <a:lstStyle/>
          <a:p>
            <a:pPr algn="just"/>
            <a:r>
              <a:rPr lang="en-US" dirty="0"/>
              <a:t>Deals with the method and ideas to decide if problems are computationally hard and/or easy.</a:t>
            </a:r>
          </a:p>
          <a:p>
            <a:pPr algn="just"/>
            <a:r>
              <a:rPr lang="en-US" dirty="0"/>
              <a:t>There are elegant schemes for classifying problems according to their computational difficulties. For example –</a:t>
            </a:r>
          </a:p>
          <a:p>
            <a:pPr marL="800100" lvl="1" indent="-342900" algn="just"/>
            <a:r>
              <a:rPr lang="en-US" dirty="0"/>
              <a:t>Try to alter the aspects of the problem which is at the root of the difficulty so that the problem is more easily solvable.</a:t>
            </a:r>
          </a:p>
          <a:p>
            <a:pPr marL="800100" lvl="1" indent="-342900" algn="just"/>
            <a:r>
              <a:rPr lang="en-US" dirty="0"/>
              <a:t>Settle for less than a perfect solution to the problem. In certain cases finding solutions that only approximate the perfect one is relatively easy.</a:t>
            </a:r>
          </a:p>
          <a:p>
            <a:pPr marL="800100" lvl="1" indent="-342900" algn="just"/>
            <a:r>
              <a:rPr lang="en-US" dirty="0"/>
              <a:t>Some problems are hard only in the worst-case situation, but easy most of the time.</a:t>
            </a:r>
          </a:p>
          <a:p>
            <a:pPr algn="just"/>
            <a:r>
              <a:rPr lang="en-US" dirty="0"/>
              <a:t>Cryptography is one of the examples which requires computational problems that are hard, rather than easy, because secret codes should be hard to break without the secret key or password.</a:t>
            </a:r>
          </a:p>
          <a:p>
            <a:endParaRPr lang="en-US" dirty="0"/>
          </a:p>
        </p:txBody>
      </p:sp>
    </p:spTree>
    <p:extLst>
      <p:ext uri="{BB962C8B-B14F-4D97-AF65-F5344CB8AC3E}">
        <p14:creationId xmlns:p14="http://schemas.microsoft.com/office/powerpoint/2010/main" val="4078240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8BA2FA-B35A-40B6-9CA9-BA8C84B6F74C}"/>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8E77BA05-1F18-4ECF-A8D6-5971792129D1}"/>
              </a:ext>
            </a:extLst>
          </p:cNvPr>
          <p:cNvSpPr>
            <a:spLocks noGrp="1"/>
          </p:cNvSpPr>
          <p:nvPr>
            <p:ph type="body" sz="quarter" idx="12"/>
          </p:nvPr>
        </p:nvSpPr>
        <p:spPr/>
        <p:txBody>
          <a:bodyPr/>
          <a:lstStyle/>
          <a:p>
            <a:r>
              <a:rPr lang="en-US" dirty="0"/>
              <a:t>Linking to other areas of science</a:t>
            </a:r>
          </a:p>
        </p:txBody>
      </p:sp>
      <p:sp>
        <p:nvSpPr>
          <p:cNvPr id="4" name="Text Placeholder 3">
            <a:extLst>
              <a:ext uri="{FF2B5EF4-FFF2-40B4-BE49-F238E27FC236}">
                <a16:creationId xmlns:a16="http://schemas.microsoft.com/office/drawing/2014/main" id="{60387915-74D9-42F8-8720-12373F1846A8}"/>
              </a:ext>
            </a:extLst>
          </p:cNvPr>
          <p:cNvSpPr>
            <a:spLocks noGrp="1"/>
          </p:cNvSpPr>
          <p:nvPr>
            <p:ph type="body" sz="quarter" idx="13"/>
          </p:nvPr>
        </p:nvSpPr>
        <p:spPr/>
        <p:txBody>
          <a:bodyPr/>
          <a:lstStyle/>
          <a:p>
            <a:r>
              <a:rPr lang="it-IT" dirty="0"/>
              <a:t>Finite automata arise in compilers, AI, coding, chemistry.</a:t>
            </a:r>
          </a:p>
          <a:p>
            <a:r>
              <a:rPr lang="en-US" dirty="0"/>
              <a:t>Hard problems are essential to cryptography</a:t>
            </a:r>
            <a:r>
              <a:rPr lang="it-IT" dirty="0"/>
              <a:t>.</a:t>
            </a:r>
          </a:p>
          <a:p>
            <a:r>
              <a:rPr lang="en-US" dirty="0"/>
              <a:t>Computation occurs in cells/DNA, the brain, economic systems, physical systems, social networks, etc.</a:t>
            </a:r>
          </a:p>
          <a:p>
            <a:r>
              <a:rPr lang="en-US" dirty="0"/>
              <a:t>Following is a link where you will find many more areas that is linked with this course.</a:t>
            </a:r>
          </a:p>
          <a:p>
            <a:pPr marL="0" indent="0">
              <a:buNone/>
            </a:pPr>
            <a:r>
              <a:rPr lang="en-US" dirty="0"/>
              <a:t>    </a:t>
            </a:r>
            <a:r>
              <a:rPr lang="es-ES" dirty="0">
                <a:hlinkClick r:id="rId2"/>
              </a:rPr>
              <a:t>https://cstheory.stackexchange.com/a/14818</a:t>
            </a:r>
            <a:endParaRPr lang="es-ES" dirty="0"/>
          </a:p>
          <a:p>
            <a:pPr marL="0" indent="0">
              <a:buNone/>
            </a:pPr>
            <a:endParaRPr lang="en-US" dirty="0"/>
          </a:p>
        </p:txBody>
      </p:sp>
    </p:spTree>
    <p:extLst>
      <p:ext uri="{BB962C8B-B14F-4D97-AF65-F5344CB8AC3E}">
        <p14:creationId xmlns:p14="http://schemas.microsoft.com/office/powerpoint/2010/main" val="542139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8690E7-FA3A-4ADC-8720-B292D2C03BB4}"/>
              </a:ext>
            </a:extLst>
          </p:cNvPr>
          <p:cNvSpPr>
            <a:spLocks noGrp="1"/>
          </p:cNvSpPr>
          <p:nvPr>
            <p:ph type="ftr" sz="quarter" idx="11"/>
          </p:nvPr>
        </p:nvSpPr>
        <p:spPr/>
        <p:txBody>
          <a:bodyPr/>
          <a:lstStyle/>
          <a:p>
            <a:r>
              <a:rPr lang="en-US"/>
              <a:t>CSC3113-Theory of Computation</a:t>
            </a:r>
          </a:p>
        </p:txBody>
      </p:sp>
      <p:sp>
        <p:nvSpPr>
          <p:cNvPr id="3" name="Subtitle 2">
            <a:extLst>
              <a:ext uri="{FF2B5EF4-FFF2-40B4-BE49-F238E27FC236}">
                <a16:creationId xmlns:a16="http://schemas.microsoft.com/office/drawing/2014/main" id="{57BF996A-F514-4BCC-8B4C-6F67F757C134}"/>
              </a:ext>
            </a:extLst>
          </p:cNvPr>
          <p:cNvSpPr>
            <a:spLocks noGrp="1"/>
          </p:cNvSpPr>
          <p:nvPr>
            <p:ph type="subTitle" idx="1"/>
          </p:nvPr>
        </p:nvSpPr>
        <p:spPr/>
        <p:txBody>
          <a:bodyPr/>
          <a:lstStyle/>
          <a:p>
            <a:endParaRPr lang="en-US"/>
          </a:p>
        </p:txBody>
      </p:sp>
      <p:sp>
        <p:nvSpPr>
          <p:cNvPr id="4" name="Text Placeholder 3">
            <a:extLst>
              <a:ext uri="{FF2B5EF4-FFF2-40B4-BE49-F238E27FC236}">
                <a16:creationId xmlns:a16="http://schemas.microsoft.com/office/drawing/2014/main" id="{73A90512-6A74-4BCA-8D7E-ACB6CA489866}"/>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r>
              <a:rPr lang="en-US" dirty="0">
                <a:hlinkClick r:id="rId2" action="ppaction://hlinkfile"/>
              </a:rPr>
              <a:t>Chapter-1</a:t>
            </a:r>
            <a:r>
              <a:rPr lang="en-US" dirty="0"/>
              <a:t>.</a:t>
            </a:r>
          </a:p>
          <a:p>
            <a:r>
              <a:rPr lang="en-US" dirty="0"/>
              <a:t>AIUB Lectures, Mashiour Rahman, </a:t>
            </a:r>
            <a:r>
              <a:rPr lang="en-US" dirty="0">
                <a:hlinkClick r:id="rId3" action="ppaction://hlinkfile"/>
              </a:rPr>
              <a:t>Pre-requisite topics</a:t>
            </a:r>
            <a:r>
              <a:rPr lang="en-US" dirty="0"/>
              <a:t>.</a:t>
            </a:r>
          </a:p>
        </p:txBody>
      </p:sp>
    </p:spTree>
    <p:extLst>
      <p:ext uri="{BB962C8B-B14F-4D97-AF65-F5344CB8AC3E}">
        <p14:creationId xmlns:p14="http://schemas.microsoft.com/office/powerpoint/2010/main" val="3450515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C5C933-AD38-446A-85E4-E06C2A7BC45B}"/>
              </a:ext>
            </a:extLst>
          </p:cNvPr>
          <p:cNvSpPr>
            <a:spLocks noGrp="1"/>
          </p:cNvSpPr>
          <p:nvPr>
            <p:ph type="ftr" sz="quarter" idx="11"/>
          </p:nvPr>
        </p:nvSpPr>
        <p:spPr/>
        <p:txBody>
          <a:bodyPr/>
          <a:lstStyle/>
          <a:p>
            <a:r>
              <a:rPr lang="en-US"/>
              <a:t>CSC3113-Theory of Computation</a:t>
            </a:r>
          </a:p>
        </p:txBody>
      </p:sp>
      <p:sp>
        <p:nvSpPr>
          <p:cNvPr id="3" name="Text Placeholder 2">
            <a:extLst>
              <a:ext uri="{FF2B5EF4-FFF2-40B4-BE49-F238E27FC236}">
                <a16:creationId xmlns:a16="http://schemas.microsoft.com/office/drawing/2014/main" id="{1B924CA5-8B59-44B4-9489-1DBBF84D4966}"/>
              </a:ext>
            </a:extLst>
          </p:cNvPr>
          <p:cNvSpPr>
            <a:spLocks noGrp="1"/>
          </p:cNvSpPr>
          <p:nvPr>
            <p:ph type="body" sz="quarter" idx="12"/>
          </p:nvPr>
        </p:nvSpPr>
        <p:spPr/>
        <p:txBody>
          <a:bodyPr/>
          <a:lstStyle/>
          <a:p>
            <a:endParaRPr lang="en-US"/>
          </a:p>
        </p:txBody>
      </p:sp>
      <p:sp>
        <p:nvSpPr>
          <p:cNvPr id="8" name="Picture Placeholder 7">
            <a:extLst>
              <a:ext uri="{FF2B5EF4-FFF2-40B4-BE49-F238E27FC236}">
                <a16:creationId xmlns:a16="http://schemas.microsoft.com/office/drawing/2014/main" id="{9A0251BC-CD4F-4D3C-9DC9-10351A1A32AC}"/>
              </a:ext>
            </a:extLst>
          </p:cNvPr>
          <p:cNvSpPr>
            <a:spLocks noGrp="1"/>
          </p:cNvSpPr>
          <p:nvPr>
            <p:ph type="pic" sz="quarter" idx="13"/>
          </p:nvPr>
        </p:nvSpPr>
        <p:spPr/>
        <p:txBody>
          <a:bodyPr/>
          <a:lstStyle/>
          <a:p>
            <a:endParaRPr lang="en-US"/>
          </a:p>
        </p:txBody>
      </p:sp>
      <p:pic>
        <p:nvPicPr>
          <p:cNvPr id="9" name="Picture 8">
            <a:extLst>
              <a:ext uri="{FF2B5EF4-FFF2-40B4-BE49-F238E27FC236}">
                <a16:creationId xmlns:a16="http://schemas.microsoft.com/office/drawing/2014/main" id="{2DD1FE98-BA13-453F-AF4A-1670979F3B27}"/>
              </a:ext>
            </a:extLst>
          </p:cNvPr>
          <p:cNvPicPr>
            <a:picLocks noChangeAspect="1"/>
          </p:cNvPicPr>
          <p:nvPr/>
        </p:nvPicPr>
        <p:blipFill>
          <a:blip r:embed="rId2"/>
          <a:stretch>
            <a:fillRect/>
          </a:stretch>
        </p:blipFill>
        <p:spPr>
          <a:xfrm>
            <a:off x="3452968" y="2304659"/>
            <a:ext cx="2183334" cy="2855129"/>
          </a:xfrm>
          <a:prstGeom prst="rect">
            <a:avLst/>
          </a:prstGeom>
        </p:spPr>
      </p:pic>
    </p:spTree>
    <p:extLst>
      <p:ext uri="{BB962C8B-B14F-4D97-AF65-F5344CB8AC3E}">
        <p14:creationId xmlns:p14="http://schemas.microsoft.com/office/powerpoint/2010/main" val="1609735597"/>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IUB 2020" id="{F1C6E3EC-85B0-4703-97BE-959ED79328EC}" vid="{D0BC6CCC-6CBE-48E7-BAFD-BAA31B8EAA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8D4BE8-D167-4909-BC17-CFD85E001785}">
  <ds:schemaRefs>
    <ds:schemaRef ds:uri="http://schemas.microsoft.com/sharepoint/v3/contenttype/forms"/>
  </ds:schemaRefs>
</ds:datastoreItem>
</file>

<file path=customXml/itemProps2.xml><?xml version="1.0" encoding="utf-8"?>
<ds:datastoreItem xmlns:ds="http://schemas.openxmlformats.org/officeDocument/2006/customXml" ds:itemID="{95702BD9-E04B-4C73-9FCF-919645C1C95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0FE20DF-1E0A-4908-8A09-0AE05AB293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1959</TotalTime>
  <Words>2038</Words>
  <Application>Microsoft Office PowerPoint</Application>
  <PresentationFormat>On-screen Show (4:3)</PresentationFormat>
  <Paragraphs>172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 Black</vt:lpstr>
      <vt:lpstr>Calibri</vt:lpstr>
      <vt:lpstr>Corbel</vt:lpstr>
      <vt:lpstr>Times New Roman</vt:lpstr>
      <vt:lpstr>Wingdings</vt:lpstr>
      <vt:lpstr>AIUB 2020</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159</cp:revision>
  <dcterms:created xsi:type="dcterms:W3CDTF">2020-07-02T04:17:10Z</dcterms:created>
  <dcterms:modified xsi:type="dcterms:W3CDTF">2024-10-30T07:43:29Z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