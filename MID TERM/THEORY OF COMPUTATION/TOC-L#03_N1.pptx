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30"/>
  </p:notesMasterIdLst>
  <p:sldIdLst>
    <p:sldId id="256" r:id="rId5"/>
    <p:sldId id="257" r:id="rId6"/>
    <p:sldId id="258" r:id="rId7"/>
    <p:sldId id="259" r:id="rId8"/>
    <p:sldId id="279" r:id="rId9"/>
    <p:sldId id="278" r:id="rId10"/>
    <p:sldId id="281" r:id="rId11"/>
    <p:sldId id="282" r:id="rId12"/>
    <p:sldId id="280" r:id="rId13"/>
    <p:sldId id="283" r:id="rId14"/>
    <p:sldId id="293" r:id="rId15"/>
    <p:sldId id="294" r:id="rId16"/>
    <p:sldId id="295" r:id="rId17"/>
    <p:sldId id="296" r:id="rId18"/>
    <p:sldId id="301" r:id="rId19"/>
    <p:sldId id="302" r:id="rId20"/>
    <p:sldId id="303" r:id="rId21"/>
    <p:sldId id="286" r:id="rId22"/>
    <p:sldId id="290" r:id="rId23"/>
    <p:sldId id="291" r:id="rId24"/>
    <p:sldId id="292" r:id="rId25"/>
    <p:sldId id="284" r:id="rId26"/>
    <p:sldId id="299" r:id="rId27"/>
    <p:sldId id="300" r:id="rId28"/>
    <p:sldId id="27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10/30/2024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070568388"/>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810160993"/>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650471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095201639"/>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05497407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421690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60355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360706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428443540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010087064"/>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14514392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2831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429898828"/>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32565808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888022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7792749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976136312"/>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3082560795"/>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895678109"/>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511165286"/>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527865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043247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315068"/>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819382"/>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55834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76921434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386233487"/>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19675460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401326117"/>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313228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5015341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4348664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9421882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8411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58338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userDrawn="1"/>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3256405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10530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9476323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72"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697" r:id="rId36"/>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hyperlink" Target="NFA-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Non-deterministic Finite Automaton (NFA)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3</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2</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p>
          <a:p>
            <a:endParaRPr lang="en-US" dirty="0"/>
          </a:p>
          <a:p>
            <a:endParaRPr lang="en-US" dirty="0"/>
          </a:p>
          <a:p>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5" name="Subtitle 4">
            <a:extLst>
              <a:ext uri="{FF2B5EF4-FFF2-40B4-BE49-F238E27FC236}">
                <a16:creationId xmlns:a16="http://schemas.microsoft.com/office/drawing/2014/main" id="{22F4DD22-4BCC-4721-BF8A-719311641745}"/>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r>
              <a:rPr lang="en-US" dirty="0"/>
              <a:t>Nondeterministic Finite Automata (NFA).</a:t>
            </a:r>
          </a:p>
          <a:p>
            <a:pPr lvl="1"/>
            <a:r>
              <a:rPr lang="en-US" sz="2200" dirty="0"/>
              <a:t>Running NFA, NFA Tree.</a:t>
            </a:r>
          </a:p>
          <a:p>
            <a:pPr lvl="1"/>
            <a:r>
              <a:rPr lang="en-US" sz="2200" dirty="0"/>
              <a:t>Formal Definition of NFA.</a:t>
            </a:r>
          </a:p>
          <a:p>
            <a:pPr lvl="1"/>
            <a:r>
              <a:rPr lang="en-US" sz="2200" dirty="0"/>
              <a:t>Practice, solve exercise of NFA.</a:t>
            </a:r>
          </a:p>
          <a:p>
            <a:pPr marL="257175" lvl="1" indent="0">
              <a:buNone/>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r>
              <a:rPr lang="en-US" dirty="0"/>
              <a:t>Understand, learn &amp; practice with example</a:t>
            </a:r>
          </a:p>
          <a:p>
            <a:pPr lvl="1"/>
            <a:r>
              <a:rPr lang="en-US" sz="2200" dirty="0"/>
              <a:t>Formal Definition of Nondeterministic Finite Automata (NFA)</a:t>
            </a:r>
          </a:p>
          <a:p>
            <a:pPr lvl="1"/>
            <a:r>
              <a:rPr lang="en-US" sz="2200" dirty="0"/>
              <a:t>Practice designing NFA.</a:t>
            </a:r>
            <a:endParaRPr lang="en-US" dirty="0"/>
          </a:p>
          <a:p>
            <a:pPr lvl="1"/>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r>
              <a:rPr lang="en-US" dirty="0"/>
              <a:t>Understand, learn &amp; formal definition of NFA.</a:t>
            </a:r>
          </a:p>
          <a:p>
            <a:r>
              <a:rPr lang="en-US" dirty="0"/>
              <a:t>Practice &amp; Design of NFA</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p:txBody>
          <a:bodyPr/>
          <a:lstStyle/>
          <a:p>
            <a:pPr eaLnBrk="1" hangingPunct="1">
              <a:lnSpc>
                <a:spcPct val="90000"/>
              </a:lnSpc>
            </a:pPr>
            <a:r>
              <a:rPr lang="en-US" altLang="en-US" sz="2400" dirty="0"/>
              <a:t>We already know DFA, so it would be sufficient to look into the differences of properties between the two.</a:t>
            </a:r>
          </a:p>
          <a:p>
            <a:pPr eaLnBrk="1" hangingPunct="1">
              <a:lnSpc>
                <a:spcPct val="90000"/>
              </a:lnSpc>
            </a:pPr>
            <a:r>
              <a:rPr lang="en-US" altLang="en-US" sz="2400" dirty="0"/>
              <a:t>In NFA a state may have – </a:t>
            </a:r>
          </a:p>
          <a:p>
            <a:pPr lvl="1" eaLnBrk="1" hangingPunct="1">
              <a:lnSpc>
                <a:spcPct val="90000"/>
              </a:lnSpc>
            </a:pPr>
            <a:r>
              <a:rPr lang="en-US" altLang="en-US" sz="2100" dirty="0"/>
              <a:t>Zero or more exiting arrows for each alphabet symbol.</a:t>
            </a:r>
          </a:p>
          <a:p>
            <a:pPr lvl="1" eaLnBrk="1" hangingPunct="1">
              <a:lnSpc>
                <a:spcPct val="90000"/>
              </a:lnSpc>
            </a:pPr>
            <a:r>
              <a:rPr lang="en-US" altLang="en-US" sz="2100" dirty="0"/>
              <a:t>Zero or more exiting arrows with the label </a:t>
            </a:r>
            <a:r>
              <a:rPr lang="el-GR" altLang="en-US" sz="2100" i="1" dirty="0">
                <a:cs typeface="Arial" panose="020B0604020202020204" pitchFamily="34" charset="0"/>
              </a:rPr>
              <a:t>ε</a:t>
            </a:r>
            <a:r>
              <a:rPr lang="en-US" altLang="en-US" sz="2100" dirty="0"/>
              <a:t>.</a:t>
            </a:r>
          </a:p>
          <a:p>
            <a:pPr algn="just" eaLnBrk="1" hangingPunct="1">
              <a:lnSpc>
                <a:spcPct val="90000"/>
              </a:lnSpc>
            </a:pPr>
            <a:r>
              <a:rPr lang="en-US" altLang="en-US" sz="2400" dirty="0"/>
              <a:t>So we can see that, not all steps of a computation follows in a unique way from the preceding step. There can be multiple choices to move from one state to another with a symbol. That’s the reason it’s computation is called nondeterministic.</a:t>
            </a:r>
          </a:p>
          <a:p>
            <a:endParaRPr lang="en-US" dirty="0"/>
          </a:p>
        </p:txBody>
      </p:sp>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p:txBody>
          <a:bodyPr>
            <a:normAutofit fontScale="92500" lnSpcReduction="20000"/>
          </a:bodyPr>
          <a:lstStyle/>
          <a:p>
            <a:r>
              <a:rPr lang="en-US" b="1" dirty="0"/>
              <a:t>State Diagram and the Properties of NFA</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8" name="Picture Placeholder 7" descr="A close up of a clock&#10;&#10;Description automatically generated">
            <a:extLst>
              <a:ext uri="{FF2B5EF4-FFF2-40B4-BE49-F238E27FC236}">
                <a16:creationId xmlns:a16="http://schemas.microsoft.com/office/drawing/2014/main" id="{E7488809-D27F-4384-A766-FB1AB546B0B7}"/>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222227" y="861241"/>
            <a:ext cx="8699545" cy="1658082"/>
          </a:xfrm>
        </p:spPr>
      </p:pic>
    </p:spTree>
    <p:extLst>
      <p:ext uri="{BB962C8B-B14F-4D97-AF65-F5344CB8AC3E}">
        <p14:creationId xmlns:p14="http://schemas.microsoft.com/office/powerpoint/2010/main" val="77444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B10755-8D63-4CF5-B695-6D6B963DF68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0136257-7DCB-4ED4-A833-60A857820646}"/>
              </a:ext>
            </a:extLst>
          </p:cNvPr>
          <p:cNvSpPr>
            <a:spLocks noGrp="1"/>
          </p:cNvSpPr>
          <p:nvPr>
            <p:ph type="body" sz="quarter" idx="12"/>
          </p:nvPr>
        </p:nvSpPr>
        <p:spPr/>
        <p:txBody>
          <a:bodyPr/>
          <a:lstStyle/>
          <a:p>
            <a:r>
              <a:rPr lang="en-US" sz="3600" dirty="0"/>
              <a:t>Running an NFA</a:t>
            </a:r>
            <a:endParaRPr lang="en-US" dirty="0"/>
          </a:p>
        </p:txBody>
      </p:sp>
      <p:sp>
        <p:nvSpPr>
          <p:cNvPr id="4" name="Text Placeholder 3">
            <a:extLst>
              <a:ext uri="{FF2B5EF4-FFF2-40B4-BE49-F238E27FC236}">
                <a16:creationId xmlns:a16="http://schemas.microsoft.com/office/drawing/2014/main" id="{8A7F112B-E3DC-41A8-8077-9292989EA226}"/>
              </a:ext>
            </a:extLst>
          </p:cNvPr>
          <p:cNvSpPr>
            <a:spLocks noGrp="1"/>
          </p:cNvSpPr>
          <p:nvPr>
            <p:ph type="body" sz="quarter" idx="13"/>
          </p:nvPr>
        </p:nvSpPr>
        <p:spPr/>
        <p:txBody>
          <a:bodyPr>
            <a:normAutofit fontScale="85000" lnSpcReduction="20000"/>
          </a:bodyPr>
          <a:lstStyle/>
          <a:p>
            <a:pPr algn="just" eaLnBrk="1" hangingPunct="1">
              <a:lnSpc>
                <a:spcPct val="110000"/>
              </a:lnSpc>
            </a:pPr>
            <a:r>
              <a:rPr lang="en-US" altLang="en-US" dirty="0"/>
              <a:t>If we encounter a state with multiple ways to proceed – </a:t>
            </a:r>
          </a:p>
          <a:p>
            <a:pPr lvl="1" algn="just" eaLnBrk="1" hangingPunct="1">
              <a:lnSpc>
                <a:spcPct val="110000"/>
              </a:lnSpc>
            </a:pPr>
            <a:r>
              <a:rPr lang="en-US" altLang="en-US" sz="2100" dirty="0"/>
              <a:t>The machine splits into multiple copies of itself and follows all the possibilities in parallel.</a:t>
            </a:r>
          </a:p>
          <a:p>
            <a:pPr lvl="1" algn="just" eaLnBrk="1" hangingPunct="1">
              <a:lnSpc>
                <a:spcPct val="110000"/>
              </a:lnSpc>
            </a:pPr>
            <a:r>
              <a:rPr lang="en-US" altLang="en-US" sz="2100" dirty="0"/>
              <a:t>Each copy of the machine takes one of the possible ways to proceed and continues as before.</a:t>
            </a:r>
          </a:p>
          <a:p>
            <a:pPr lvl="1" algn="just" eaLnBrk="1" hangingPunct="1">
              <a:lnSpc>
                <a:spcPct val="110000"/>
              </a:lnSpc>
            </a:pPr>
            <a:r>
              <a:rPr lang="en-US" altLang="en-US" sz="2100" dirty="0"/>
              <a:t>If there are subsequent choices, the machine splits again.</a:t>
            </a:r>
          </a:p>
          <a:p>
            <a:pPr algn="just" eaLnBrk="1" hangingPunct="1">
              <a:lnSpc>
                <a:spcPct val="110000"/>
              </a:lnSpc>
            </a:pPr>
            <a:r>
              <a:rPr lang="en-US" altLang="en-US" dirty="0"/>
              <a:t>If a state with an </a:t>
            </a:r>
            <a:r>
              <a:rPr lang="el-GR" altLang="en-US" i="1" dirty="0">
                <a:cs typeface="Arial" panose="020B0604020202020204" pitchFamily="34" charset="0"/>
              </a:rPr>
              <a:t>ε</a:t>
            </a:r>
            <a:r>
              <a:rPr lang="en-US" altLang="en-US" dirty="0"/>
              <a:t> symbol on an exiting arrow is encountered without reading any input, the machine splits into multiple copies, </a:t>
            </a:r>
          </a:p>
          <a:p>
            <a:pPr lvl="1" algn="just" eaLnBrk="1" hangingPunct="1">
              <a:lnSpc>
                <a:spcPct val="110000"/>
              </a:lnSpc>
            </a:pPr>
            <a:r>
              <a:rPr lang="en-US" altLang="en-US" sz="2100" dirty="0"/>
              <a:t>one following each of the exiting </a:t>
            </a:r>
            <a:r>
              <a:rPr lang="el-GR" altLang="en-US" sz="2100" i="1" dirty="0">
                <a:cs typeface="Arial" panose="020B0604020202020204" pitchFamily="34" charset="0"/>
              </a:rPr>
              <a:t>ε</a:t>
            </a:r>
            <a:r>
              <a:rPr lang="en-US" altLang="en-US" sz="2100" dirty="0"/>
              <a:t>-labeled arrows and </a:t>
            </a:r>
          </a:p>
          <a:p>
            <a:pPr lvl="1" algn="just" eaLnBrk="1" hangingPunct="1">
              <a:lnSpc>
                <a:spcPct val="110000"/>
              </a:lnSpc>
            </a:pPr>
            <a:r>
              <a:rPr lang="en-US" altLang="en-US" sz="2100" dirty="0"/>
              <a:t>one staying in the current state.</a:t>
            </a:r>
          </a:p>
          <a:p>
            <a:pPr algn="just" eaLnBrk="1" hangingPunct="1">
              <a:lnSpc>
                <a:spcPct val="110000"/>
              </a:lnSpc>
            </a:pPr>
            <a:r>
              <a:rPr lang="en-US" altLang="en-US" dirty="0"/>
              <a:t>If the next input symbol doesn’t appear on any of the arrows exiting the state occupied by a copy of the machine, that copy of the machine dies, along with the branch of the computation associated with it.</a:t>
            </a:r>
          </a:p>
          <a:p>
            <a:pPr algn="just" eaLnBrk="1" hangingPunct="1">
              <a:lnSpc>
                <a:spcPct val="110000"/>
              </a:lnSpc>
            </a:pPr>
            <a:r>
              <a:rPr lang="en-US" altLang="en-US" dirty="0"/>
              <a:t>If any one of these copies of the machine is in an accept state at the end of the input, the NFA accepts the input strings.</a:t>
            </a:r>
          </a:p>
          <a:p>
            <a:pPr algn="just" eaLnBrk="1" hangingPunct="1">
              <a:lnSpc>
                <a:spcPct val="110000"/>
              </a:lnSpc>
            </a:pPr>
            <a:r>
              <a:rPr lang="en-US" altLang="en-US" dirty="0"/>
              <a:t>So, nondeterminism may be viewed as a kind of parallel computation wherein several processes can be running concurrently.</a:t>
            </a:r>
          </a:p>
          <a:p>
            <a:pPr algn="just" eaLnBrk="1" hangingPunct="1">
              <a:lnSpc>
                <a:spcPct val="110000"/>
              </a:lnSpc>
            </a:pPr>
            <a:r>
              <a:rPr lang="en-US" altLang="en-US" dirty="0"/>
              <a:t>If at least one of these processes accepts then the entire computation accepts.</a:t>
            </a:r>
          </a:p>
        </p:txBody>
      </p:sp>
    </p:spTree>
    <p:extLst>
      <p:ext uri="{BB962C8B-B14F-4D97-AF65-F5344CB8AC3E}">
        <p14:creationId xmlns:p14="http://schemas.microsoft.com/office/powerpoint/2010/main" val="2032021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194AFF-04FF-4AF1-9137-A51131A7C855}"/>
              </a:ext>
            </a:extLst>
          </p:cNvPr>
          <p:cNvSpPr>
            <a:spLocks noGrp="1"/>
          </p:cNvSpPr>
          <p:nvPr>
            <p:ph type="title"/>
          </p:nvPr>
        </p:nvSpPr>
        <p:spPr>
          <a:xfrm>
            <a:off x="811919" y="14437"/>
            <a:ext cx="3532518" cy="1357163"/>
          </a:xfrm>
        </p:spPr>
        <p:txBody>
          <a:bodyPr anchor="ctr">
            <a:normAutofit/>
          </a:bodyPr>
          <a:lstStyle/>
          <a:p>
            <a:r>
              <a:rPr lang="en-US"/>
              <a:t>Running an NFA</a:t>
            </a:r>
            <a:endParaRPr lang="en-US" dirty="0"/>
          </a:p>
        </p:txBody>
      </p:sp>
      <p:sp>
        <p:nvSpPr>
          <p:cNvPr id="2" name="Content Placeholder 1">
            <a:extLst>
              <a:ext uri="{FF2B5EF4-FFF2-40B4-BE49-F238E27FC236}">
                <a16:creationId xmlns:a16="http://schemas.microsoft.com/office/drawing/2014/main" id="{DBF7B3FF-BC75-457F-BFFA-09F9ABCF9D61}"/>
              </a:ext>
            </a:extLst>
          </p:cNvPr>
          <p:cNvSpPr>
            <a:spLocks noGrp="1"/>
          </p:cNvSpPr>
          <p:nvPr>
            <p:ph idx="1"/>
          </p:nvPr>
        </p:nvSpPr>
        <p:spPr>
          <a:xfrm>
            <a:off x="27710" y="1403570"/>
            <a:ext cx="4316725" cy="3902716"/>
          </a:xfrm>
        </p:spPr>
        <p:txBody>
          <a:bodyPr>
            <a:normAutofit/>
          </a:bodyPr>
          <a:lstStyle/>
          <a:p>
            <a:pPr algn="just" eaLnBrk="1" hangingPunct="1">
              <a:lnSpc>
                <a:spcPct val="90000"/>
              </a:lnSpc>
            </a:pPr>
            <a:r>
              <a:rPr lang="en-US" altLang="en-US" sz="2000" dirty="0"/>
              <a:t>Another way of viewing a nondeterministic computation is as a tree of possibilities.</a:t>
            </a:r>
          </a:p>
          <a:p>
            <a:pPr lvl="1" algn="just" eaLnBrk="1" hangingPunct="1">
              <a:lnSpc>
                <a:spcPct val="90000"/>
              </a:lnSpc>
            </a:pPr>
            <a:r>
              <a:rPr lang="en-US" altLang="en-US" dirty="0"/>
              <a:t>The root corresponds to the start of the computation.</a:t>
            </a:r>
          </a:p>
          <a:p>
            <a:pPr lvl="1" algn="just" eaLnBrk="1" hangingPunct="1">
              <a:lnSpc>
                <a:spcPct val="90000"/>
              </a:lnSpc>
            </a:pPr>
            <a:r>
              <a:rPr lang="en-US" altLang="en-US" dirty="0"/>
              <a:t>Every branching point in the tree corresponds to a point in the computation at which the machine has multiple choices.</a:t>
            </a:r>
          </a:p>
          <a:p>
            <a:pPr lvl="1" algn="just" eaLnBrk="1" hangingPunct="1">
              <a:lnSpc>
                <a:spcPct val="90000"/>
              </a:lnSpc>
            </a:pPr>
            <a:r>
              <a:rPr lang="en-US" altLang="en-US" dirty="0"/>
              <a:t>The machine accepts if at least one of the computation branches ends in an accept state.</a:t>
            </a:r>
          </a:p>
        </p:txBody>
      </p:sp>
      <p:sp>
        <p:nvSpPr>
          <p:cNvPr id="4" name="Text Placeholder 3">
            <a:extLst>
              <a:ext uri="{FF2B5EF4-FFF2-40B4-BE49-F238E27FC236}">
                <a16:creationId xmlns:a16="http://schemas.microsoft.com/office/drawing/2014/main" id="{2DDCA803-541C-48F1-AA9C-A323FEC9822F}"/>
              </a:ext>
            </a:extLst>
          </p:cNvPr>
          <p:cNvSpPr>
            <a:spLocks noGrp="1"/>
          </p:cNvSpPr>
          <p:nvPr>
            <p:ph type="body" sz="half" idx="2"/>
          </p:nvPr>
        </p:nvSpPr>
        <p:spPr>
          <a:xfrm>
            <a:off x="27711" y="5306291"/>
            <a:ext cx="4316726" cy="1130740"/>
          </a:xfrm>
        </p:spPr>
        <p:txBody>
          <a:bodyPr anchor="ctr">
            <a:normAutofit/>
          </a:bodyPr>
          <a:lstStyle/>
          <a:p>
            <a:r>
              <a:rPr lang="en-US" dirty="0"/>
              <a:t>Tree representation</a:t>
            </a:r>
            <a:endParaRPr lang="en-US"/>
          </a:p>
        </p:txBody>
      </p:sp>
      <p:sp>
        <p:nvSpPr>
          <p:cNvPr id="3" name="Footer Placeholder 2">
            <a:extLst>
              <a:ext uri="{FF2B5EF4-FFF2-40B4-BE49-F238E27FC236}">
                <a16:creationId xmlns:a16="http://schemas.microsoft.com/office/drawing/2014/main" id="{83906A2E-9416-471B-819F-7DDF902229D8}"/>
              </a:ext>
            </a:extLst>
          </p:cNvPr>
          <p:cNvSpPr>
            <a:spLocks noGrp="1"/>
          </p:cNvSpPr>
          <p:nvPr>
            <p:ph type="ftr" sz="quarter" idx="11"/>
          </p:nvPr>
        </p:nvSpPr>
        <p:spPr>
          <a:xfrm>
            <a:off x="19583" y="6437036"/>
            <a:ext cx="6124902" cy="365125"/>
          </a:xfrm>
        </p:spPr>
        <p:txBody>
          <a:bodyPr anchor="ctr">
            <a:normAutofit/>
          </a:bodyPr>
          <a:lstStyle/>
          <a:p>
            <a:pPr>
              <a:spcAft>
                <a:spcPts val="600"/>
              </a:spcAft>
            </a:pPr>
            <a:r>
              <a:rPr lang="en-US"/>
              <a:t>CSC3113: Theory of Computation</a:t>
            </a:r>
          </a:p>
        </p:txBody>
      </p:sp>
      <p:pic>
        <p:nvPicPr>
          <p:cNvPr id="8" name="Picture Placeholder 7" descr="A screenshot of a cell phone&#10;&#10;Description automatically generated">
            <a:extLst>
              <a:ext uri="{FF2B5EF4-FFF2-40B4-BE49-F238E27FC236}">
                <a16:creationId xmlns:a16="http://schemas.microsoft.com/office/drawing/2014/main" id="{1D26F0E8-E3AC-443D-B4EA-4FEF06857128}"/>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tretch/>
        </p:blipFill>
        <p:spPr>
          <a:xfrm>
            <a:off x="4475771" y="548488"/>
            <a:ext cx="4610038" cy="5440198"/>
          </a:xfrm>
          <a:noFill/>
        </p:spPr>
      </p:pic>
    </p:spTree>
    <p:extLst>
      <p:ext uri="{BB962C8B-B14F-4D97-AF65-F5344CB8AC3E}">
        <p14:creationId xmlns:p14="http://schemas.microsoft.com/office/powerpoint/2010/main" val="23453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3D2D4A-8FE8-4A01-A3DC-404D0542FFD8}"/>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E9E7F84-4351-4163-A373-72B4BC54EDFF}"/>
              </a:ext>
            </a:extLst>
          </p:cNvPr>
          <p:cNvSpPr>
            <a:spLocks noGrp="1"/>
          </p:cNvSpPr>
          <p:nvPr>
            <p:ph type="body" sz="quarter" idx="12"/>
          </p:nvPr>
        </p:nvSpPr>
        <p:spPr/>
        <p:txBody>
          <a:bodyPr/>
          <a:lstStyle/>
          <a:p>
            <a:r>
              <a:rPr lang="en-US" dirty="0"/>
              <a:t>Simulation – NFA Tree</a:t>
            </a:r>
          </a:p>
        </p:txBody>
      </p:sp>
      <p:sp>
        <p:nvSpPr>
          <p:cNvPr id="65" name="Rectangle 3">
            <a:extLst>
              <a:ext uri="{FF2B5EF4-FFF2-40B4-BE49-F238E27FC236}">
                <a16:creationId xmlns:a16="http://schemas.microsoft.com/office/drawing/2014/main" id="{36CD907C-6F8A-4CBE-8836-AFDD478C7F9C}"/>
              </a:ext>
            </a:extLst>
          </p:cNvPr>
          <p:cNvSpPr txBox="1">
            <a:spLocks noChangeArrowheads="1"/>
          </p:cNvSpPr>
          <p:nvPr/>
        </p:nvSpPr>
        <p:spPr>
          <a:xfrm>
            <a:off x="335280" y="2033867"/>
            <a:ext cx="8763000" cy="3989219"/>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609600" indent="-609600">
              <a:buFontTx/>
              <a:buNone/>
            </a:pPr>
            <a:r>
              <a:rPr lang="en-US" altLang="en-US" dirty="0"/>
              <a:t>Symbol read</a:t>
            </a:r>
          </a:p>
          <a:p>
            <a:pPr marL="609600" indent="-609600">
              <a:spcBef>
                <a:spcPts val="1200"/>
              </a:spcBef>
              <a:buFontTx/>
              <a:buNone/>
            </a:pPr>
            <a:r>
              <a:rPr lang="en-US" altLang="en-US" dirty="0"/>
              <a:t>0  ----------------------------------------------------------------------------------</a:t>
            </a:r>
          </a:p>
          <a:p>
            <a:pPr marL="609600" indent="-609600">
              <a:spcBef>
                <a:spcPts val="2400"/>
              </a:spcBef>
              <a:buFontTx/>
              <a:buNone/>
            </a:pPr>
            <a:r>
              <a:rPr lang="en-US" altLang="en-US" dirty="0"/>
              <a:t>1  -----------------------------------------------------------------------</a:t>
            </a:r>
          </a:p>
          <a:p>
            <a:pPr marL="609600" indent="-609600">
              <a:spcBef>
                <a:spcPts val="2400"/>
              </a:spcBef>
              <a:buFontTx/>
              <a:buNone/>
            </a:pPr>
            <a:r>
              <a:rPr lang="en-US" altLang="en-US" dirty="0"/>
              <a:t>0  ----------------------------------------------------------------</a:t>
            </a:r>
          </a:p>
          <a:p>
            <a:pPr marL="609600" indent="-609600">
              <a:spcBef>
                <a:spcPts val="2400"/>
              </a:spcBef>
              <a:buFontTx/>
              <a:buNone/>
            </a:pPr>
            <a:r>
              <a:rPr lang="en-US" altLang="en-US" dirty="0"/>
              <a:t>1  ----------------------------------------------------------</a:t>
            </a:r>
          </a:p>
          <a:p>
            <a:pPr marL="609600" indent="-609600">
              <a:spcBef>
                <a:spcPts val="2400"/>
              </a:spcBef>
              <a:buFontTx/>
              <a:buNone/>
            </a:pPr>
            <a:r>
              <a:rPr lang="en-US" altLang="en-US" dirty="0"/>
              <a:t>1  ------------------------------------------------</a:t>
            </a:r>
          </a:p>
          <a:p>
            <a:pPr marL="609600" indent="-609600">
              <a:buFontTx/>
              <a:buNone/>
            </a:pPr>
            <a:endParaRPr lang="en-US" altLang="en-US" sz="1000" dirty="0"/>
          </a:p>
          <a:p>
            <a:pPr marL="609600" indent="-609600">
              <a:spcBef>
                <a:spcPts val="1200"/>
              </a:spcBef>
              <a:buFontTx/>
              <a:buNone/>
            </a:pPr>
            <a:r>
              <a:rPr lang="en-US" altLang="en-US" dirty="0"/>
              <a:t>0  ------------------------------------------</a:t>
            </a:r>
          </a:p>
        </p:txBody>
      </p:sp>
      <p:sp>
        <p:nvSpPr>
          <p:cNvPr id="66" name="Oval 5">
            <a:extLst>
              <a:ext uri="{FF2B5EF4-FFF2-40B4-BE49-F238E27FC236}">
                <a16:creationId xmlns:a16="http://schemas.microsoft.com/office/drawing/2014/main" id="{28C94397-B162-4B14-AE92-DA585AD78526}"/>
              </a:ext>
            </a:extLst>
          </p:cNvPr>
          <p:cNvSpPr>
            <a:spLocks noChangeArrowheads="1"/>
          </p:cNvSpPr>
          <p:nvPr/>
        </p:nvSpPr>
        <p:spPr bwMode="auto">
          <a:xfrm>
            <a:off x="12046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1</a:t>
            </a:r>
          </a:p>
        </p:txBody>
      </p:sp>
      <p:sp>
        <p:nvSpPr>
          <p:cNvPr id="67" name="Line 6">
            <a:extLst>
              <a:ext uri="{FF2B5EF4-FFF2-40B4-BE49-F238E27FC236}">
                <a16:creationId xmlns:a16="http://schemas.microsoft.com/office/drawing/2014/main" id="{E13C0ABA-F81B-4C77-B8F6-239F2AE21307}"/>
              </a:ext>
            </a:extLst>
          </p:cNvPr>
          <p:cNvSpPr>
            <a:spLocks noChangeShapeType="1"/>
          </p:cNvSpPr>
          <p:nvPr/>
        </p:nvSpPr>
        <p:spPr bwMode="auto">
          <a:xfrm flipV="1">
            <a:off x="487680" y="1828762"/>
            <a:ext cx="745312" cy="4711"/>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68" name="AutoShape 7">
            <a:extLst>
              <a:ext uri="{FF2B5EF4-FFF2-40B4-BE49-F238E27FC236}">
                <a16:creationId xmlns:a16="http://schemas.microsoft.com/office/drawing/2014/main" id="{0FF72572-C9E9-4CE4-8B86-E0226C4C7269}"/>
              </a:ext>
            </a:extLst>
          </p:cNvPr>
          <p:cNvCxnSpPr>
            <a:cxnSpLocks noChangeShapeType="1"/>
            <a:stCxn id="66" idx="1"/>
            <a:endCxn id="66" idx="0"/>
          </p:cNvCxnSpPr>
          <p:nvPr/>
        </p:nvCxnSpPr>
        <p:spPr bwMode="auto">
          <a:xfrm rot="5400000" flipH="1" flipV="1">
            <a:off x="1361088" y="1460513"/>
            <a:ext cx="90161" cy="220425"/>
          </a:xfrm>
          <a:prstGeom prst="curvedConnector3">
            <a:avLst>
              <a:gd name="adj1" fmla="val 353546"/>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9" name="Oval 8">
            <a:extLst>
              <a:ext uri="{FF2B5EF4-FFF2-40B4-BE49-F238E27FC236}">
                <a16:creationId xmlns:a16="http://schemas.microsoft.com/office/drawing/2014/main" id="{FB263FAD-A6F8-4331-B7AB-E9666E07FC3B}"/>
              </a:ext>
            </a:extLst>
          </p:cNvPr>
          <p:cNvSpPr>
            <a:spLocks noChangeArrowheads="1"/>
          </p:cNvSpPr>
          <p:nvPr/>
        </p:nvSpPr>
        <p:spPr bwMode="auto">
          <a:xfrm>
            <a:off x="33382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2</a:t>
            </a:r>
          </a:p>
        </p:txBody>
      </p:sp>
      <p:sp>
        <p:nvSpPr>
          <p:cNvPr id="70" name="Oval 9">
            <a:extLst>
              <a:ext uri="{FF2B5EF4-FFF2-40B4-BE49-F238E27FC236}">
                <a16:creationId xmlns:a16="http://schemas.microsoft.com/office/drawing/2014/main" id="{F7DDAA5E-B5D8-4123-AF39-6E5479CCD747}"/>
              </a:ext>
            </a:extLst>
          </p:cNvPr>
          <p:cNvSpPr>
            <a:spLocks noChangeArrowheads="1"/>
          </p:cNvSpPr>
          <p:nvPr/>
        </p:nvSpPr>
        <p:spPr bwMode="auto">
          <a:xfrm>
            <a:off x="54718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3</a:t>
            </a:r>
          </a:p>
        </p:txBody>
      </p:sp>
      <p:sp>
        <p:nvSpPr>
          <p:cNvPr id="71" name="Oval 10">
            <a:extLst>
              <a:ext uri="{FF2B5EF4-FFF2-40B4-BE49-F238E27FC236}">
                <a16:creationId xmlns:a16="http://schemas.microsoft.com/office/drawing/2014/main" id="{521608A7-8C12-4F8D-93D4-C4242CC7D568}"/>
              </a:ext>
            </a:extLst>
          </p:cNvPr>
          <p:cNvSpPr>
            <a:spLocks noChangeArrowheads="1"/>
          </p:cNvSpPr>
          <p:nvPr/>
        </p:nvSpPr>
        <p:spPr bwMode="auto">
          <a:xfrm>
            <a:off x="7605453" y="1525644"/>
            <a:ext cx="623455" cy="615661"/>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4</a:t>
            </a:r>
          </a:p>
        </p:txBody>
      </p:sp>
      <p:cxnSp>
        <p:nvCxnSpPr>
          <p:cNvPr id="72" name="AutoShape 11">
            <a:extLst>
              <a:ext uri="{FF2B5EF4-FFF2-40B4-BE49-F238E27FC236}">
                <a16:creationId xmlns:a16="http://schemas.microsoft.com/office/drawing/2014/main" id="{74773111-B5E7-48F7-AE1F-6EA2CC7A0BF3}"/>
              </a:ext>
            </a:extLst>
          </p:cNvPr>
          <p:cNvCxnSpPr>
            <a:cxnSpLocks noChangeShapeType="1"/>
            <a:stCxn id="66" idx="6"/>
            <a:endCxn id="69" idx="2"/>
          </p:cNvCxnSpPr>
          <p:nvPr/>
        </p:nvCxnSpPr>
        <p:spPr bwMode="auto">
          <a:xfrm>
            <a:off x="18281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3" name="AutoShape 12">
            <a:extLst>
              <a:ext uri="{FF2B5EF4-FFF2-40B4-BE49-F238E27FC236}">
                <a16:creationId xmlns:a16="http://schemas.microsoft.com/office/drawing/2014/main" id="{D49879A3-343B-4EA2-9DCB-D8770D043C3D}"/>
              </a:ext>
            </a:extLst>
          </p:cNvPr>
          <p:cNvCxnSpPr>
            <a:cxnSpLocks noChangeShapeType="1"/>
            <a:stCxn id="69" idx="6"/>
            <a:endCxn id="70" idx="2"/>
          </p:cNvCxnSpPr>
          <p:nvPr/>
        </p:nvCxnSpPr>
        <p:spPr bwMode="auto">
          <a:xfrm>
            <a:off x="39617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4" name="AutoShape 13">
            <a:extLst>
              <a:ext uri="{FF2B5EF4-FFF2-40B4-BE49-F238E27FC236}">
                <a16:creationId xmlns:a16="http://schemas.microsoft.com/office/drawing/2014/main" id="{8C33ED8A-8226-4C4F-8CCE-BDC10919590A}"/>
              </a:ext>
            </a:extLst>
          </p:cNvPr>
          <p:cNvCxnSpPr>
            <a:cxnSpLocks noChangeShapeType="1"/>
            <a:stCxn id="70" idx="6"/>
            <a:endCxn id="71" idx="2"/>
          </p:cNvCxnSpPr>
          <p:nvPr/>
        </p:nvCxnSpPr>
        <p:spPr bwMode="auto">
          <a:xfrm>
            <a:off x="60953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5" name="AutoShape 14">
            <a:extLst>
              <a:ext uri="{FF2B5EF4-FFF2-40B4-BE49-F238E27FC236}">
                <a16:creationId xmlns:a16="http://schemas.microsoft.com/office/drawing/2014/main" id="{73C17D83-AA32-4948-87EF-7EC73DA4D679}"/>
              </a:ext>
            </a:extLst>
          </p:cNvPr>
          <p:cNvCxnSpPr>
            <a:cxnSpLocks noChangeShapeType="1"/>
            <a:stCxn id="71" idx="1"/>
            <a:endCxn id="71" idx="0"/>
          </p:cNvCxnSpPr>
          <p:nvPr/>
        </p:nvCxnSpPr>
        <p:spPr bwMode="auto">
          <a:xfrm rot="5400000" flipH="1" flipV="1">
            <a:off x="7761888" y="1460513"/>
            <a:ext cx="90161" cy="220425"/>
          </a:xfrm>
          <a:prstGeom prst="curvedConnector3">
            <a:avLst>
              <a:gd name="adj1" fmla="val 353546"/>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6" name="Text Box 15">
            <a:extLst>
              <a:ext uri="{FF2B5EF4-FFF2-40B4-BE49-F238E27FC236}">
                <a16:creationId xmlns:a16="http://schemas.microsoft.com/office/drawing/2014/main" id="{64B1F299-3C15-47D4-8740-B0BF5042A405}"/>
              </a:ext>
            </a:extLst>
          </p:cNvPr>
          <p:cNvSpPr txBox="1">
            <a:spLocks noChangeArrowheads="1"/>
          </p:cNvSpPr>
          <p:nvPr/>
        </p:nvSpPr>
        <p:spPr bwMode="auto">
          <a:xfrm>
            <a:off x="1386840" y="94258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0,</a:t>
            </a:r>
          </a:p>
        </p:txBody>
      </p:sp>
      <p:sp>
        <p:nvSpPr>
          <p:cNvPr id="77" name="Text Box 16">
            <a:extLst>
              <a:ext uri="{FF2B5EF4-FFF2-40B4-BE49-F238E27FC236}">
                <a16:creationId xmlns:a16="http://schemas.microsoft.com/office/drawing/2014/main" id="{D3B67E8A-1F28-42CE-B96A-48DE59810FBF}"/>
              </a:ext>
            </a:extLst>
          </p:cNvPr>
          <p:cNvSpPr txBox="1">
            <a:spLocks noChangeArrowheads="1"/>
          </p:cNvSpPr>
          <p:nvPr/>
        </p:nvSpPr>
        <p:spPr bwMode="auto">
          <a:xfrm>
            <a:off x="2087880" y="1492174"/>
            <a:ext cx="533400" cy="27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1</a:t>
            </a:r>
          </a:p>
        </p:txBody>
      </p:sp>
      <p:sp>
        <p:nvSpPr>
          <p:cNvPr id="78" name="Text Box 17">
            <a:extLst>
              <a:ext uri="{FF2B5EF4-FFF2-40B4-BE49-F238E27FC236}">
                <a16:creationId xmlns:a16="http://schemas.microsoft.com/office/drawing/2014/main" id="{8BB3F827-DFBD-4143-AE6F-F166F970724F}"/>
              </a:ext>
            </a:extLst>
          </p:cNvPr>
          <p:cNvSpPr txBox="1">
            <a:spLocks noChangeArrowheads="1"/>
          </p:cNvSpPr>
          <p:nvPr/>
        </p:nvSpPr>
        <p:spPr bwMode="auto">
          <a:xfrm>
            <a:off x="4709160" y="1476934"/>
            <a:ext cx="410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l-GR" altLang="en-US" sz="1800" i="1" dirty="0"/>
              <a:t>ε</a:t>
            </a:r>
            <a:endParaRPr lang="en-US" altLang="en-US" sz="1800" i="1" dirty="0"/>
          </a:p>
        </p:txBody>
      </p:sp>
      <p:sp>
        <p:nvSpPr>
          <p:cNvPr id="79" name="Rectangle 18">
            <a:extLst>
              <a:ext uri="{FF2B5EF4-FFF2-40B4-BE49-F238E27FC236}">
                <a16:creationId xmlns:a16="http://schemas.microsoft.com/office/drawing/2014/main" id="{F657F4B6-C07C-4730-9AF1-7121E5F4F993}"/>
              </a:ext>
            </a:extLst>
          </p:cNvPr>
          <p:cNvSpPr>
            <a:spLocks noChangeArrowheads="1"/>
          </p:cNvSpPr>
          <p:nvPr/>
        </p:nvSpPr>
        <p:spPr bwMode="auto">
          <a:xfrm>
            <a:off x="6507480" y="1492174"/>
            <a:ext cx="311150" cy="27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spcBef>
                <a:spcPct val="0"/>
              </a:spcBef>
              <a:buFontTx/>
              <a:buNone/>
            </a:pPr>
            <a:r>
              <a:rPr lang="en-US" altLang="en-US" sz="1800"/>
              <a:t>1</a:t>
            </a:r>
          </a:p>
        </p:txBody>
      </p:sp>
      <p:sp>
        <p:nvSpPr>
          <p:cNvPr id="80" name="Text Box 19">
            <a:extLst>
              <a:ext uri="{FF2B5EF4-FFF2-40B4-BE49-F238E27FC236}">
                <a16:creationId xmlns:a16="http://schemas.microsoft.com/office/drawing/2014/main" id="{4F5F5D5E-49BB-4598-A028-B1B17BCA99FB}"/>
              </a:ext>
            </a:extLst>
          </p:cNvPr>
          <p:cNvSpPr txBox="1">
            <a:spLocks noChangeArrowheads="1"/>
          </p:cNvSpPr>
          <p:nvPr/>
        </p:nvSpPr>
        <p:spPr bwMode="auto">
          <a:xfrm>
            <a:off x="7764780" y="891780"/>
            <a:ext cx="533400" cy="27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a:t>0,1</a:t>
            </a:r>
          </a:p>
        </p:txBody>
      </p:sp>
      <p:sp>
        <p:nvSpPr>
          <p:cNvPr id="81" name="Oval 20">
            <a:extLst>
              <a:ext uri="{FF2B5EF4-FFF2-40B4-BE49-F238E27FC236}">
                <a16:creationId xmlns:a16="http://schemas.microsoft.com/office/drawing/2014/main" id="{06BE4FD2-AFCE-4035-B237-6E1803E9E97A}"/>
              </a:ext>
            </a:extLst>
          </p:cNvPr>
          <p:cNvSpPr>
            <a:spLocks noChangeArrowheads="1"/>
          </p:cNvSpPr>
          <p:nvPr/>
        </p:nvSpPr>
        <p:spPr bwMode="auto">
          <a:xfrm>
            <a:off x="6888480" y="2184141"/>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2" name="Oval 21">
            <a:extLst>
              <a:ext uri="{FF2B5EF4-FFF2-40B4-BE49-F238E27FC236}">
                <a16:creationId xmlns:a16="http://schemas.microsoft.com/office/drawing/2014/main" id="{F33DA4E2-C62D-4872-A6D0-4C44228E593F}"/>
              </a:ext>
            </a:extLst>
          </p:cNvPr>
          <p:cNvSpPr>
            <a:spLocks noChangeArrowheads="1"/>
          </p:cNvSpPr>
          <p:nvPr/>
        </p:nvSpPr>
        <p:spPr bwMode="auto">
          <a:xfrm>
            <a:off x="6888480" y="2869941"/>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3" name="Oval 22">
            <a:extLst>
              <a:ext uri="{FF2B5EF4-FFF2-40B4-BE49-F238E27FC236}">
                <a16:creationId xmlns:a16="http://schemas.microsoft.com/office/drawing/2014/main" id="{B4A1AF7D-C72B-42E4-B645-F2DDA5B95F40}"/>
              </a:ext>
            </a:extLst>
          </p:cNvPr>
          <p:cNvSpPr>
            <a:spLocks noChangeArrowheads="1"/>
          </p:cNvSpPr>
          <p:nvPr/>
        </p:nvSpPr>
        <p:spPr bwMode="auto">
          <a:xfrm>
            <a:off x="68884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84" name="Oval 23">
            <a:extLst>
              <a:ext uri="{FF2B5EF4-FFF2-40B4-BE49-F238E27FC236}">
                <a16:creationId xmlns:a16="http://schemas.microsoft.com/office/drawing/2014/main" id="{4A69D2A8-0DA2-4B79-BC8B-E9E9E801526E}"/>
              </a:ext>
            </a:extLst>
          </p:cNvPr>
          <p:cNvSpPr>
            <a:spLocks noChangeArrowheads="1"/>
          </p:cNvSpPr>
          <p:nvPr/>
        </p:nvSpPr>
        <p:spPr bwMode="auto">
          <a:xfrm>
            <a:off x="54406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5" name="Oval 24">
            <a:extLst>
              <a:ext uri="{FF2B5EF4-FFF2-40B4-BE49-F238E27FC236}">
                <a16:creationId xmlns:a16="http://schemas.microsoft.com/office/drawing/2014/main" id="{DB1B6537-9BF7-4305-BE84-A3D076DC6A21}"/>
              </a:ext>
            </a:extLst>
          </p:cNvPr>
          <p:cNvSpPr>
            <a:spLocks noChangeArrowheads="1"/>
          </p:cNvSpPr>
          <p:nvPr/>
        </p:nvSpPr>
        <p:spPr bwMode="auto">
          <a:xfrm>
            <a:off x="7421880" y="53271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86" name="Oval 25">
            <a:extLst>
              <a:ext uri="{FF2B5EF4-FFF2-40B4-BE49-F238E27FC236}">
                <a16:creationId xmlns:a16="http://schemas.microsoft.com/office/drawing/2014/main" id="{DC94998A-F309-4C07-BF84-14FB6C7F66A1}"/>
              </a:ext>
            </a:extLst>
          </p:cNvPr>
          <p:cNvSpPr>
            <a:spLocks noChangeArrowheads="1"/>
          </p:cNvSpPr>
          <p:nvPr/>
        </p:nvSpPr>
        <p:spPr bwMode="auto">
          <a:xfrm>
            <a:off x="5440680" y="407193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7" name="Oval 26">
            <a:extLst>
              <a:ext uri="{FF2B5EF4-FFF2-40B4-BE49-F238E27FC236}">
                <a16:creationId xmlns:a16="http://schemas.microsoft.com/office/drawing/2014/main" id="{63509BF8-E99B-4728-9318-C3D3CEABE4B0}"/>
              </a:ext>
            </a:extLst>
          </p:cNvPr>
          <p:cNvSpPr>
            <a:spLocks noChangeArrowheads="1"/>
          </p:cNvSpPr>
          <p:nvPr/>
        </p:nvSpPr>
        <p:spPr bwMode="auto">
          <a:xfrm>
            <a:off x="6888480" y="407193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88" name="Oval 27">
            <a:extLst>
              <a:ext uri="{FF2B5EF4-FFF2-40B4-BE49-F238E27FC236}">
                <a16:creationId xmlns:a16="http://schemas.microsoft.com/office/drawing/2014/main" id="{B8176568-6458-4354-A14F-CFC556BDF488}"/>
              </a:ext>
            </a:extLst>
          </p:cNvPr>
          <p:cNvSpPr>
            <a:spLocks noChangeArrowheads="1"/>
          </p:cNvSpPr>
          <p:nvPr/>
        </p:nvSpPr>
        <p:spPr bwMode="auto">
          <a:xfrm>
            <a:off x="62788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89" name="Oval 28">
            <a:extLst>
              <a:ext uri="{FF2B5EF4-FFF2-40B4-BE49-F238E27FC236}">
                <a16:creationId xmlns:a16="http://schemas.microsoft.com/office/drawing/2014/main" id="{4F794EEB-32F4-46C5-9E4E-FBF8643BA58B}"/>
              </a:ext>
            </a:extLst>
          </p:cNvPr>
          <p:cNvSpPr>
            <a:spLocks noChangeArrowheads="1"/>
          </p:cNvSpPr>
          <p:nvPr/>
        </p:nvSpPr>
        <p:spPr bwMode="auto">
          <a:xfrm>
            <a:off x="46024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0" name="Oval 29">
            <a:extLst>
              <a:ext uri="{FF2B5EF4-FFF2-40B4-BE49-F238E27FC236}">
                <a16:creationId xmlns:a16="http://schemas.microsoft.com/office/drawing/2014/main" id="{AC291EB3-0D97-44DA-931B-7DB9E52D69AE}"/>
              </a:ext>
            </a:extLst>
          </p:cNvPr>
          <p:cNvSpPr>
            <a:spLocks noChangeArrowheads="1"/>
          </p:cNvSpPr>
          <p:nvPr/>
        </p:nvSpPr>
        <p:spPr bwMode="auto">
          <a:xfrm>
            <a:off x="54406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91" name="Oval 30">
            <a:extLst>
              <a:ext uri="{FF2B5EF4-FFF2-40B4-BE49-F238E27FC236}">
                <a16:creationId xmlns:a16="http://schemas.microsoft.com/office/drawing/2014/main" id="{FD0296E2-6D91-44AF-BBEA-1EFD4D2FB428}"/>
              </a:ext>
            </a:extLst>
          </p:cNvPr>
          <p:cNvSpPr>
            <a:spLocks noChangeArrowheads="1"/>
          </p:cNvSpPr>
          <p:nvPr/>
        </p:nvSpPr>
        <p:spPr bwMode="auto">
          <a:xfrm>
            <a:off x="7421880" y="6000169"/>
            <a:ext cx="457200" cy="410442"/>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2" name="Oval 31">
            <a:extLst>
              <a:ext uri="{FF2B5EF4-FFF2-40B4-BE49-F238E27FC236}">
                <a16:creationId xmlns:a16="http://schemas.microsoft.com/office/drawing/2014/main" id="{75287A92-41FC-47F3-BFED-F1EEE7106A2B}"/>
              </a:ext>
            </a:extLst>
          </p:cNvPr>
          <p:cNvSpPr>
            <a:spLocks noChangeArrowheads="1"/>
          </p:cNvSpPr>
          <p:nvPr/>
        </p:nvSpPr>
        <p:spPr bwMode="auto">
          <a:xfrm>
            <a:off x="74218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3" name="Oval 32">
            <a:extLst>
              <a:ext uri="{FF2B5EF4-FFF2-40B4-BE49-F238E27FC236}">
                <a16:creationId xmlns:a16="http://schemas.microsoft.com/office/drawing/2014/main" id="{D6775C07-88B2-4AC5-A126-F00EA85B57AB}"/>
              </a:ext>
            </a:extLst>
          </p:cNvPr>
          <p:cNvSpPr>
            <a:spLocks noChangeArrowheads="1"/>
          </p:cNvSpPr>
          <p:nvPr/>
        </p:nvSpPr>
        <p:spPr bwMode="auto">
          <a:xfrm>
            <a:off x="46024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94" name="Oval 33">
            <a:extLst>
              <a:ext uri="{FF2B5EF4-FFF2-40B4-BE49-F238E27FC236}">
                <a16:creationId xmlns:a16="http://schemas.microsoft.com/office/drawing/2014/main" id="{C4C6311E-BFFE-4C0C-89D4-C34B67DBB779}"/>
              </a:ext>
            </a:extLst>
          </p:cNvPr>
          <p:cNvSpPr>
            <a:spLocks noChangeArrowheads="1"/>
          </p:cNvSpPr>
          <p:nvPr/>
        </p:nvSpPr>
        <p:spPr bwMode="auto">
          <a:xfrm>
            <a:off x="54406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95" name="Oval 34">
            <a:extLst>
              <a:ext uri="{FF2B5EF4-FFF2-40B4-BE49-F238E27FC236}">
                <a16:creationId xmlns:a16="http://schemas.microsoft.com/office/drawing/2014/main" id="{0FB0D01E-802B-4A76-B38D-44455CDC006E}"/>
              </a:ext>
            </a:extLst>
          </p:cNvPr>
          <p:cNvSpPr>
            <a:spLocks noChangeArrowheads="1"/>
          </p:cNvSpPr>
          <p:nvPr/>
        </p:nvSpPr>
        <p:spPr bwMode="auto">
          <a:xfrm>
            <a:off x="37642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6" name="Oval 35">
            <a:extLst>
              <a:ext uri="{FF2B5EF4-FFF2-40B4-BE49-F238E27FC236}">
                <a16:creationId xmlns:a16="http://schemas.microsoft.com/office/drawing/2014/main" id="{9669670F-0792-4A9F-AE32-91E43EBC83A4}"/>
              </a:ext>
            </a:extLst>
          </p:cNvPr>
          <p:cNvSpPr>
            <a:spLocks noChangeArrowheads="1"/>
          </p:cNvSpPr>
          <p:nvPr/>
        </p:nvSpPr>
        <p:spPr bwMode="auto">
          <a:xfrm>
            <a:off x="3764280" y="596694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7" name="Oval 36">
            <a:extLst>
              <a:ext uri="{FF2B5EF4-FFF2-40B4-BE49-F238E27FC236}">
                <a16:creationId xmlns:a16="http://schemas.microsoft.com/office/drawing/2014/main" id="{4163EA79-8A26-4E09-B0C0-3CD0B9124FC7}"/>
              </a:ext>
            </a:extLst>
          </p:cNvPr>
          <p:cNvSpPr>
            <a:spLocks noChangeArrowheads="1"/>
          </p:cNvSpPr>
          <p:nvPr/>
        </p:nvSpPr>
        <p:spPr bwMode="auto">
          <a:xfrm>
            <a:off x="4602480" y="596694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98" name="Oval 37">
            <a:extLst>
              <a:ext uri="{FF2B5EF4-FFF2-40B4-BE49-F238E27FC236}">
                <a16:creationId xmlns:a16="http://schemas.microsoft.com/office/drawing/2014/main" id="{22FB1BDA-7ADB-4C7A-8F07-015B5D071F1C}"/>
              </a:ext>
            </a:extLst>
          </p:cNvPr>
          <p:cNvSpPr>
            <a:spLocks noChangeArrowheads="1"/>
          </p:cNvSpPr>
          <p:nvPr/>
        </p:nvSpPr>
        <p:spPr bwMode="auto">
          <a:xfrm>
            <a:off x="62788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9" name="Oval 38">
            <a:extLst>
              <a:ext uri="{FF2B5EF4-FFF2-40B4-BE49-F238E27FC236}">
                <a16:creationId xmlns:a16="http://schemas.microsoft.com/office/drawing/2014/main" id="{2366C468-CB36-4A5A-BCAC-D10B25F72570}"/>
              </a:ext>
            </a:extLst>
          </p:cNvPr>
          <p:cNvSpPr>
            <a:spLocks noChangeArrowheads="1"/>
          </p:cNvSpPr>
          <p:nvPr/>
        </p:nvSpPr>
        <p:spPr bwMode="auto">
          <a:xfrm>
            <a:off x="6278880" y="6000169"/>
            <a:ext cx="457200" cy="410442"/>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00" name="Oval 39">
            <a:extLst>
              <a:ext uri="{FF2B5EF4-FFF2-40B4-BE49-F238E27FC236}">
                <a16:creationId xmlns:a16="http://schemas.microsoft.com/office/drawing/2014/main" id="{88212086-0BE2-4209-9FC9-C843EAC952A1}"/>
              </a:ext>
            </a:extLst>
          </p:cNvPr>
          <p:cNvSpPr>
            <a:spLocks noChangeArrowheads="1"/>
          </p:cNvSpPr>
          <p:nvPr/>
        </p:nvSpPr>
        <p:spPr bwMode="auto">
          <a:xfrm>
            <a:off x="84124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cxnSp>
        <p:nvCxnSpPr>
          <p:cNvPr id="101" name="AutoShape 42">
            <a:extLst>
              <a:ext uri="{FF2B5EF4-FFF2-40B4-BE49-F238E27FC236}">
                <a16:creationId xmlns:a16="http://schemas.microsoft.com/office/drawing/2014/main" id="{7923704F-F501-46CF-9F5D-EA231BE46125}"/>
              </a:ext>
            </a:extLst>
          </p:cNvPr>
          <p:cNvCxnSpPr>
            <a:cxnSpLocks noChangeShapeType="1"/>
            <a:stCxn id="81" idx="4"/>
            <a:endCxn id="82" idx="0"/>
          </p:cNvCxnSpPr>
          <p:nvPr/>
        </p:nvCxnSpPr>
        <p:spPr bwMode="auto">
          <a:xfrm>
            <a:off x="7117080" y="2635627"/>
            <a:ext cx="0" cy="23431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2" name="AutoShape 43">
            <a:extLst>
              <a:ext uri="{FF2B5EF4-FFF2-40B4-BE49-F238E27FC236}">
                <a16:creationId xmlns:a16="http://schemas.microsoft.com/office/drawing/2014/main" id="{24620E18-49EF-4BEA-AC06-2E2B8464795A}"/>
              </a:ext>
            </a:extLst>
          </p:cNvPr>
          <p:cNvCxnSpPr>
            <a:cxnSpLocks noChangeShapeType="1"/>
            <a:stCxn id="82" idx="4"/>
            <a:endCxn id="83" idx="0"/>
          </p:cNvCxnSpPr>
          <p:nvPr/>
        </p:nvCxnSpPr>
        <p:spPr bwMode="auto">
          <a:xfrm>
            <a:off x="7117080" y="3321427"/>
            <a:ext cx="0" cy="12370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3" name="AutoShape 44">
            <a:extLst>
              <a:ext uri="{FF2B5EF4-FFF2-40B4-BE49-F238E27FC236}">
                <a16:creationId xmlns:a16="http://schemas.microsoft.com/office/drawing/2014/main" id="{9B3229F4-ED7F-4547-B953-93CEC5999D71}"/>
              </a:ext>
            </a:extLst>
          </p:cNvPr>
          <p:cNvCxnSpPr>
            <a:cxnSpLocks noChangeShapeType="1"/>
            <a:stCxn id="83" idx="4"/>
            <a:endCxn id="87" idx="0"/>
          </p:cNvCxnSpPr>
          <p:nvPr/>
        </p:nvCxnSpPr>
        <p:spPr bwMode="auto">
          <a:xfrm>
            <a:off x="7117080" y="3896619"/>
            <a:ext cx="0" cy="17531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4" name="AutoShape 45">
            <a:extLst>
              <a:ext uri="{FF2B5EF4-FFF2-40B4-BE49-F238E27FC236}">
                <a16:creationId xmlns:a16="http://schemas.microsoft.com/office/drawing/2014/main" id="{A37B951E-9C6F-4658-A6F1-EB937AC33777}"/>
              </a:ext>
            </a:extLst>
          </p:cNvPr>
          <p:cNvCxnSpPr>
            <a:cxnSpLocks noChangeShapeType="1"/>
            <a:stCxn id="88" idx="4"/>
            <a:endCxn id="98" idx="0"/>
          </p:cNvCxnSpPr>
          <p:nvPr/>
        </p:nvCxnSpPr>
        <p:spPr bwMode="auto">
          <a:xfrm>
            <a:off x="6507480" y="5195483"/>
            <a:ext cx="0" cy="1443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5" name="AutoShape 46">
            <a:extLst>
              <a:ext uri="{FF2B5EF4-FFF2-40B4-BE49-F238E27FC236}">
                <a16:creationId xmlns:a16="http://schemas.microsoft.com/office/drawing/2014/main" id="{E2D634E8-BE0D-4B3C-AD52-4F29A6D72CF5}"/>
              </a:ext>
            </a:extLst>
          </p:cNvPr>
          <p:cNvCxnSpPr>
            <a:cxnSpLocks noChangeShapeType="1"/>
            <a:stCxn id="98" idx="4"/>
            <a:endCxn id="99" idx="0"/>
          </p:cNvCxnSpPr>
          <p:nvPr/>
        </p:nvCxnSpPr>
        <p:spPr bwMode="auto">
          <a:xfrm>
            <a:off x="6507480" y="5791343"/>
            <a:ext cx="0" cy="20882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6" name="AutoShape 47">
            <a:extLst>
              <a:ext uri="{FF2B5EF4-FFF2-40B4-BE49-F238E27FC236}">
                <a16:creationId xmlns:a16="http://schemas.microsoft.com/office/drawing/2014/main" id="{2E6D6B91-E557-49DF-A0E5-FA277D8D7704}"/>
              </a:ext>
            </a:extLst>
          </p:cNvPr>
          <p:cNvCxnSpPr>
            <a:cxnSpLocks noChangeShapeType="1"/>
            <a:stCxn id="84" idx="4"/>
            <a:endCxn id="86" idx="0"/>
          </p:cNvCxnSpPr>
          <p:nvPr/>
        </p:nvCxnSpPr>
        <p:spPr bwMode="auto">
          <a:xfrm>
            <a:off x="5669280" y="3896619"/>
            <a:ext cx="0" cy="17531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7" name="AutoShape 48">
            <a:extLst>
              <a:ext uri="{FF2B5EF4-FFF2-40B4-BE49-F238E27FC236}">
                <a16:creationId xmlns:a16="http://schemas.microsoft.com/office/drawing/2014/main" id="{BFFFFA9A-2C4C-4C67-AF40-1D317ECA2AE1}"/>
              </a:ext>
            </a:extLst>
          </p:cNvPr>
          <p:cNvCxnSpPr>
            <a:cxnSpLocks noChangeShapeType="1"/>
            <a:stCxn id="86" idx="4"/>
            <a:endCxn id="90" idx="0"/>
          </p:cNvCxnSpPr>
          <p:nvPr/>
        </p:nvCxnSpPr>
        <p:spPr bwMode="auto">
          <a:xfrm>
            <a:off x="5669280" y="4523423"/>
            <a:ext cx="0" cy="2205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8" name="AutoShape 49">
            <a:extLst>
              <a:ext uri="{FF2B5EF4-FFF2-40B4-BE49-F238E27FC236}">
                <a16:creationId xmlns:a16="http://schemas.microsoft.com/office/drawing/2014/main" id="{20712C39-21D9-4C82-A3D3-5EB86DF0958F}"/>
              </a:ext>
            </a:extLst>
          </p:cNvPr>
          <p:cNvCxnSpPr>
            <a:cxnSpLocks noChangeShapeType="1"/>
            <a:stCxn id="92" idx="4"/>
            <a:endCxn id="85" idx="0"/>
          </p:cNvCxnSpPr>
          <p:nvPr/>
        </p:nvCxnSpPr>
        <p:spPr bwMode="auto">
          <a:xfrm>
            <a:off x="7650480" y="5195483"/>
            <a:ext cx="0" cy="1316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9" name="AutoShape 50">
            <a:extLst>
              <a:ext uri="{FF2B5EF4-FFF2-40B4-BE49-F238E27FC236}">
                <a16:creationId xmlns:a16="http://schemas.microsoft.com/office/drawing/2014/main" id="{9366F796-72AD-4CFC-AD8A-4859C8BF7E7C}"/>
              </a:ext>
            </a:extLst>
          </p:cNvPr>
          <p:cNvCxnSpPr>
            <a:cxnSpLocks noChangeShapeType="1"/>
            <a:stCxn id="85" idx="4"/>
            <a:endCxn id="91" idx="0"/>
          </p:cNvCxnSpPr>
          <p:nvPr/>
        </p:nvCxnSpPr>
        <p:spPr bwMode="auto">
          <a:xfrm>
            <a:off x="7650480" y="5778643"/>
            <a:ext cx="0" cy="22152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0" name="AutoShape 51">
            <a:extLst>
              <a:ext uri="{FF2B5EF4-FFF2-40B4-BE49-F238E27FC236}">
                <a16:creationId xmlns:a16="http://schemas.microsoft.com/office/drawing/2014/main" id="{5C4D19BD-802A-4122-9B35-7DD50DC15694}"/>
              </a:ext>
            </a:extLst>
          </p:cNvPr>
          <p:cNvCxnSpPr>
            <a:cxnSpLocks noChangeShapeType="1"/>
            <a:stCxn id="95" idx="4"/>
            <a:endCxn id="96" idx="0"/>
          </p:cNvCxnSpPr>
          <p:nvPr/>
        </p:nvCxnSpPr>
        <p:spPr bwMode="auto">
          <a:xfrm>
            <a:off x="3992880" y="5791343"/>
            <a:ext cx="0" cy="17560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1" name="AutoShape 52">
            <a:extLst>
              <a:ext uri="{FF2B5EF4-FFF2-40B4-BE49-F238E27FC236}">
                <a16:creationId xmlns:a16="http://schemas.microsoft.com/office/drawing/2014/main" id="{C2DD686A-DCC7-4D3B-BE37-615AB690AF3B}"/>
              </a:ext>
            </a:extLst>
          </p:cNvPr>
          <p:cNvCxnSpPr>
            <a:cxnSpLocks noChangeShapeType="1"/>
            <a:stCxn id="93" idx="4"/>
            <a:endCxn id="97" idx="0"/>
          </p:cNvCxnSpPr>
          <p:nvPr/>
        </p:nvCxnSpPr>
        <p:spPr bwMode="auto">
          <a:xfrm>
            <a:off x="4831080" y="5791343"/>
            <a:ext cx="0" cy="17560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2" name="AutoShape 53">
            <a:extLst>
              <a:ext uri="{FF2B5EF4-FFF2-40B4-BE49-F238E27FC236}">
                <a16:creationId xmlns:a16="http://schemas.microsoft.com/office/drawing/2014/main" id="{F965C13E-5F80-4B44-8AEA-05B81DDC3BC8}"/>
              </a:ext>
            </a:extLst>
          </p:cNvPr>
          <p:cNvCxnSpPr>
            <a:cxnSpLocks noChangeShapeType="1"/>
            <a:stCxn id="89" idx="4"/>
            <a:endCxn id="93" idx="0"/>
          </p:cNvCxnSpPr>
          <p:nvPr/>
        </p:nvCxnSpPr>
        <p:spPr bwMode="auto">
          <a:xfrm>
            <a:off x="4831080" y="5195483"/>
            <a:ext cx="0" cy="1443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3" name="AutoShape 54">
            <a:extLst>
              <a:ext uri="{FF2B5EF4-FFF2-40B4-BE49-F238E27FC236}">
                <a16:creationId xmlns:a16="http://schemas.microsoft.com/office/drawing/2014/main" id="{46DF309B-4C6C-48C5-A4CF-C3681D194096}"/>
              </a:ext>
            </a:extLst>
          </p:cNvPr>
          <p:cNvCxnSpPr>
            <a:cxnSpLocks noChangeShapeType="1"/>
            <a:stCxn id="82" idx="3"/>
            <a:endCxn id="84" idx="0"/>
          </p:cNvCxnSpPr>
          <p:nvPr/>
        </p:nvCxnSpPr>
        <p:spPr bwMode="auto">
          <a:xfrm flipH="1">
            <a:off x="5669280" y="3255308"/>
            <a:ext cx="1286155" cy="1898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4" name="AutoShape 55">
            <a:extLst>
              <a:ext uri="{FF2B5EF4-FFF2-40B4-BE49-F238E27FC236}">
                <a16:creationId xmlns:a16="http://schemas.microsoft.com/office/drawing/2014/main" id="{D91D8816-61C6-4CA8-994E-BC2CE61CD94C}"/>
              </a:ext>
            </a:extLst>
          </p:cNvPr>
          <p:cNvCxnSpPr>
            <a:cxnSpLocks noChangeShapeType="1"/>
            <a:stCxn id="82" idx="5"/>
            <a:endCxn id="100" idx="0"/>
          </p:cNvCxnSpPr>
          <p:nvPr/>
        </p:nvCxnSpPr>
        <p:spPr bwMode="auto">
          <a:xfrm>
            <a:off x="7278725" y="3255308"/>
            <a:ext cx="1362355" cy="1898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5" name="AutoShape 57">
            <a:extLst>
              <a:ext uri="{FF2B5EF4-FFF2-40B4-BE49-F238E27FC236}">
                <a16:creationId xmlns:a16="http://schemas.microsoft.com/office/drawing/2014/main" id="{ABD4D2FC-2550-4354-9FEB-18D6810C5305}"/>
              </a:ext>
            </a:extLst>
          </p:cNvPr>
          <p:cNvCxnSpPr>
            <a:cxnSpLocks noChangeShapeType="1"/>
            <a:stCxn id="87" idx="5"/>
            <a:endCxn id="92" idx="0"/>
          </p:cNvCxnSpPr>
          <p:nvPr/>
        </p:nvCxnSpPr>
        <p:spPr bwMode="auto">
          <a:xfrm>
            <a:off x="7278725" y="4457304"/>
            <a:ext cx="3717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6" name="AutoShape 58">
            <a:extLst>
              <a:ext uri="{FF2B5EF4-FFF2-40B4-BE49-F238E27FC236}">
                <a16:creationId xmlns:a16="http://schemas.microsoft.com/office/drawing/2014/main" id="{65AE8EDE-3DDE-4172-B321-BD7F1B3742B9}"/>
              </a:ext>
            </a:extLst>
          </p:cNvPr>
          <p:cNvCxnSpPr>
            <a:cxnSpLocks noChangeShapeType="1"/>
            <a:stCxn id="86" idx="3"/>
            <a:endCxn id="89" idx="0"/>
          </p:cNvCxnSpPr>
          <p:nvPr/>
        </p:nvCxnSpPr>
        <p:spPr bwMode="auto">
          <a:xfrm flipH="1">
            <a:off x="4831080" y="4457304"/>
            <a:ext cx="6765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7" name="AutoShape 59">
            <a:extLst>
              <a:ext uri="{FF2B5EF4-FFF2-40B4-BE49-F238E27FC236}">
                <a16:creationId xmlns:a16="http://schemas.microsoft.com/office/drawing/2014/main" id="{6F7ACFB3-D3E9-45F1-9229-5EC3C56623EF}"/>
              </a:ext>
            </a:extLst>
          </p:cNvPr>
          <p:cNvCxnSpPr>
            <a:cxnSpLocks noChangeShapeType="1"/>
            <a:stCxn id="89" idx="3"/>
            <a:endCxn id="95" idx="0"/>
          </p:cNvCxnSpPr>
          <p:nvPr/>
        </p:nvCxnSpPr>
        <p:spPr bwMode="auto">
          <a:xfrm flipH="1">
            <a:off x="3992880" y="5129364"/>
            <a:ext cx="676555" cy="2104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8" name="AutoShape 60">
            <a:extLst>
              <a:ext uri="{FF2B5EF4-FFF2-40B4-BE49-F238E27FC236}">
                <a16:creationId xmlns:a16="http://schemas.microsoft.com/office/drawing/2014/main" id="{6E2AF24B-BF23-418B-8F89-A2C38FDF3EA3}"/>
              </a:ext>
            </a:extLst>
          </p:cNvPr>
          <p:cNvCxnSpPr>
            <a:cxnSpLocks noChangeShapeType="1"/>
            <a:stCxn id="89" idx="5"/>
            <a:endCxn id="94" idx="0"/>
          </p:cNvCxnSpPr>
          <p:nvPr/>
        </p:nvCxnSpPr>
        <p:spPr bwMode="auto">
          <a:xfrm>
            <a:off x="4992725" y="5129364"/>
            <a:ext cx="676555" cy="2104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9" name="AutoShape 61">
            <a:extLst>
              <a:ext uri="{FF2B5EF4-FFF2-40B4-BE49-F238E27FC236}">
                <a16:creationId xmlns:a16="http://schemas.microsoft.com/office/drawing/2014/main" id="{7261906B-9AFC-47BB-9C58-887CE0568BFA}"/>
              </a:ext>
            </a:extLst>
          </p:cNvPr>
          <p:cNvCxnSpPr>
            <a:cxnSpLocks noChangeShapeType="1"/>
            <a:stCxn id="86" idx="5"/>
            <a:endCxn id="88" idx="0"/>
          </p:cNvCxnSpPr>
          <p:nvPr/>
        </p:nvCxnSpPr>
        <p:spPr bwMode="auto">
          <a:xfrm>
            <a:off x="5830925" y="4457304"/>
            <a:ext cx="6765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0" name="Oval 64">
            <a:extLst>
              <a:ext uri="{FF2B5EF4-FFF2-40B4-BE49-F238E27FC236}">
                <a16:creationId xmlns:a16="http://schemas.microsoft.com/office/drawing/2014/main" id="{D3222486-00BD-4CBD-8859-1BF313B86B21}"/>
              </a:ext>
            </a:extLst>
          </p:cNvPr>
          <p:cNvSpPr>
            <a:spLocks noChangeArrowheads="1"/>
          </p:cNvSpPr>
          <p:nvPr/>
        </p:nvSpPr>
        <p:spPr bwMode="auto">
          <a:xfrm>
            <a:off x="6278880" y="597394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21" name="Oval 65">
            <a:extLst>
              <a:ext uri="{FF2B5EF4-FFF2-40B4-BE49-F238E27FC236}">
                <a16:creationId xmlns:a16="http://schemas.microsoft.com/office/drawing/2014/main" id="{74FB4618-24AC-4B1F-B292-E54F7C0DBAE5}"/>
              </a:ext>
            </a:extLst>
          </p:cNvPr>
          <p:cNvSpPr>
            <a:spLocks noChangeArrowheads="1"/>
          </p:cNvSpPr>
          <p:nvPr/>
        </p:nvSpPr>
        <p:spPr bwMode="auto">
          <a:xfrm>
            <a:off x="7421880" y="5984102"/>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22" name="Text Box 66">
            <a:extLst>
              <a:ext uri="{FF2B5EF4-FFF2-40B4-BE49-F238E27FC236}">
                <a16:creationId xmlns:a16="http://schemas.microsoft.com/office/drawing/2014/main" id="{04E479F9-79F4-4B9A-A52C-5A2493681162}"/>
              </a:ext>
            </a:extLst>
          </p:cNvPr>
          <p:cNvSpPr txBox="1">
            <a:spLocks noChangeArrowheads="1"/>
          </p:cNvSpPr>
          <p:nvPr/>
        </p:nvSpPr>
        <p:spPr bwMode="auto">
          <a:xfrm>
            <a:off x="-364388" y="1490723"/>
            <a:ext cx="1600200" cy="249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804863"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600" b="1" dirty="0"/>
              <a:t>010110</a:t>
            </a:r>
          </a:p>
        </p:txBody>
      </p:sp>
      <p:sp>
        <p:nvSpPr>
          <p:cNvPr id="123" name="Text Box 15">
            <a:extLst>
              <a:ext uri="{FF2B5EF4-FFF2-40B4-BE49-F238E27FC236}">
                <a16:creationId xmlns:a16="http://schemas.microsoft.com/office/drawing/2014/main" id="{CA37A571-0468-4F76-AA95-94F8D85EEEE9}"/>
              </a:ext>
            </a:extLst>
          </p:cNvPr>
          <p:cNvSpPr txBox="1">
            <a:spLocks noChangeArrowheads="1"/>
          </p:cNvSpPr>
          <p:nvPr/>
        </p:nvSpPr>
        <p:spPr bwMode="auto">
          <a:xfrm>
            <a:off x="1553788" y="941607"/>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1</a:t>
            </a:r>
          </a:p>
        </p:txBody>
      </p:sp>
      <p:sp>
        <p:nvSpPr>
          <p:cNvPr id="124" name="Text Box 17">
            <a:extLst>
              <a:ext uri="{FF2B5EF4-FFF2-40B4-BE49-F238E27FC236}">
                <a16:creationId xmlns:a16="http://schemas.microsoft.com/office/drawing/2014/main" id="{761726E1-4150-4194-814F-21B505BF032F}"/>
              </a:ext>
            </a:extLst>
          </p:cNvPr>
          <p:cNvSpPr txBox="1">
            <a:spLocks noChangeArrowheads="1"/>
          </p:cNvSpPr>
          <p:nvPr/>
        </p:nvSpPr>
        <p:spPr bwMode="auto">
          <a:xfrm>
            <a:off x="4473665" y="1476934"/>
            <a:ext cx="410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0,</a:t>
            </a:r>
            <a:endParaRPr lang="en-US" altLang="en-US" sz="1800" i="1" dirty="0"/>
          </a:p>
        </p:txBody>
      </p:sp>
    </p:spTree>
    <p:extLst>
      <p:ext uri="{BB962C8B-B14F-4D97-AF65-F5344CB8AC3E}">
        <p14:creationId xmlns:p14="http://schemas.microsoft.com/office/powerpoint/2010/main" val="88091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par>
                          <p:cTn id="11" fill="hold">
                            <p:stCondLst>
                              <p:cond delay="0"/>
                            </p:stCondLst>
                            <p:childTnLst>
                              <p:par>
                                <p:cTn id="12" presetID="1" presetClass="emph" presetSubtype="1" nodeType="afterEffect">
                                  <p:stCondLst>
                                    <p:cond delay="0"/>
                                  </p:stCondLst>
                                  <p:childTnLst>
                                    <p:set>
                                      <p:cBhvr>
                                        <p:cTn id="13" dur="indefinite"/>
                                        <p:tgtEl>
                                          <p:spTgt spid="66"/>
                                        </p:tgtEl>
                                        <p:attrNameLst>
                                          <p:attrName>fillcolor</p:attrName>
                                        </p:attrNameLst>
                                      </p:cBhvr>
                                      <p:to>
                                        <p:clrVal>
                                          <a:srgbClr val="00B050"/>
                                        </p:clrVal>
                                      </p:to>
                                    </p:set>
                                    <p:set>
                                      <p:cBhvr>
                                        <p:cTn id="14" dur="indefinite"/>
                                        <p:tgtEl>
                                          <p:spTgt spid="66"/>
                                        </p:tgtEl>
                                        <p:attrNameLst>
                                          <p:attrName>fill.type</p:attrName>
                                        </p:attrNameLst>
                                      </p:cBhvr>
                                      <p:to>
                                        <p:strVal val="solid"/>
                                      </p:to>
                                    </p:set>
                                    <p:set>
                                      <p:cBhvr>
                                        <p:cTn id="15" dur="indefinite"/>
                                        <p:tgtEl>
                                          <p:spTgt spid="66"/>
                                        </p:tgtEl>
                                        <p:attrNameLst>
                                          <p:attrName>fill.on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nodeType="clickEffect">
                                  <p:stCondLst>
                                    <p:cond delay="0"/>
                                  </p:stCondLst>
                                  <p:iterate type="lt">
                                    <p:tmPct val="25000"/>
                                  </p:iterate>
                                  <p:childTnLst>
                                    <p:set>
                                      <p:cBhvr>
                                        <p:cTn id="19" dur="1" fill="hold">
                                          <p:stCondLst>
                                            <p:cond delay="0"/>
                                          </p:stCondLst>
                                        </p:cTn>
                                        <p:tgtEl>
                                          <p:spTgt spid="65">
                                            <p:txEl>
                                              <p:pRg st="1" end="1"/>
                                            </p:txEl>
                                          </p:spTgt>
                                        </p:tgtEl>
                                        <p:attrNameLst>
                                          <p:attrName>style.visibility</p:attrName>
                                        </p:attrNameLst>
                                      </p:cBhvr>
                                      <p:to>
                                        <p:strVal val="visible"/>
                                      </p:to>
                                    </p:set>
                                    <p:anim calcmode="discrete" valueType="clr">
                                      <p:cBhvr override="childStyle">
                                        <p:cTn id="20" dur="50"/>
                                        <p:tgtEl>
                                          <p:spTgt spid="65">
                                            <p:txEl>
                                              <p:pRg st="1" end="1"/>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1" dur="50"/>
                                        <p:tgtEl>
                                          <p:spTgt spid="65">
                                            <p:txEl>
                                              <p:pRg st="1" end="1"/>
                                            </p:txEl>
                                          </p:spTgt>
                                        </p:tgtEl>
                                        <p:attrNameLst>
                                          <p:attrName>fillcolor</p:attrName>
                                        </p:attrNameLst>
                                      </p:cBhvr>
                                      <p:tavLst>
                                        <p:tav tm="0">
                                          <p:val>
                                            <p:clrVal>
                                              <a:schemeClr val="accent2"/>
                                            </p:clrVal>
                                          </p:val>
                                        </p:tav>
                                        <p:tav tm="50000">
                                          <p:val>
                                            <p:clrVal>
                                              <a:schemeClr val="hlink"/>
                                            </p:clrVal>
                                          </p:val>
                                        </p:tav>
                                      </p:tavLst>
                                    </p:anim>
                                    <p:set>
                                      <p:cBhvr>
                                        <p:cTn id="22" dur="50"/>
                                        <p:tgtEl>
                                          <p:spTgt spid="65">
                                            <p:txEl>
                                              <p:pRg st="1" end="1"/>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1" nodeType="clickEffect">
                                  <p:stCondLst>
                                    <p:cond delay="0"/>
                                  </p:stCondLst>
                                  <p:childTnLst>
                                    <p:set>
                                      <p:cBhvr override="childStyle">
                                        <p:cTn id="26" dur="indefinite"/>
                                        <p:tgtEl>
                                          <p:spTgt spid="76">
                                            <p:txEl>
                                              <p:pRg st="0" end="0"/>
                                            </p:txEl>
                                          </p:spTgt>
                                        </p:tgtEl>
                                        <p:attrNameLst>
                                          <p:attrName>style.color</p:attrName>
                                        </p:attrNameLst>
                                      </p:cBhvr>
                                      <p:to>
                                        <p:clrVal>
                                          <a:srgbClr val="FF0000"/>
                                        </p:clrVal>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68"/>
                                        </p:tgtEl>
                                        <p:attrNameLst>
                                          <p:attrName>stroke.color</p:attrName>
                                        </p:attrNameLst>
                                      </p:cBhvr>
                                      <p:to>
                                        <p:clrVal>
                                          <a:srgbClr val="FF0000"/>
                                        </p:clrVal>
                                      </p:to>
                                    </p:set>
                                    <p:set>
                                      <p:cBhvr>
                                        <p:cTn id="31" dur="indefinite"/>
                                        <p:tgtEl>
                                          <p:spTgt spid="68"/>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1"/>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nodeType="clickEffect">
                                  <p:stCondLst>
                                    <p:cond delay="0"/>
                                  </p:stCondLst>
                                  <p:iterate type="lt">
                                    <p:tmPct val="25000"/>
                                  </p:iterate>
                                  <p:childTnLst>
                                    <p:set>
                                      <p:cBhvr>
                                        <p:cTn id="42" dur="1" fill="hold">
                                          <p:stCondLst>
                                            <p:cond delay="0"/>
                                          </p:stCondLst>
                                        </p:cTn>
                                        <p:tgtEl>
                                          <p:spTgt spid="65">
                                            <p:txEl>
                                              <p:pRg st="2" end="2"/>
                                            </p:txEl>
                                          </p:spTgt>
                                        </p:tgtEl>
                                        <p:attrNameLst>
                                          <p:attrName>style.visibility</p:attrName>
                                        </p:attrNameLst>
                                      </p:cBhvr>
                                      <p:to>
                                        <p:strVal val="visible"/>
                                      </p:to>
                                    </p:set>
                                    <p:anim calcmode="discrete" valueType="clr">
                                      <p:cBhvr override="childStyle">
                                        <p:cTn id="43" dur="50"/>
                                        <p:tgtEl>
                                          <p:spTgt spid="65">
                                            <p:txEl>
                                              <p:pRg st="2" end="2"/>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44" dur="50"/>
                                        <p:tgtEl>
                                          <p:spTgt spid="65">
                                            <p:txEl>
                                              <p:pRg st="2" end="2"/>
                                            </p:txEl>
                                          </p:spTgt>
                                        </p:tgtEl>
                                        <p:attrNameLst>
                                          <p:attrName>fillcolor</p:attrName>
                                        </p:attrNameLst>
                                      </p:cBhvr>
                                      <p:tavLst>
                                        <p:tav tm="0">
                                          <p:val>
                                            <p:clrVal>
                                              <a:schemeClr val="accent2"/>
                                            </p:clrVal>
                                          </p:val>
                                        </p:tav>
                                        <p:tav tm="50000">
                                          <p:val>
                                            <p:clrVal>
                                              <a:schemeClr val="hlink"/>
                                            </p:clrVal>
                                          </p:val>
                                        </p:tav>
                                      </p:tavLst>
                                    </p:anim>
                                    <p:set>
                                      <p:cBhvr>
                                        <p:cTn id="45" dur="50"/>
                                        <p:tgtEl>
                                          <p:spTgt spid="65">
                                            <p:txEl>
                                              <p:pRg st="2" end="2"/>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3" presetClass="emph" presetSubtype="1" grpId="0" nodeType="clickEffect">
                                  <p:stCondLst>
                                    <p:cond delay="0"/>
                                  </p:stCondLst>
                                  <p:childTnLst>
                                    <p:set>
                                      <p:cBhvr override="childStyle">
                                        <p:cTn id="49" dur="indefinite"/>
                                        <p:tgtEl>
                                          <p:spTgt spid="76">
                                            <p:txEl>
                                              <p:pRg st="0" end="0"/>
                                            </p:txEl>
                                          </p:spTgt>
                                        </p:tgtEl>
                                        <p:attrNameLst>
                                          <p:attrName>style.color</p:attrName>
                                        </p:attrNameLst>
                                      </p:cBhvr>
                                      <p:to>
                                        <p:clrVal>
                                          <a:srgbClr val="000000"/>
                                        </p:clrVal>
                                      </p:to>
                                    </p:set>
                                  </p:childTnLst>
                                </p:cTn>
                              </p:par>
                              <p:par>
                                <p:cTn id="50" presetID="3" presetClass="emph" presetSubtype="1" nodeType="withEffect">
                                  <p:stCondLst>
                                    <p:cond delay="0"/>
                                  </p:stCondLst>
                                  <p:childTnLst>
                                    <p:set>
                                      <p:cBhvr override="childStyle">
                                        <p:cTn id="51" dur="indefinite"/>
                                        <p:tgtEl>
                                          <p:spTgt spid="123">
                                            <p:txEl>
                                              <p:pRg st="0" end="0"/>
                                            </p:txEl>
                                          </p:spTgt>
                                        </p:tgtEl>
                                        <p:attrNameLst>
                                          <p:attrName>style.color</p:attrName>
                                        </p:attrNameLst>
                                      </p:cBhvr>
                                      <p:to>
                                        <p:clrVal>
                                          <a:srgbClr val="FF0000"/>
                                        </p:clrVal>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13"/>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8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mph" presetSubtype="1" nodeType="clickEffect">
                                  <p:stCondLst>
                                    <p:cond delay="0"/>
                                  </p:stCondLst>
                                  <p:childTnLst>
                                    <p:set>
                                      <p:cBhvr override="childStyle">
                                        <p:cTn id="62" dur="indefinite"/>
                                        <p:tgtEl>
                                          <p:spTgt spid="77">
                                            <p:txEl>
                                              <p:pRg st="0" end="0"/>
                                            </p:txEl>
                                          </p:spTgt>
                                        </p:tgtEl>
                                        <p:attrNameLst>
                                          <p:attrName>style.color</p:attrName>
                                        </p:attrNameLst>
                                      </p:cBhvr>
                                      <p:to>
                                        <p:clrVal>
                                          <a:srgbClr val="0E57C4"/>
                                        </p:clrVal>
                                      </p:to>
                                    </p:set>
                                  </p:childTnLst>
                                </p:cTn>
                              </p:par>
                            </p:childTnLst>
                          </p:cTn>
                        </p:par>
                      </p:childTnLst>
                    </p:cTn>
                  </p:par>
                  <p:par>
                    <p:cTn id="63" fill="hold">
                      <p:stCondLst>
                        <p:cond delay="indefinite"/>
                      </p:stCondLst>
                      <p:childTnLst>
                        <p:par>
                          <p:cTn id="64" fill="hold">
                            <p:stCondLst>
                              <p:cond delay="0"/>
                            </p:stCondLst>
                            <p:childTnLst>
                              <p:par>
                                <p:cTn id="65" presetID="7" presetClass="emph" presetSubtype="1" nodeType="clickEffect">
                                  <p:stCondLst>
                                    <p:cond delay="0"/>
                                  </p:stCondLst>
                                  <p:childTnLst>
                                    <p:set>
                                      <p:cBhvr>
                                        <p:cTn id="66" dur="indefinite"/>
                                        <p:tgtEl>
                                          <p:spTgt spid="72"/>
                                        </p:tgtEl>
                                        <p:attrNameLst>
                                          <p:attrName>stroke.color</p:attrName>
                                        </p:attrNameLst>
                                      </p:cBhvr>
                                      <p:to>
                                        <p:clrVal>
                                          <a:srgbClr val="0E57C4"/>
                                        </p:clrVal>
                                      </p:to>
                                    </p:set>
                                    <p:set>
                                      <p:cBhvr>
                                        <p:cTn id="67" dur="indefinite"/>
                                        <p:tgtEl>
                                          <p:spTgt spid="72"/>
                                        </p:tgtEl>
                                        <p:attrNameLst>
                                          <p:attrName>stroke.on</p:attrName>
                                        </p:attrNameLst>
                                      </p:cBhvr>
                                      <p:to>
                                        <p:strVal val="true"/>
                                      </p:to>
                                    </p:set>
                                  </p:childTnLst>
                                </p:cTn>
                              </p:par>
                            </p:childTnLst>
                          </p:cTn>
                        </p:par>
                        <p:par>
                          <p:cTn id="68" fill="hold">
                            <p:stCondLst>
                              <p:cond delay="0"/>
                            </p:stCondLst>
                            <p:childTnLst>
                              <p:par>
                                <p:cTn id="69" presetID="1" presetClass="emph" presetSubtype="1" nodeType="afterEffect">
                                  <p:stCondLst>
                                    <p:cond delay="0"/>
                                  </p:stCondLst>
                                  <p:childTnLst>
                                    <p:set>
                                      <p:cBhvr>
                                        <p:cTn id="70" dur="indefinite"/>
                                        <p:tgtEl>
                                          <p:spTgt spid="69"/>
                                        </p:tgtEl>
                                        <p:attrNameLst>
                                          <p:attrName>fillcolor</p:attrName>
                                        </p:attrNameLst>
                                      </p:cBhvr>
                                      <p:to>
                                        <p:clrVal>
                                          <a:srgbClr val="0070C0"/>
                                        </p:clrVal>
                                      </p:to>
                                    </p:set>
                                    <p:set>
                                      <p:cBhvr>
                                        <p:cTn id="71" dur="indefinite"/>
                                        <p:tgtEl>
                                          <p:spTgt spid="69"/>
                                        </p:tgtEl>
                                        <p:attrNameLst>
                                          <p:attrName>fill.type</p:attrName>
                                        </p:attrNameLst>
                                      </p:cBhvr>
                                      <p:to>
                                        <p:strVal val="solid"/>
                                      </p:to>
                                    </p:set>
                                    <p:set>
                                      <p:cBhvr>
                                        <p:cTn id="72" dur="indefinite"/>
                                        <p:tgtEl>
                                          <p:spTgt spid="69"/>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2"/>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grpId="0" nodeType="afterEffect">
                                  <p:stCondLst>
                                    <p:cond delay="0"/>
                                  </p:stCondLst>
                                  <p:childTnLst>
                                    <p:set>
                                      <p:cBhvr>
                                        <p:cTn id="79" dur="1" fill="hold">
                                          <p:stCondLst>
                                            <p:cond delay="0"/>
                                          </p:stCondLst>
                                        </p:cTn>
                                        <p:tgtEl>
                                          <p:spTgt spid="8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3" presetClass="emph" presetSubtype="1" grpId="1" nodeType="clickEffect">
                                  <p:stCondLst>
                                    <p:cond delay="0"/>
                                  </p:stCondLst>
                                  <p:childTnLst>
                                    <p:set>
                                      <p:cBhvr override="childStyle">
                                        <p:cTn id="83" dur="indefinite"/>
                                        <p:tgtEl>
                                          <p:spTgt spid="77">
                                            <p:txEl>
                                              <p:pRg st="0" end="0"/>
                                            </p:txEl>
                                          </p:spTgt>
                                        </p:tgtEl>
                                        <p:attrNameLst>
                                          <p:attrName>style.color</p:attrName>
                                        </p:attrNameLst>
                                      </p:cBhvr>
                                      <p:to>
                                        <p:clrVal>
                                          <a:srgbClr val="E68900"/>
                                        </p:clrVal>
                                      </p:to>
                                    </p:set>
                                  </p:childTnLst>
                                </p:cTn>
                              </p:par>
                            </p:childTnLst>
                          </p:cTn>
                        </p:par>
                      </p:childTnLst>
                    </p:cTn>
                  </p:par>
                  <p:par>
                    <p:cTn id="84" fill="hold">
                      <p:stCondLst>
                        <p:cond delay="indefinite"/>
                      </p:stCondLst>
                      <p:childTnLst>
                        <p:par>
                          <p:cTn id="85" fill="hold">
                            <p:stCondLst>
                              <p:cond delay="0"/>
                            </p:stCondLst>
                            <p:childTnLst>
                              <p:par>
                                <p:cTn id="86" presetID="7" presetClass="emph" presetSubtype="1" nodeType="clickEffect">
                                  <p:stCondLst>
                                    <p:cond delay="0"/>
                                  </p:stCondLst>
                                  <p:childTnLst>
                                    <p:set>
                                      <p:cBhvr>
                                        <p:cTn id="87" dur="indefinite"/>
                                        <p:tgtEl>
                                          <p:spTgt spid="72"/>
                                        </p:tgtEl>
                                        <p:attrNameLst>
                                          <p:attrName>stroke.color</p:attrName>
                                        </p:attrNameLst>
                                      </p:cBhvr>
                                      <p:to>
                                        <p:clrVal>
                                          <a:srgbClr val="E68900"/>
                                        </p:clrVal>
                                      </p:to>
                                    </p:set>
                                    <p:set>
                                      <p:cBhvr>
                                        <p:cTn id="88" dur="indefinite"/>
                                        <p:tgtEl>
                                          <p:spTgt spid="72"/>
                                        </p:tgtEl>
                                        <p:attrNameLst>
                                          <p:attrName>stroke.on</p:attrName>
                                        </p:attrNameLst>
                                      </p:cBhvr>
                                      <p:to>
                                        <p:strVal val="true"/>
                                      </p:to>
                                    </p:set>
                                  </p:childTnLst>
                                </p:cTn>
                              </p:par>
                            </p:childTnLst>
                          </p:cTn>
                        </p:par>
                        <p:par>
                          <p:cTn id="89" fill="hold">
                            <p:stCondLst>
                              <p:cond delay="0"/>
                            </p:stCondLst>
                            <p:childTnLst>
                              <p:par>
                                <p:cTn id="90" presetID="1" presetClass="emph" presetSubtype="1" nodeType="afterEffect">
                                  <p:stCondLst>
                                    <p:cond delay="0"/>
                                  </p:stCondLst>
                                  <p:childTnLst>
                                    <p:set>
                                      <p:cBhvr>
                                        <p:cTn id="91" dur="indefinite"/>
                                        <p:tgtEl>
                                          <p:spTgt spid="69"/>
                                        </p:tgtEl>
                                        <p:attrNameLst>
                                          <p:attrName>fillcolor</p:attrName>
                                        </p:attrNameLst>
                                      </p:cBhvr>
                                      <p:to>
                                        <p:clrVal>
                                          <a:srgbClr val="FFFFFF"/>
                                        </p:clrVal>
                                      </p:to>
                                    </p:set>
                                    <p:set>
                                      <p:cBhvr>
                                        <p:cTn id="92" dur="indefinite"/>
                                        <p:tgtEl>
                                          <p:spTgt spid="69"/>
                                        </p:tgtEl>
                                        <p:attrNameLst>
                                          <p:attrName>fill.type</p:attrName>
                                        </p:attrNameLst>
                                      </p:cBhvr>
                                      <p:to>
                                        <p:strVal val="solid"/>
                                      </p:to>
                                    </p:set>
                                    <p:set>
                                      <p:cBhvr>
                                        <p:cTn id="93" dur="indefinite"/>
                                        <p:tgtEl>
                                          <p:spTgt spid="69"/>
                                        </p:tgtEl>
                                        <p:attrNameLst>
                                          <p:attrName>fill.on</p:attrName>
                                        </p:attrNameLst>
                                      </p:cBhvr>
                                      <p:to>
                                        <p:strVal val="true"/>
                                      </p:to>
                                    </p:set>
                                  </p:childTnLst>
                                </p:cTn>
                              </p:par>
                            </p:childTnLst>
                          </p:cTn>
                        </p:par>
                      </p:childTnLst>
                    </p:cTn>
                  </p:par>
                  <p:par>
                    <p:cTn id="94" fill="hold">
                      <p:stCondLst>
                        <p:cond delay="indefinite"/>
                      </p:stCondLst>
                      <p:childTnLst>
                        <p:par>
                          <p:cTn id="95" fill="hold">
                            <p:stCondLst>
                              <p:cond delay="0"/>
                            </p:stCondLst>
                            <p:childTnLst>
                              <p:par>
                                <p:cTn id="96" presetID="3" presetClass="emph" presetSubtype="1" nodeType="clickEffect">
                                  <p:stCondLst>
                                    <p:cond delay="0"/>
                                  </p:stCondLst>
                                  <p:childTnLst>
                                    <p:set>
                                      <p:cBhvr override="childStyle">
                                        <p:cTn id="97" dur="indefinite"/>
                                        <p:tgtEl>
                                          <p:spTgt spid="78">
                                            <p:txEl>
                                              <p:pRg st="0" end="0"/>
                                            </p:txEl>
                                          </p:spTgt>
                                        </p:tgtEl>
                                        <p:attrNameLst>
                                          <p:attrName>style.color</p:attrName>
                                        </p:attrNameLst>
                                      </p:cBhvr>
                                      <p:to>
                                        <p:clrVal>
                                          <a:srgbClr val="E68900"/>
                                        </p:clrVal>
                                      </p:to>
                                    </p:set>
                                  </p:childTnLst>
                                </p:cTn>
                              </p:par>
                            </p:childTnLst>
                          </p:cTn>
                        </p:par>
                      </p:childTnLst>
                    </p:cTn>
                  </p:par>
                  <p:par>
                    <p:cTn id="98" fill="hold">
                      <p:stCondLst>
                        <p:cond delay="indefinite"/>
                      </p:stCondLst>
                      <p:childTnLst>
                        <p:par>
                          <p:cTn id="99" fill="hold">
                            <p:stCondLst>
                              <p:cond delay="0"/>
                            </p:stCondLst>
                            <p:childTnLst>
                              <p:par>
                                <p:cTn id="100" presetID="7" presetClass="emph" presetSubtype="1" nodeType="clickEffect">
                                  <p:stCondLst>
                                    <p:cond delay="0"/>
                                  </p:stCondLst>
                                  <p:childTnLst>
                                    <p:set>
                                      <p:cBhvr>
                                        <p:cTn id="101" dur="indefinite"/>
                                        <p:tgtEl>
                                          <p:spTgt spid="73"/>
                                        </p:tgtEl>
                                        <p:attrNameLst>
                                          <p:attrName>stroke.color</p:attrName>
                                        </p:attrNameLst>
                                      </p:cBhvr>
                                      <p:to>
                                        <p:clrVal>
                                          <a:srgbClr val="E68900"/>
                                        </p:clrVal>
                                      </p:to>
                                    </p:set>
                                    <p:set>
                                      <p:cBhvr>
                                        <p:cTn id="102" dur="indefinite"/>
                                        <p:tgtEl>
                                          <p:spTgt spid="73"/>
                                        </p:tgtEl>
                                        <p:attrNameLst>
                                          <p:attrName>stroke.on</p:attrName>
                                        </p:attrNameLst>
                                      </p:cBhvr>
                                      <p:to>
                                        <p:strVal val="true"/>
                                      </p:to>
                                    </p:set>
                                  </p:childTnLst>
                                </p:cTn>
                              </p:par>
                            </p:childTnLst>
                          </p:cTn>
                        </p:par>
                        <p:par>
                          <p:cTn id="103" fill="hold">
                            <p:stCondLst>
                              <p:cond delay="0"/>
                            </p:stCondLst>
                            <p:childTnLst>
                              <p:par>
                                <p:cTn id="104" presetID="1" presetClass="emph" presetSubtype="1" nodeType="afterEffect">
                                  <p:stCondLst>
                                    <p:cond delay="0"/>
                                  </p:stCondLst>
                                  <p:childTnLst>
                                    <p:set>
                                      <p:cBhvr>
                                        <p:cTn id="105" dur="indefinite"/>
                                        <p:tgtEl>
                                          <p:spTgt spid="70"/>
                                        </p:tgtEl>
                                        <p:attrNameLst>
                                          <p:attrName>fillcolor</p:attrName>
                                        </p:attrNameLst>
                                      </p:cBhvr>
                                      <p:to>
                                        <p:clrVal>
                                          <a:srgbClr val="E68900"/>
                                        </p:clrVal>
                                      </p:to>
                                    </p:set>
                                    <p:set>
                                      <p:cBhvr>
                                        <p:cTn id="106" dur="indefinite"/>
                                        <p:tgtEl>
                                          <p:spTgt spid="70"/>
                                        </p:tgtEl>
                                        <p:attrNameLst>
                                          <p:attrName>fill.type</p:attrName>
                                        </p:attrNameLst>
                                      </p:cBhvr>
                                      <p:to>
                                        <p:strVal val="solid"/>
                                      </p:to>
                                    </p:set>
                                    <p:set>
                                      <p:cBhvr>
                                        <p:cTn id="107" dur="indefinite"/>
                                        <p:tgtEl>
                                          <p:spTgt spid="70"/>
                                        </p:tgtEl>
                                        <p:attrNameLst>
                                          <p:attrName>fill.on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114"/>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grpId="0" nodeType="afterEffect">
                                  <p:stCondLst>
                                    <p:cond delay="0"/>
                                  </p:stCondLst>
                                  <p:childTnLst>
                                    <p:set>
                                      <p:cBhvr>
                                        <p:cTn id="114" dur="1" fill="hold">
                                          <p:stCondLst>
                                            <p:cond delay="0"/>
                                          </p:stCondLst>
                                        </p:cTn>
                                        <p:tgtEl>
                                          <p:spTgt spid="10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1" nodeType="clickEffect">
                                  <p:stCondLst>
                                    <p:cond delay="0"/>
                                  </p:stCondLst>
                                  <p:childTnLst>
                                    <p:set>
                                      <p:cBhvr>
                                        <p:cTn id="118" dur="indefinite"/>
                                        <p:tgtEl>
                                          <p:spTgt spid="68"/>
                                        </p:tgtEl>
                                        <p:attrNameLst>
                                          <p:attrName>stroke.color</p:attrName>
                                        </p:attrNameLst>
                                      </p:cBhvr>
                                      <p:to>
                                        <p:clrVal>
                                          <a:srgbClr val="000000"/>
                                        </p:clrVal>
                                      </p:to>
                                    </p:set>
                                    <p:set>
                                      <p:cBhvr>
                                        <p:cTn id="119" dur="indefinite"/>
                                        <p:tgtEl>
                                          <p:spTgt spid="68"/>
                                        </p:tgtEl>
                                        <p:attrNameLst>
                                          <p:attrName>stroke.on</p:attrName>
                                        </p:attrNameLst>
                                      </p:cBhvr>
                                      <p:to>
                                        <p:strVal val="true"/>
                                      </p:to>
                                    </p:set>
                                  </p:childTnLst>
                                </p:cTn>
                              </p:par>
                              <p:par>
                                <p:cTn id="120" presetID="7" presetClass="emph" presetSubtype="1" nodeType="withEffect">
                                  <p:stCondLst>
                                    <p:cond delay="0"/>
                                  </p:stCondLst>
                                  <p:childTnLst>
                                    <p:set>
                                      <p:cBhvr>
                                        <p:cTn id="121" dur="indefinite"/>
                                        <p:tgtEl>
                                          <p:spTgt spid="72"/>
                                        </p:tgtEl>
                                        <p:attrNameLst>
                                          <p:attrName>stroke.color</p:attrName>
                                        </p:attrNameLst>
                                      </p:cBhvr>
                                      <p:to>
                                        <p:clrVal>
                                          <a:srgbClr val="000000"/>
                                        </p:clrVal>
                                      </p:to>
                                    </p:set>
                                    <p:set>
                                      <p:cBhvr>
                                        <p:cTn id="122" dur="indefinite"/>
                                        <p:tgtEl>
                                          <p:spTgt spid="72"/>
                                        </p:tgtEl>
                                        <p:attrNameLst>
                                          <p:attrName>stroke.on</p:attrName>
                                        </p:attrNameLst>
                                      </p:cBhvr>
                                      <p:to>
                                        <p:strVal val="true"/>
                                      </p:to>
                                    </p:set>
                                  </p:childTnLst>
                                </p:cTn>
                              </p:par>
                              <p:par>
                                <p:cTn id="123" presetID="7" presetClass="emph" presetSubtype="1" nodeType="withEffect">
                                  <p:stCondLst>
                                    <p:cond delay="0"/>
                                  </p:stCondLst>
                                  <p:childTnLst>
                                    <p:set>
                                      <p:cBhvr>
                                        <p:cTn id="124" dur="indefinite"/>
                                        <p:tgtEl>
                                          <p:spTgt spid="73"/>
                                        </p:tgtEl>
                                        <p:attrNameLst>
                                          <p:attrName>stroke.color</p:attrName>
                                        </p:attrNameLst>
                                      </p:cBhvr>
                                      <p:to>
                                        <p:clrVal>
                                          <a:srgbClr val="000000"/>
                                        </p:clrVal>
                                      </p:to>
                                    </p:set>
                                    <p:set>
                                      <p:cBhvr>
                                        <p:cTn id="125" dur="indefinite"/>
                                        <p:tgtEl>
                                          <p:spTgt spid="73"/>
                                        </p:tgtEl>
                                        <p:attrNameLst>
                                          <p:attrName>stroke.on</p:attrName>
                                        </p:attrNameLst>
                                      </p:cBhvr>
                                      <p:to>
                                        <p:strVal val="true"/>
                                      </p:to>
                                    </p:set>
                                  </p:childTnLst>
                                </p:cTn>
                              </p:par>
                              <p:par>
                                <p:cTn id="126" presetID="1" presetClass="emph" presetSubtype="1" nodeType="withEffect">
                                  <p:stCondLst>
                                    <p:cond delay="0"/>
                                  </p:stCondLst>
                                  <p:childTnLst>
                                    <p:set>
                                      <p:cBhvr>
                                        <p:cTn id="127" dur="indefinite"/>
                                        <p:tgtEl>
                                          <p:spTgt spid="66"/>
                                        </p:tgtEl>
                                        <p:attrNameLst>
                                          <p:attrName>fillcolor</p:attrName>
                                        </p:attrNameLst>
                                      </p:cBhvr>
                                      <p:to>
                                        <p:clrVal>
                                          <a:srgbClr val="FFFFFF"/>
                                        </p:clrVal>
                                      </p:to>
                                    </p:set>
                                    <p:set>
                                      <p:cBhvr>
                                        <p:cTn id="128" dur="indefinite"/>
                                        <p:tgtEl>
                                          <p:spTgt spid="66"/>
                                        </p:tgtEl>
                                        <p:attrNameLst>
                                          <p:attrName>fill.type</p:attrName>
                                        </p:attrNameLst>
                                      </p:cBhvr>
                                      <p:to>
                                        <p:strVal val="solid"/>
                                      </p:to>
                                    </p:set>
                                    <p:set>
                                      <p:cBhvr>
                                        <p:cTn id="129" dur="indefinite"/>
                                        <p:tgtEl>
                                          <p:spTgt spid="66"/>
                                        </p:tgtEl>
                                        <p:attrNameLst>
                                          <p:attrName>fill.on</p:attrName>
                                        </p:attrNameLst>
                                      </p:cBhvr>
                                      <p:to>
                                        <p:strVal val="true"/>
                                      </p:to>
                                    </p:set>
                                  </p:childTnLst>
                                </p:cTn>
                              </p:par>
                              <p:par>
                                <p:cTn id="130" presetID="1" presetClass="emph" presetSubtype="1" nodeType="withEffect">
                                  <p:stCondLst>
                                    <p:cond delay="0"/>
                                  </p:stCondLst>
                                  <p:childTnLst>
                                    <p:set>
                                      <p:cBhvr>
                                        <p:cTn id="131" dur="indefinite"/>
                                        <p:tgtEl>
                                          <p:spTgt spid="70"/>
                                        </p:tgtEl>
                                        <p:attrNameLst>
                                          <p:attrName>fillcolor</p:attrName>
                                        </p:attrNameLst>
                                      </p:cBhvr>
                                      <p:to>
                                        <p:clrVal>
                                          <a:srgbClr val="FFFFFF"/>
                                        </p:clrVal>
                                      </p:to>
                                    </p:set>
                                    <p:set>
                                      <p:cBhvr>
                                        <p:cTn id="132" dur="indefinite"/>
                                        <p:tgtEl>
                                          <p:spTgt spid="70"/>
                                        </p:tgtEl>
                                        <p:attrNameLst>
                                          <p:attrName>fill.type</p:attrName>
                                        </p:attrNameLst>
                                      </p:cBhvr>
                                      <p:to>
                                        <p:strVal val="solid"/>
                                      </p:to>
                                    </p:set>
                                    <p:set>
                                      <p:cBhvr>
                                        <p:cTn id="133" dur="indefinite"/>
                                        <p:tgtEl>
                                          <p:spTgt spid="70"/>
                                        </p:tgtEl>
                                        <p:attrNameLst>
                                          <p:attrName>fill.on</p:attrName>
                                        </p:attrNameLst>
                                      </p:cBhvr>
                                      <p:to>
                                        <p:strVal val="true"/>
                                      </p:to>
                                    </p:set>
                                  </p:childTnLst>
                                </p:cTn>
                              </p:par>
                              <p:par>
                                <p:cTn id="134" presetID="3" presetClass="emph" presetSubtype="1" grpId="1" nodeType="withEffect">
                                  <p:stCondLst>
                                    <p:cond delay="0"/>
                                  </p:stCondLst>
                                  <p:childTnLst>
                                    <p:set>
                                      <p:cBhvr override="childStyle">
                                        <p:cTn id="135" dur="indefinite"/>
                                        <p:tgtEl>
                                          <p:spTgt spid="76">
                                            <p:txEl>
                                              <p:pRg st="0" end="0"/>
                                            </p:txEl>
                                          </p:spTgt>
                                        </p:tgtEl>
                                        <p:attrNameLst>
                                          <p:attrName>style.color</p:attrName>
                                        </p:attrNameLst>
                                      </p:cBhvr>
                                      <p:to>
                                        <p:clrVal>
                                          <a:srgbClr val="000000"/>
                                        </p:clrVal>
                                      </p:to>
                                    </p:set>
                                  </p:childTnLst>
                                </p:cTn>
                              </p:par>
                              <p:par>
                                <p:cTn id="136" presetID="3" presetClass="emph" presetSubtype="1" grpId="0" nodeType="withEffect">
                                  <p:stCondLst>
                                    <p:cond delay="0"/>
                                  </p:stCondLst>
                                  <p:childTnLst>
                                    <p:set>
                                      <p:cBhvr override="childStyle">
                                        <p:cTn id="137" dur="indefinite"/>
                                        <p:tgtEl>
                                          <p:spTgt spid="123">
                                            <p:txEl>
                                              <p:pRg st="0" end="0"/>
                                            </p:txEl>
                                          </p:spTgt>
                                        </p:tgtEl>
                                        <p:attrNameLst>
                                          <p:attrName>style.color</p:attrName>
                                        </p:attrNameLst>
                                      </p:cBhvr>
                                      <p:to>
                                        <p:clrVal>
                                          <a:srgbClr val="000000"/>
                                        </p:clrVal>
                                      </p:to>
                                    </p:set>
                                  </p:childTnLst>
                                </p:cTn>
                              </p:par>
                              <p:par>
                                <p:cTn id="138" presetID="3" presetClass="emph" presetSubtype="1" grpId="0" nodeType="withEffect">
                                  <p:stCondLst>
                                    <p:cond delay="0"/>
                                  </p:stCondLst>
                                  <p:childTnLst>
                                    <p:set>
                                      <p:cBhvr override="childStyle">
                                        <p:cTn id="139" dur="indefinite"/>
                                        <p:tgtEl>
                                          <p:spTgt spid="77">
                                            <p:txEl>
                                              <p:pRg st="0" end="0"/>
                                            </p:txEl>
                                          </p:spTgt>
                                        </p:tgtEl>
                                        <p:attrNameLst>
                                          <p:attrName>style.color</p:attrName>
                                        </p:attrNameLst>
                                      </p:cBhvr>
                                      <p:to>
                                        <p:clrVal>
                                          <a:srgbClr val="000000"/>
                                        </p:clrVal>
                                      </p:to>
                                    </p:set>
                                  </p:childTnLst>
                                </p:cTn>
                              </p:par>
                              <p:par>
                                <p:cTn id="140" presetID="3" presetClass="emph" presetSubtype="1" grpId="0" nodeType="withEffect">
                                  <p:stCondLst>
                                    <p:cond delay="0"/>
                                  </p:stCondLst>
                                  <p:childTnLst>
                                    <p:set>
                                      <p:cBhvr override="childStyle">
                                        <p:cTn id="141" dur="indefinite"/>
                                        <p:tgtEl>
                                          <p:spTgt spid="78">
                                            <p:txEl>
                                              <p:pRg st="0" end="0"/>
                                            </p:txEl>
                                          </p:spTgt>
                                        </p:tgtEl>
                                        <p:attrNameLst>
                                          <p:attrName>style.color</p:attrName>
                                        </p:attrNameLst>
                                      </p:cBhvr>
                                      <p:to>
                                        <p:clrVal>
                                          <a:srgbClr val="000000"/>
                                        </p:clrVal>
                                      </p:to>
                                    </p:set>
                                  </p:childTnLst>
                                </p:cTn>
                              </p:par>
                            </p:childTnLst>
                          </p:cTn>
                        </p:par>
                      </p:childTnLst>
                    </p:cTn>
                  </p:par>
                  <p:par>
                    <p:cTn id="142" fill="hold">
                      <p:stCondLst>
                        <p:cond delay="indefinite"/>
                      </p:stCondLst>
                      <p:childTnLst>
                        <p:par>
                          <p:cTn id="143" fill="hold">
                            <p:stCondLst>
                              <p:cond delay="0"/>
                            </p:stCondLst>
                            <p:childTnLst>
                              <p:par>
                                <p:cTn id="144" presetID="27" presetClass="entr" presetSubtype="0" fill="hold" nodeType="clickEffect">
                                  <p:stCondLst>
                                    <p:cond delay="0"/>
                                  </p:stCondLst>
                                  <p:iterate type="lt">
                                    <p:tmPct val="25000"/>
                                  </p:iterate>
                                  <p:childTnLst>
                                    <p:set>
                                      <p:cBhvr>
                                        <p:cTn id="145" dur="1" fill="hold">
                                          <p:stCondLst>
                                            <p:cond delay="0"/>
                                          </p:stCondLst>
                                        </p:cTn>
                                        <p:tgtEl>
                                          <p:spTgt spid="65">
                                            <p:txEl>
                                              <p:pRg st="3" end="3"/>
                                            </p:txEl>
                                          </p:spTgt>
                                        </p:tgtEl>
                                        <p:attrNameLst>
                                          <p:attrName>style.visibility</p:attrName>
                                        </p:attrNameLst>
                                      </p:cBhvr>
                                      <p:to>
                                        <p:strVal val="visible"/>
                                      </p:to>
                                    </p:set>
                                    <p:anim calcmode="discrete" valueType="clr">
                                      <p:cBhvr override="childStyle">
                                        <p:cTn id="146" dur="50"/>
                                        <p:tgtEl>
                                          <p:spTgt spid="65">
                                            <p:txEl>
                                              <p:pRg st="3" end="3"/>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147" dur="50"/>
                                        <p:tgtEl>
                                          <p:spTgt spid="65">
                                            <p:txEl>
                                              <p:pRg st="3" end="3"/>
                                            </p:txEl>
                                          </p:spTgt>
                                        </p:tgtEl>
                                        <p:attrNameLst>
                                          <p:attrName>fillcolor</p:attrName>
                                        </p:attrNameLst>
                                      </p:cBhvr>
                                      <p:tavLst>
                                        <p:tav tm="0">
                                          <p:val>
                                            <p:clrVal>
                                              <a:schemeClr val="accent2"/>
                                            </p:clrVal>
                                          </p:val>
                                        </p:tav>
                                        <p:tav tm="50000">
                                          <p:val>
                                            <p:clrVal>
                                              <a:schemeClr val="hlink"/>
                                            </p:clrVal>
                                          </p:val>
                                        </p:tav>
                                      </p:tavLst>
                                    </p:anim>
                                    <p:set>
                                      <p:cBhvr>
                                        <p:cTn id="148" dur="50"/>
                                        <p:tgtEl>
                                          <p:spTgt spid="65">
                                            <p:txEl>
                                              <p:pRg st="3" end="3"/>
                                            </p:txEl>
                                          </p:spTgt>
                                        </p:tgtEl>
                                        <p:attrNameLst>
                                          <p:attrName>fill.type</p:attrName>
                                        </p:attrNameLst>
                                      </p:cBhvr>
                                      <p:to>
                                        <p:strVal val="solid"/>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06"/>
                                        </p:tgtEl>
                                        <p:attrNameLst>
                                          <p:attrName>style.visibility</p:attrName>
                                        </p:attrNameLst>
                                      </p:cBhvr>
                                      <p:to>
                                        <p:strVal val="visible"/>
                                      </p:to>
                                    </p:set>
                                  </p:childTnLst>
                                </p:cTn>
                              </p:par>
                            </p:childTnLst>
                          </p:cTn>
                        </p:par>
                        <p:par>
                          <p:cTn id="153" fill="hold">
                            <p:stCondLst>
                              <p:cond delay="0"/>
                            </p:stCondLst>
                            <p:childTnLst>
                              <p:par>
                                <p:cTn id="154" presetID="1" presetClass="entr" presetSubtype="0" fill="hold" grpId="0" nodeType="afterEffect">
                                  <p:stCondLst>
                                    <p:cond delay="0"/>
                                  </p:stCondLst>
                                  <p:childTnLst>
                                    <p:set>
                                      <p:cBhvr>
                                        <p:cTn id="155" dur="1" fill="hold">
                                          <p:stCondLst>
                                            <p:cond delay="0"/>
                                          </p:stCondLst>
                                        </p:cTn>
                                        <p:tgtEl>
                                          <p:spTgt spid="86"/>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nodeType="clickEffect">
                                  <p:stCondLst>
                                    <p:cond delay="0"/>
                                  </p:stCondLst>
                                  <p:childTnLst>
                                    <p:set>
                                      <p:cBhvr>
                                        <p:cTn id="159" dur="1" fill="hold">
                                          <p:stCondLst>
                                            <p:cond delay="0"/>
                                          </p:stCondLst>
                                        </p:cTn>
                                        <p:tgtEl>
                                          <p:spTgt spid="103"/>
                                        </p:tgtEl>
                                        <p:attrNameLst>
                                          <p:attrName>style.visibility</p:attrName>
                                        </p:attrNameLst>
                                      </p:cBhvr>
                                      <p:to>
                                        <p:strVal val="visible"/>
                                      </p:to>
                                    </p:set>
                                  </p:childTnLst>
                                </p:cTn>
                              </p:par>
                            </p:childTnLst>
                          </p:cTn>
                        </p:par>
                        <p:par>
                          <p:cTn id="160" fill="hold">
                            <p:stCondLst>
                              <p:cond delay="0"/>
                            </p:stCondLst>
                            <p:childTnLst>
                              <p:par>
                                <p:cTn id="161" presetID="1" presetClass="entr" presetSubtype="0" fill="hold" grpId="0" nodeType="afterEffect">
                                  <p:stCondLst>
                                    <p:cond delay="0"/>
                                  </p:stCondLst>
                                  <p:childTnLst>
                                    <p:set>
                                      <p:cBhvr>
                                        <p:cTn id="162" dur="1" fill="hold">
                                          <p:stCondLst>
                                            <p:cond delay="0"/>
                                          </p:stCondLst>
                                        </p:cTn>
                                        <p:tgtEl>
                                          <p:spTgt spid="8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27" presetClass="entr" presetSubtype="0" fill="hold" nodeType="clickEffect">
                                  <p:stCondLst>
                                    <p:cond delay="0"/>
                                  </p:stCondLst>
                                  <p:iterate type="lt">
                                    <p:tmPct val="25000"/>
                                  </p:iterate>
                                  <p:childTnLst>
                                    <p:set>
                                      <p:cBhvr>
                                        <p:cTn id="166" dur="1" fill="hold">
                                          <p:stCondLst>
                                            <p:cond delay="0"/>
                                          </p:stCondLst>
                                        </p:cTn>
                                        <p:tgtEl>
                                          <p:spTgt spid="65">
                                            <p:txEl>
                                              <p:pRg st="4" end="4"/>
                                            </p:txEl>
                                          </p:spTgt>
                                        </p:tgtEl>
                                        <p:attrNameLst>
                                          <p:attrName>style.visibility</p:attrName>
                                        </p:attrNameLst>
                                      </p:cBhvr>
                                      <p:to>
                                        <p:strVal val="visible"/>
                                      </p:to>
                                    </p:set>
                                    <p:anim calcmode="discrete" valueType="clr">
                                      <p:cBhvr override="childStyle">
                                        <p:cTn id="167" dur="50"/>
                                        <p:tgtEl>
                                          <p:spTgt spid="65">
                                            <p:txEl>
                                              <p:pRg st="4" end="4"/>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168" dur="50"/>
                                        <p:tgtEl>
                                          <p:spTgt spid="65">
                                            <p:txEl>
                                              <p:pRg st="4" end="4"/>
                                            </p:txEl>
                                          </p:spTgt>
                                        </p:tgtEl>
                                        <p:attrNameLst>
                                          <p:attrName>fillcolor</p:attrName>
                                        </p:attrNameLst>
                                      </p:cBhvr>
                                      <p:tavLst>
                                        <p:tav tm="0">
                                          <p:val>
                                            <p:clrVal>
                                              <a:schemeClr val="accent2"/>
                                            </p:clrVal>
                                          </p:val>
                                        </p:tav>
                                        <p:tav tm="50000">
                                          <p:val>
                                            <p:clrVal>
                                              <a:schemeClr val="hlink"/>
                                            </p:clrVal>
                                          </p:val>
                                        </p:tav>
                                      </p:tavLst>
                                    </p:anim>
                                    <p:set>
                                      <p:cBhvr>
                                        <p:cTn id="169" dur="50"/>
                                        <p:tgtEl>
                                          <p:spTgt spid="65">
                                            <p:txEl>
                                              <p:pRg st="4" end="4"/>
                                            </p:txEl>
                                          </p:spTgt>
                                        </p:tgtEl>
                                        <p:attrNameLst>
                                          <p:attrName>fill.type</p:attrName>
                                        </p:attrNameLst>
                                      </p:cBhvr>
                                      <p:to>
                                        <p:strVal val="solid"/>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16"/>
                                        </p:tgtEl>
                                        <p:attrNameLst>
                                          <p:attrName>style.visibility</p:attrName>
                                        </p:attrNameLst>
                                      </p:cBhvr>
                                      <p:to>
                                        <p:strVal val="visible"/>
                                      </p:to>
                                    </p:set>
                                  </p:childTnLst>
                                </p:cTn>
                              </p:par>
                            </p:childTnLst>
                          </p:cTn>
                        </p:par>
                        <p:par>
                          <p:cTn id="174" fill="hold">
                            <p:stCondLst>
                              <p:cond delay="0"/>
                            </p:stCondLst>
                            <p:childTnLst>
                              <p:par>
                                <p:cTn id="175" presetID="1" presetClass="entr" presetSubtype="0" fill="hold" grpId="0" nodeType="afterEffect">
                                  <p:stCondLst>
                                    <p:cond delay="0"/>
                                  </p:stCondLst>
                                  <p:childTnLst>
                                    <p:set>
                                      <p:cBhvr>
                                        <p:cTn id="176" dur="1" fill="hold">
                                          <p:stCondLst>
                                            <p:cond delay="0"/>
                                          </p:stCondLst>
                                        </p:cTn>
                                        <p:tgtEl>
                                          <p:spTgt spid="8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107"/>
                                        </p:tgtEl>
                                        <p:attrNameLst>
                                          <p:attrName>style.visibility</p:attrName>
                                        </p:attrNameLst>
                                      </p:cBhvr>
                                      <p:to>
                                        <p:strVal val="visible"/>
                                      </p:to>
                                    </p:set>
                                  </p:childTnLst>
                                </p:cTn>
                              </p:par>
                            </p:childTnLst>
                          </p:cTn>
                        </p:par>
                        <p:par>
                          <p:cTn id="181" fill="hold">
                            <p:stCondLst>
                              <p:cond delay="0"/>
                            </p:stCondLst>
                            <p:childTnLst>
                              <p:par>
                                <p:cTn id="182" presetID="1" presetClass="entr" presetSubtype="0" fill="hold" grpId="0" nodeType="after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0"/>
                                          </p:stCondLst>
                                        </p:cTn>
                                        <p:tgtEl>
                                          <p:spTgt spid="119"/>
                                        </p:tgtEl>
                                        <p:attrNameLst>
                                          <p:attrName>style.visibility</p:attrName>
                                        </p:attrNameLst>
                                      </p:cBhvr>
                                      <p:to>
                                        <p:strVal val="visible"/>
                                      </p:to>
                                    </p:set>
                                  </p:childTnLst>
                                </p:cTn>
                              </p:par>
                            </p:childTnLst>
                          </p:cTn>
                        </p:par>
                        <p:par>
                          <p:cTn id="188" fill="hold">
                            <p:stCondLst>
                              <p:cond delay="0"/>
                            </p:stCondLst>
                            <p:childTnLst>
                              <p:par>
                                <p:cTn id="189" presetID="1" presetClass="entr" presetSubtype="0" fill="hold" grpId="0" nodeType="afterEffect">
                                  <p:stCondLst>
                                    <p:cond delay="0"/>
                                  </p:stCondLst>
                                  <p:childTnLst>
                                    <p:set>
                                      <p:cBhvr>
                                        <p:cTn id="190" dur="1" fill="hold">
                                          <p:stCondLst>
                                            <p:cond delay="0"/>
                                          </p:stCondLst>
                                        </p:cTn>
                                        <p:tgtEl>
                                          <p:spTgt spid="88"/>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15"/>
                                        </p:tgtEl>
                                        <p:attrNameLst>
                                          <p:attrName>style.visibility</p:attrName>
                                        </p:attrNameLst>
                                      </p:cBhvr>
                                      <p:to>
                                        <p:strVal val="visible"/>
                                      </p:to>
                                    </p:set>
                                  </p:childTnLst>
                                </p:cTn>
                              </p:par>
                            </p:childTnLst>
                          </p:cTn>
                        </p:par>
                        <p:par>
                          <p:cTn id="195" fill="hold">
                            <p:stCondLst>
                              <p:cond delay="0"/>
                            </p:stCondLst>
                            <p:childTnLst>
                              <p:par>
                                <p:cTn id="196" presetID="1" presetClass="entr" presetSubtype="0" fill="hold" grpId="0" nodeType="afterEffect">
                                  <p:stCondLst>
                                    <p:cond delay="0"/>
                                  </p:stCondLst>
                                  <p:childTnLst>
                                    <p:set>
                                      <p:cBhvr>
                                        <p:cTn id="197" dur="1" fill="hold">
                                          <p:stCondLst>
                                            <p:cond delay="0"/>
                                          </p:stCondLst>
                                        </p:cTn>
                                        <p:tgtEl>
                                          <p:spTgt spid="92"/>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27" presetClass="entr" presetSubtype="0" fill="hold" nodeType="clickEffect">
                                  <p:stCondLst>
                                    <p:cond delay="0"/>
                                  </p:stCondLst>
                                  <p:iterate type="lt">
                                    <p:tmPct val="25000"/>
                                  </p:iterate>
                                  <p:childTnLst>
                                    <p:set>
                                      <p:cBhvr>
                                        <p:cTn id="201" dur="1" fill="hold">
                                          <p:stCondLst>
                                            <p:cond delay="0"/>
                                          </p:stCondLst>
                                        </p:cTn>
                                        <p:tgtEl>
                                          <p:spTgt spid="65">
                                            <p:txEl>
                                              <p:pRg st="5" end="5"/>
                                            </p:txEl>
                                          </p:spTgt>
                                        </p:tgtEl>
                                        <p:attrNameLst>
                                          <p:attrName>style.visibility</p:attrName>
                                        </p:attrNameLst>
                                      </p:cBhvr>
                                      <p:to>
                                        <p:strVal val="visible"/>
                                      </p:to>
                                    </p:set>
                                    <p:anim calcmode="discrete" valueType="clr">
                                      <p:cBhvr override="childStyle">
                                        <p:cTn id="202" dur="50"/>
                                        <p:tgtEl>
                                          <p:spTgt spid="65">
                                            <p:txEl>
                                              <p:pRg st="5" end="5"/>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03" dur="50"/>
                                        <p:tgtEl>
                                          <p:spTgt spid="65">
                                            <p:txEl>
                                              <p:pRg st="5" end="5"/>
                                            </p:txEl>
                                          </p:spTgt>
                                        </p:tgtEl>
                                        <p:attrNameLst>
                                          <p:attrName>fillcolor</p:attrName>
                                        </p:attrNameLst>
                                      </p:cBhvr>
                                      <p:tavLst>
                                        <p:tav tm="0">
                                          <p:val>
                                            <p:clrVal>
                                              <a:schemeClr val="accent2"/>
                                            </p:clrVal>
                                          </p:val>
                                        </p:tav>
                                        <p:tav tm="50000">
                                          <p:val>
                                            <p:clrVal>
                                              <a:schemeClr val="hlink"/>
                                            </p:clrVal>
                                          </p:val>
                                        </p:tav>
                                      </p:tavLst>
                                    </p:anim>
                                    <p:set>
                                      <p:cBhvr>
                                        <p:cTn id="204" dur="50"/>
                                        <p:tgtEl>
                                          <p:spTgt spid="65">
                                            <p:txEl>
                                              <p:pRg st="5" end="5"/>
                                            </p:txEl>
                                          </p:spTgt>
                                        </p:tgtEl>
                                        <p:attrNameLst>
                                          <p:attrName>fill.type</p:attrName>
                                        </p:attrNameLst>
                                      </p:cBhvr>
                                      <p:to>
                                        <p:strVal val="solid"/>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17"/>
                                        </p:tgtEl>
                                        <p:attrNameLst>
                                          <p:attrName>style.visibility</p:attrName>
                                        </p:attrNameLst>
                                      </p:cBhvr>
                                      <p:to>
                                        <p:strVal val="visible"/>
                                      </p:to>
                                    </p:set>
                                  </p:childTnLst>
                                </p:cTn>
                              </p:par>
                            </p:childTnLst>
                          </p:cTn>
                        </p:par>
                        <p:par>
                          <p:cTn id="209" fill="hold">
                            <p:stCondLst>
                              <p:cond delay="0"/>
                            </p:stCondLst>
                            <p:childTnLst>
                              <p:par>
                                <p:cTn id="210" presetID="1" presetClass="entr" presetSubtype="0" fill="hold" grpId="0" nodeType="afterEffect">
                                  <p:stCondLst>
                                    <p:cond delay="0"/>
                                  </p:stCondLst>
                                  <p:childTnLst>
                                    <p:set>
                                      <p:cBhvr>
                                        <p:cTn id="211" dur="1" fill="hold">
                                          <p:stCondLst>
                                            <p:cond delay="0"/>
                                          </p:stCondLst>
                                        </p:cTn>
                                        <p:tgtEl>
                                          <p:spTgt spid="95"/>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nodeType="clickEffect">
                                  <p:stCondLst>
                                    <p:cond delay="0"/>
                                  </p:stCondLst>
                                  <p:childTnLst>
                                    <p:set>
                                      <p:cBhvr>
                                        <p:cTn id="215" dur="1" fill="hold">
                                          <p:stCondLst>
                                            <p:cond delay="0"/>
                                          </p:stCondLst>
                                        </p:cTn>
                                        <p:tgtEl>
                                          <p:spTgt spid="112"/>
                                        </p:tgtEl>
                                        <p:attrNameLst>
                                          <p:attrName>style.visibility</p:attrName>
                                        </p:attrNameLst>
                                      </p:cBhvr>
                                      <p:to>
                                        <p:strVal val="visible"/>
                                      </p:to>
                                    </p:set>
                                  </p:childTnLst>
                                </p:cTn>
                              </p:par>
                            </p:childTnLst>
                          </p:cTn>
                        </p:par>
                        <p:par>
                          <p:cTn id="216" fill="hold">
                            <p:stCondLst>
                              <p:cond delay="0"/>
                            </p:stCondLst>
                            <p:childTnLst>
                              <p:par>
                                <p:cTn id="217" presetID="1" presetClass="entr" presetSubtype="0" fill="hold" grpId="0" nodeType="afterEffect">
                                  <p:stCondLst>
                                    <p:cond delay="0"/>
                                  </p:stCondLst>
                                  <p:childTnLst>
                                    <p:set>
                                      <p:cBhvr>
                                        <p:cTn id="218" dur="1" fill="hold">
                                          <p:stCondLst>
                                            <p:cond delay="0"/>
                                          </p:stCondLst>
                                        </p:cTn>
                                        <p:tgtEl>
                                          <p:spTgt spid="9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18"/>
                                        </p:tgtEl>
                                        <p:attrNameLst>
                                          <p:attrName>style.visibility</p:attrName>
                                        </p:attrNameLst>
                                      </p:cBhvr>
                                      <p:to>
                                        <p:strVal val="visible"/>
                                      </p:to>
                                    </p:set>
                                  </p:childTnLst>
                                </p:cTn>
                              </p:par>
                            </p:childTnLst>
                          </p:cTn>
                        </p:par>
                        <p:par>
                          <p:cTn id="223" fill="hold">
                            <p:stCondLst>
                              <p:cond delay="0"/>
                            </p:stCondLst>
                            <p:childTnLst>
                              <p:par>
                                <p:cTn id="224" presetID="1" presetClass="entr" presetSubtype="0" fill="hold" grpId="0" nodeType="afterEffect">
                                  <p:stCondLst>
                                    <p:cond delay="0"/>
                                  </p:stCondLst>
                                  <p:childTnLst>
                                    <p:set>
                                      <p:cBhvr>
                                        <p:cTn id="225" dur="1" fill="hold">
                                          <p:stCondLst>
                                            <p:cond delay="0"/>
                                          </p:stCondLst>
                                        </p:cTn>
                                        <p:tgtEl>
                                          <p:spTgt spid="94"/>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nodeType="clickEffect">
                                  <p:stCondLst>
                                    <p:cond delay="0"/>
                                  </p:stCondLst>
                                  <p:childTnLst>
                                    <p:set>
                                      <p:cBhvr>
                                        <p:cTn id="229" dur="1" fill="hold">
                                          <p:stCondLst>
                                            <p:cond delay="0"/>
                                          </p:stCondLst>
                                        </p:cTn>
                                        <p:tgtEl>
                                          <p:spTgt spid="104"/>
                                        </p:tgtEl>
                                        <p:attrNameLst>
                                          <p:attrName>style.visibility</p:attrName>
                                        </p:attrNameLst>
                                      </p:cBhvr>
                                      <p:to>
                                        <p:strVal val="visible"/>
                                      </p:to>
                                    </p:set>
                                  </p:childTnLst>
                                </p:cTn>
                              </p:par>
                            </p:childTnLst>
                          </p:cTn>
                        </p:par>
                        <p:par>
                          <p:cTn id="230" fill="hold">
                            <p:stCondLst>
                              <p:cond delay="0"/>
                            </p:stCondLst>
                            <p:childTnLst>
                              <p:par>
                                <p:cTn id="231" presetID="1" presetClass="entr" presetSubtype="0" fill="hold" grpId="0" nodeType="afterEffect">
                                  <p:stCondLst>
                                    <p:cond delay="0"/>
                                  </p:stCondLst>
                                  <p:childTnLst>
                                    <p:set>
                                      <p:cBhvr>
                                        <p:cTn id="232" dur="1" fill="hold">
                                          <p:stCondLst>
                                            <p:cond delay="0"/>
                                          </p:stCondLst>
                                        </p:cTn>
                                        <p:tgtEl>
                                          <p:spTgt spid="98"/>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108"/>
                                        </p:tgtEl>
                                        <p:attrNameLst>
                                          <p:attrName>style.visibility</p:attrName>
                                        </p:attrNameLst>
                                      </p:cBhvr>
                                      <p:to>
                                        <p:strVal val="visible"/>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85"/>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27" presetClass="entr" presetSubtype="0" fill="hold" nodeType="clickEffect">
                                  <p:stCondLst>
                                    <p:cond delay="0"/>
                                  </p:stCondLst>
                                  <p:iterate type="lt">
                                    <p:tmPct val="25000"/>
                                  </p:iterate>
                                  <p:childTnLst>
                                    <p:set>
                                      <p:cBhvr>
                                        <p:cTn id="243" dur="1" fill="hold">
                                          <p:stCondLst>
                                            <p:cond delay="0"/>
                                          </p:stCondLst>
                                        </p:cTn>
                                        <p:tgtEl>
                                          <p:spTgt spid="65">
                                            <p:txEl>
                                              <p:pRg st="7" end="7"/>
                                            </p:txEl>
                                          </p:spTgt>
                                        </p:tgtEl>
                                        <p:attrNameLst>
                                          <p:attrName>style.visibility</p:attrName>
                                        </p:attrNameLst>
                                      </p:cBhvr>
                                      <p:to>
                                        <p:strVal val="visible"/>
                                      </p:to>
                                    </p:set>
                                    <p:anim calcmode="discrete" valueType="clr">
                                      <p:cBhvr override="childStyle">
                                        <p:cTn id="244" dur="50"/>
                                        <p:tgtEl>
                                          <p:spTgt spid="65">
                                            <p:txEl>
                                              <p:pRg st="7" end="7"/>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45" dur="50"/>
                                        <p:tgtEl>
                                          <p:spTgt spid="65">
                                            <p:txEl>
                                              <p:pRg st="7" end="7"/>
                                            </p:txEl>
                                          </p:spTgt>
                                        </p:tgtEl>
                                        <p:attrNameLst>
                                          <p:attrName>fillcolor</p:attrName>
                                        </p:attrNameLst>
                                      </p:cBhvr>
                                      <p:tavLst>
                                        <p:tav tm="0">
                                          <p:val>
                                            <p:clrVal>
                                              <a:schemeClr val="accent2"/>
                                            </p:clrVal>
                                          </p:val>
                                        </p:tav>
                                        <p:tav tm="50000">
                                          <p:val>
                                            <p:clrVal>
                                              <a:schemeClr val="hlink"/>
                                            </p:clrVal>
                                          </p:val>
                                        </p:tav>
                                      </p:tavLst>
                                    </p:anim>
                                    <p:set>
                                      <p:cBhvr>
                                        <p:cTn id="246" dur="50"/>
                                        <p:tgtEl>
                                          <p:spTgt spid="65">
                                            <p:txEl>
                                              <p:pRg st="7" end="7"/>
                                            </p:txEl>
                                          </p:spTgt>
                                        </p:tgtEl>
                                        <p:attrNameLst>
                                          <p:attrName>fill.type</p:attrName>
                                        </p:attrNameLst>
                                      </p:cBhvr>
                                      <p:to>
                                        <p:strVal val="solid"/>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10"/>
                                        </p:tgtEl>
                                        <p:attrNameLst>
                                          <p:attrName>style.visibility</p:attrName>
                                        </p:attrNameLst>
                                      </p:cBhvr>
                                      <p:to>
                                        <p:strVal val="visible"/>
                                      </p:to>
                                    </p:set>
                                  </p:childTnLst>
                                </p:cTn>
                              </p:par>
                            </p:childTnLst>
                          </p:cTn>
                        </p:par>
                        <p:par>
                          <p:cTn id="251" fill="hold">
                            <p:stCondLst>
                              <p:cond delay="0"/>
                            </p:stCondLst>
                            <p:childTnLst>
                              <p:par>
                                <p:cTn id="252" presetID="1" presetClass="entr" presetSubtype="0" fill="hold" grpId="0" nodeType="afterEffect">
                                  <p:stCondLst>
                                    <p:cond delay="0"/>
                                  </p:stCondLst>
                                  <p:childTnLst>
                                    <p:set>
                                      <p:cBhvr>
                                        <p:cTn id="253" dur="1" fill="hold">
                                          <p:stCondLst>
                                            <p:cond delay="0"/>
                                          </p:stCondLst>
                                        </p:cTn>
                                        <p:tgtEl>
                                          <p:spTgt spid="96"/>
                                        </p:tgtEl>
                                        <p:attrNameLst>
                                          <p:attrName>style.visibility</p:attrName>
                                        </p:attrNameLst>
                                      </p:cBhvr>
                                      <p:to>
                                        <p:strVal val="visible"/>
                                      </p:to>
                                    </p:set>
                                  </p:childTnLst>
                                </p:cTn>
                              </p:par>
                            </p:childTnLst>
                          </p:cTn>
                        </p:par>
                      </p:childTnLst>
                    </p:cTn>
                  </p:par>
                  <p:par>
                    <p:cTn id="254" fill="hold">
                      <p:stCondLst>
                        <p:cond delay="indefinite"/>
                      </p:stCondLst>
                      <p:childTnLst>
                        <p:par>
                          <p:cTn id="255" fill="hold">
                            <p:stCondLst>
                              <p:cond delay="0"/>
                            </p:stCondLst>
                            <p:childTnLst>
                              <p:par>
                                <p:cTn id="256" presetID="1" presetClass="entr" presetSubtype="0" fill="hold" nodeType="clickEffect">
                                  <p:stCondLst>
                                    <p:cond delay="0"/>
                                  </p:stCondLst>
                                  <p:childTnLst>
                                    <p:set>
                                      <p:cBhvr>
                                        <p:cTn id="257" dur="1" fill="hold">
                                          <p:stCondLst>
                                            <p:cond delay="0"/>
                                          </p:stCondLst>
                                        </p:cTn>
                                        <p:tgtEl>
                                          <p:spTgt spid="111"/>
                                        </p:tgtEl>
                                        <p:attrNameLst>
                                          <p:attrName>style.visibility</p:attrName>
                                        </p:attrNameLst>
                                      </p:cBhvr>
                                      <p:to>
                                        <p:strVal val="visible"/>
                                      </p:to>
                                    </p:set>
                                  </p:childTnLst>
                                </p:cTn>
                              </p:par>
                            </p:childTnLst>
                          </p:cTn>
                        </p:par>
                        <p:par>
                          <p:cTn id="258" fill="hold">
                            <p:stCondLst>
                              <p:cond delay="0"/>
                            </p:stCondLst>
                            <p:childTnLst>
                              <p:par>
                                <p:cTn id="259" presetID="1" presetClass="entr" presetSubtype="0" fill="hold" grpId="0" nodeType="afterEffect">
                                  <p:stCondLst>
                                    <p:cond delay="0"/>
                                  </p:stCondLst>
                                  <p:childTnLst>
                                    <p:set>
                                      <p:cBhvr>
                                        <p:cTn id="260" dur="1" fill="hold">
                                          <p:stCondLst>
                                            <p:cond delay="0"/>
                                          </p:stCondLst>
                                        </p:cTn>
                                        <p:tgtEl>
                                          <p:spTgt spid="97"/>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nodeType="clickEffect">
                                  <p:stCondLst>
                                    <p:cond delay="0"/>
                                  </p:stCondLst>
                                  <p:childTnLst>
                                    <p:set>
                                      <p:cBhvr>
                                        <p:cTn id="264" dur="1" fill="hold">
                                          <p:stCondLst>
                                            <p:cond delay="0"/>
                                          </p:stCondLst>
                                        </p:cTn>
                                        <p:tgtEl>
                                          <p:spTgt spid="105"/>
                                        </p:tgtEl>
                                        <p:attrNameLst>
                                          <p:attrName>style.visibility</p:attrName>
                                        </p:attrNameLst>
                                      </p:cBhvr>
                                      <p:to>
                                        <p:strVal val="visible"/>
                                      </p:to>
                                    </p:set>
                                  </p:childTnLst>
                                </p:cTn>
                              </p:par>
                            </p:childTnLst>
                          </p:cTn>
                        </p:par>
                        <p:par>
                          <p:cTn id="265" fill="hold">
                            <p:stCondLst>
                              <p:cond delay="0"/>
                            </p:stCondLst>
                            <p:childTnLst>
                              <p:par>
                                <p:cTn id="266" presetID="1" presetClass="entr" presetSubtype="0" fill="hold" grpId="0" nodeType="afterEffect">
                                  <p:stCondLst>
                                    <p:cond delay="0"/>
                                  </p:stCondLst>
                                  <p:childTnLst>
                                    <p:set>
                                      <p:cBhvr>
                                        <p:cTn id="267" dur="1" fill="hold">
                                          <p:stCondLst>
                                            <p:cond delay="0"/>
                                          </p:stCondLst>
                                        </p:cTn>
                                        <p:tgtEl>
                                          <p:spTgt spid="120"/>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1" presetClass="entr" presetSubtype="0" fill="hold" nodeType="clickEffect">
                                  <p:stCondLst>
                                    <p:cond delay="0"/>
                                  </p:stCondLst>
                                  <p:childTnLst>
                                    <p:set>
                                      <p:cBhvr>
                                        <p:cTn id="271" dur="1" fill="hold">
                                          <p:stCondLst>
                                            <p:cond delay="0"/>
                                          </p:stCondLst>
                                        </p:cTn>
                                        <p:tgtEl>
                                          <p:spTgt spid="109"/>
                                        </p:tgtEl>
                                        <p:attrNameLst>
                                          <p:attrName>style.visibility</p:attrName>
                                        </p:attrNameLst>
                                      </p:cBhvr>
                                      <p:to>
                                        <p:strVal val="visible"/>
                                      </p:to>
                                    </p:set>
                                  </p:childTnLst>
                                </p:cTn>
                              </p:par>
                            </p:childTnLst>
                          </p:cTn>
                        </p:par>
                        <p:par>
                          <p:cTn id="272" fill="hold">
                            <p:stCondLst>
                              <p:cond delay="0"/>
                            </p:stCondLst>
                            <p:childTnLst>
                              <p:par>
                                <p:cTn id="273" presetID="1" presetClass="entr" presetSubtype="0" fill="hold" grpId="0" nodeType="afterEffect">
                                  <p:stCondLst>
                                    <p:cond delay="0"/>
                                  </p:stCondLst>
                                  <p:childTnLst>
                                    <p:set>
                                      <p:cBhvr>
                                        <p:cTn id="274" dur="1" fill="hold">
                                          <p:stCondLst>
                                            <p:cond delay="0"/>
                                          </p:stCondLst>
                                        </p:cTn>
                                        <p:tgtEl>
                                          <p:spTgt spid="121"/>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xit" presetSubtype="0" fill="hold" grpId="1" nodeType="clickEffect">
                                  <p:stCondLst>
                                    <p:cond delay="0"/>
                                  </p:stCondLst>
                                  <p:childTnLst>
                                    <p:set>
                                      <p:cBhvr>
                                        <p:cTn id="278" dur="1" fill="hold">
                                          <p:stCondLst>
                                            <p:cond delay="0"/>
                                          </p:stCondLst>
                                        </p:cTn>
                                        <p:tgtEl>
                                          <p:spTgt spid="120"/>
                                        </p:tgtEl>
                                        <p:attrNameLst>
                                          <p:attrName>style.visibility</p:attrName>
                                        </p:attrNameLst>
                                      </p:cBhvr>
                                      <p:to>
                                        <p:strVal val="hidden"/>
                                      </p:to>
                                    </p:set>
                                  </p:childTnLst>
                                </p:cTn>
                              </p:par>
                              <p:par>
                                <p:cTn id="279" presetID="1" presetClass="entr" presetSubtype="0" fill="hold" grpId="0" nodeType="withEffect">
                                  <p:stCondLst>
                                    <p:cond delay="0"/>
                                  </p:stCondLst>
                                  <p:childTnLst>
                                    <p:set>
                                      <p:cBhvr>
                                        <p:cTn id="280" dur="1" fill="hold">
                                          <p:stCondLst>
                                            <p:cond delay="0"/>
                                          </p:stCondLst>
                                        </p:cTn>
                                        <p:tgtEl>
                                          <p:spTgt spid="99"/>
                                        </p:tgtEl>
                                        <p:attrNameLst>
                                          <p:attrName>style.visibility</p:attrName>
                                        </p:attrNameLst>
                                      </p:cBhvr>
                                      <p:to>
                                        <p:strVal val="visible"/>
                                      </p:to>
                                    </p:set>
                                  </p:childTnLst>
                                </p:cTn>
                              </p:par>
                            </p:childTnLst>
                          </p:cTn>
                        </p:par>
                        <p:par>
                          <p:cTn id="281" fill="hold">
                            <p:stCondLst>
                              <p:cond delay="0"/>
                            </p:stCondLst>
                            <p:childTnLst>
                              <p:par>
                                <p:cTn id="282" presetID="1" presetClass="exit" presetSubtype="0" fill="hold" grpId="1" nodeType="afterEffect">
                                  <p:stCondLst>
                                    <p:cond delay="0"/>
                                  </p:stCondLst>
                                  <p:childTnLst>
                                    <p:set>
                                      <p:cBhvr>
                                        <p:cTn id="283" dur="1" fill="hold">
                                          <p:stCondLst>
                                            <p:cond delay="0"/>
                                          </p:stCondLst>
                                        </p:cTn>
                                        <p:tgtEl>
                                          <p:spTgt spid="121"/>
                                        </p:tgtEl>
                                        <p:attrNameLst>
                                          <p:attrName>style.visibility</p:attrName>
                                        </p:attrNameLst>
                                      </p:cBhvr>
                                      <p:to>
                                        <p:strVal val="hidden"/>
                                      </p:to>
                                    </p:set>
                                  </p:childTnLst>
                                </p:cTn>
                              </p:par>
                              <p:par>
                                <p:cTn id="284" presetID="1" presetClass="entr" presetSubtype="0" fill="hold" grpId="0" nodeType="withEffect">
                                  <p:stCondLst>
                                    <p:cond delay="0"/>
                                  </p:stCondLst>
                                  <p:childTnLst>
                                    <p:set>
                                      <p:cBhvr>
                                        <p:cTn id="285"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allAtOnce"/>
      <p:bldP spid="76" grpId="1" build="allAtOnce"/>
      <p:bldP spid="77" grpId="0" build="allAtOnce"/>
      <p:bldP spid="77" grpId="1" build="allAtOnce"/>
      <p:bldP spid="78" grpId="0" build="allAtOnce"/>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20" grpId="0" animBg="1"/>
      <p:bldP spid="120" grpId="1" animBg="1"/>
      <p:bldP spid="121" grpId="0" animBg="1"/>
      <p:bldP spid="121" grpId="1" animBg="1"/>
      <p:bldP spid="123"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36DCDE-374C-4F64-8B3B-127601EFD67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957A720-2B0B-48BD-A8DB-F1402DC938CE}"/>
              </a:ext>
            </a:extLst>
          </p:cNvPr>
          <p:cNvSpPr>
            <a:spLocks noGrp="1"/>
          </p:cNvSpPr>
          <p:nvPr>
            <p:ph type="body" sz="quarter" idx="12"/>
          </p:nvPr>
        </p:nvSpPr>
        <p:spPr/>
        <p:txBody>
          <a:bodyPr/>
          <a:lstStyle/>
          <a:p>
            <a:r>
              <a:rPr lang="en-US" dirty="0"/>
              <a:t>Formal Definition of NFA</a:t>
            </a:r>
          </a:p>
        </p:txBody>
      </p:sp>
      <p:sp>
        <p:nvSpPr>
          <p:cNvPr id="4" name="Text Placeholder 3">
            <a:extLst>
              <a:ext uri="{FF2B5EF4-FFF2-40B4-BE49-F238E27FC236}">
                <a16:creationId xmlns:a16="http://schemas.microsoft.com/office/drawing/2014/main" id="{20B475D8-D073-40D2-A6F1-0C7F199080B0}"/>
              </a:ext>
            </a:extLst>
          </p:cNvPr>
          <p:cNvSpPr>
            <a:spLocks noGrp="1"/>
          </p:cNvSpPr>
          <p:nvPr>
            <p:ph type="body" sz="quarter" idx="13"/>
          </p:nvPr>
        </p:nvSpPr>
        <p:spPr/>
        <p:txBody>
          <a:bodyPr>
            <a:normAutofit/>
          </a:bodyPr>
          <a:lstStyle/>
          <a:p>
            <a:pPr eaLnBrk="1" hangingPunct="1"/>
            <a:r>
              <a:rPr lang="en-US" altLang="en-US" sz="3600" dirty="0"/>
              <a:t>NFA is a 5-tuple (</a:t>
            </a:r>
            <a:r>
              <a:rPr lang="en-US" altLang="en-US" sz="3600" i="1" dirty="0"/>
              <a:t>Q</a:t>
            </a:r>
            <a:r>
              <a:rPr lang="en-US" altLang="en-US" sz="3600" dirty="0"/>
              <a:t>, </a:t>
            </a:r>
            <a:r>
              <a:rPr lang="el-GR" altLang="en-US" sz="3600" dirty="0">
                <a:cs typeface="Arial" panose="020B0604020202020204" pitchFamily="34" charset="0"/>
              </a:rPr>
              <a:t>Σ</a:t>
            </a:r>
            <a:r>
              <a:rPr lang="en-US" altLang="en-US" sz="3600" dirty="0">
                <a:cs typeface="Arial" panose="020B0604020202020204" pitchFamily="34" charset="0"/>
              </a:rPr>
              <a:t>, </a:t>
            </a:r>
            <a:r>
              <a:rPr lang="el-GR" altLang="en-US" sz="3600" i="1" dirty="0">
                <a:cs typeface="Arial" panose="020B0604020202020204" pitchFamily="34" charset="0"/>
                <a:sym typeface="Symbol" panose="05050102010706020507" pitchFamily="18" charset="2"/>
              </a:rPr>
              <a:t></a:t>
            </a:r>
            <a:r>
              <a:rPr lang="en-US" altLang="en-US" sz="3600" dirty="0">
                <a:cs typeface="Arial" panose="020B0604020202020204" pitchFamily="34" charset="0"/>
                <a:sym typeface="Symbol" panose="05050102010706020507" pitchFamily="18" charset="2"/>
              </a:rPr>
              <a:t>, </a:t>
            </a:r>
            <a:r>
              <a:rPr lang="en-US" altLang="en-US" sz="3600" i="1" dirty="0">
                <a:cs typeface="Arial" panose="020B0604020202020204" pitchFamily="34" charset="0"/>
                <a:sym typeface="Symbol" panose="05050102010706020507" pitchFamily="18" charset="2"/>
              </a:rPr>
              <a:t>q</a:t>
            </a:r>
            <a:r>
              <a:rPr lang="en-US" altLang="en-US" sz="3600" baseline="-25000" dirty="0">
                <a:cs typeface="Arial" panose="020B0604020202020204" pitchFamily="34" charset="0"/>
                <a:sym typeface="Symbol" panose="05050102010706020507" pitchFamily="18" charset="2"/>
              </a:rPr>
              <a:t>0</a:t>
            </a:r>
            <a:r>
              <a:rPr lang="en-US" altLang="en-US" sz="3600" dirty="0">
                <a:cs typeface="Arial" panose="020B0604020202020204" pitchFamily="34" charset="0"/>
                <a:sym typeface="Symbol" panose="05050102010706020507" pitchFamily="18" charset="2"/>
              </a:rPr>
              <a:t>, </a:t>
            </a:r>
            <a:r>
              <a:rPr lang="en-US" altLang="en-US" sz="3600" i="1" dirty="0">
                <a:cs typeface="Arial" panose="020B0604020202020204" pitchFamily="34" charset="0"/>
                <a:sym typeface="Symbol" panose="05050102010706020507" pitchFamily="18" charset="2"/>
              </a:rPr>
              <a:t>F</a:t>
            </a:r>
            <a:r>
              <a:rPr lang="en-US" altLang="en-US" sz="3600" dirty="0"/>
              <a:t>) </a:t>
            </a:r>
          </a:p>
          <a:p>
            <a:pPr lvl="1" eaLnBrk="1" hangingPunct="1"/>
            <a:r>
              <a:rPr lang="en-US" altLang="en-US" sz="3200" i="1" dirty="0"/>
              <a:t>Q</a:t>
            </a:r>
            <a:r>
              <a:rPr lang="en-US" altLang="en-US" sz="3200" dirty="0"/>
              <a:t> is a finite set of states.</a:t>
            </a:r>
          </a:p>
          <a:p>
            <a:pPr lvl="1" eaLnBrk="1" hangingPunct="1"/>
            <a:r>
              <a:rPr lang="el-GR" altLang="en-US" sz="3200" dirty="0">
                <a:cs typeface="Arial" panose="020B0604020202020204" pitchFamily="34" charset="0"/>
              </a:rPr>
              <a:t>Σ</a:t>
            </a:r>
            <a:r>
              <a:rPr lang="en-US" altLang="en-US" sz="3200" dirty="0">
                <a:cs typeface="Arial" panose="020B0604020202020204" pitchFamily="34" charset="0"/>
              </a:rPr>
              <a:t> is a finite alphabet.</a:t>
            </a:r>
          </a:p>
          <a:p>
            <a:pPr lvl="1" eaLnBrk="1" hangingPunct="1"/>
            <a:r>
              <a:rPr lang="el-GR" altLang="en-US" sz="3200" i="1"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 </a:t>
            </a:r>
            <a:r>
              <a:rPr lang="en-US" altLang="en-US" sz="3200" dirty="0">
                <a:cs typeface="Arial" panose="020B0604020202020204" pitchFamily="34" charset="0"/>
                <a:sym typeface="Symbol" panose="05050102010706020507" pitchFamily="18" charset="2"/>
              </a:rPr>
              <a:t>: </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 </a:t>
            </a:r>
            <a:r>
              <a:rPr lang="el-GR" altLang="en-US" sz="3200" dirty="0">
                <a:cs typeface="Arial" panose="020B0604020202020204" pitchFamily="34" charset="0"/>
                <a:sym typeface="Symbol" panose="05050102010706020507" pitchFamily="18" charset="2"/>
              </a:rPr>
              <a:t></a:t>
            </a:r>
            <a:r>
              <a:rPr lang="en-US" altLang="en-US" sz="3200" dirty="0">
                <a:cs typeface="Arial" panose="020B0604020202020204" pitchFamily="34" charset="0"/>
                <a:sym typeface="Symbol" panose="05050102010706020507" pitchFamily="18" charset="2"/>
              </a:rPr>
              <a:t> </a:t>
            </a:r>
            <a:r>
              <a:rPr lang="el-GR" altLang="en-US" sz="3200" dirty="0">
                <a:cs typeface="Arial" panose="020B0604020202020204" pitchFamily="34" charset="0"/>
              </a:rPr>
              <a:t>Σ</a:t>
            </a:r>
            <a:r>
              <a:rPr lang="el-GR" altLang="en-US" sz="3200" i="1" baseline="-250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 </a:t>
            </a:r>
            <a:r>
              <a:rPr lang="el-GR" altLang="en-US" sz="3200" dirty="0">
                <a:cs typeface="Arial" panose="020B0604020202020204" pitchFamily="34" charset="0"/>
                <a:sym typeface="Symbol" panose="05050102010706020507" pitchFamily="18" charset="2"/>
              </a:rPr>
              <a:t></a:t>
            </a:r>
            <a:r>
              <a:rPr lang="en-US" altLang="en-US" sz="3200" dirty="0">
                <a:cs typeface="Arial" panose="020B0604020202020204" pitchFamily="34" charset="0"/>
                <a:sym typeface="Symbol" panose="05050102010706020507" pitchFamily="18" charset="2"/>
              </a:rPr>
              <a:t> </a:t>
            </a:r>
            <a:r>
              <a:rPr lang="en-US" altLang="en-US" sz="3200" dirty="0">
                <a:latin typeface="Rage Italic" panose="03070502040507070304" pitchFamily="66" charset="0"/>
                <a:cs typeface="Arial" panose="020B0604020202020204" pitchFamily="34" charset="0"/>
                <a:sym typeface="Symbol" panose="05050102010706020507" pitchFamily="18" charset="2"/>
              </a:rPr>
              <a:t>P</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a:t>
            </a:r>
            <a:endParaRPr lang="en-US" altLang="en-US" sz="3200" dirty="0"/>
          </a:p>
          <a:p>
            <a:pPr lvl="2" algn="just" eaLnBrk="1" hangingPunct="1"/>
            <a:r>
              <a:rPr lang="en-US" altLang="en-US" sz="2800" dirty="0"/>
              <a:t>The transition function takes a state and an input symbol or the empty string (</a:t>
            </a:r>
            <a:r>
              <a:rPr lang="el-GR" altLang="en-US" sz="2800" dirty="0">
                <a:cs typeface="Arial" panose="020B0604020202020204" pitchFamily="34" charset="0"/>
              </a:rPr>
              <a:t>Σ</a:t>
            </a:r>
            <a:r>
              <a:rPr lang="el-GR" altLang="en-US" sz="2800" i="1" baseline="-25000" dirty="0">
                <a:cs typeface="Arial" panose="020B0604020202020204" pitchFamily="34" charset="0"/>
                <a:sym typeface="Symbol" panose="05050102010706020507" pitchFamily="18" charset="2"/>
              </a:rPr>
              <a:t></a:t>
            </a:r>
            <a:r>
              <a:rPr lang="en-US" altLang="en-US" sz="2800" dirty="0"/>
              <a:t>=</a:t>
            </a:r>
            <a:r>
              <a:rPr lang="el-GR" altLang="en-US" sz="2800" dirty="0">
                <a:cs typeface="Arial" panose="020B0604020202020204" pitchFamily="34" charset="0"/>
              </a:rPr>
              <a:t>Σ</a:t>
            </a:r>
            <a:r>
              <a:rPr lang="en-US" altLang="en-US" sz="2800" dirty="0"/>
              <a:t> </a:t>
            </a:r>
            <a:r>
              <a:rPr lang="en-US" altLang="en-US" sz="2800" dirty="0">
                <a:sym typeface="Symbol" panose="05050102010706020507" pitchFamily="18" charset="2"/>
              </a:rPr>
              <a:t> </a:t>
            </a:r>
            <a:r>
              <a:rPr lang="el-GR" altLang="en-US" sz="2800" i="1" dirty="0">
                <a:cs typeface="Arial" panose="020B0604020202020204" pitchFamily="34" charset="0"/>
                <a:sym typeface="Symbol" panose="05050102010706020507" pitchFamily="18" charset="2"/>
              </a:rPr>
              <a:t></a:t>
            </a:r>
            <a:r>
              <a:rPr lang="en-US" altLang="en-US" sz="2800" dirty="0"/>
              <a:t>) and produces the set of possible next states (</a:t>
            </a:r>
            <a:r>
              <a:rPr lang="en-US" altLang="en-US" sz="2800" dirty="0">
                <a:latin typeface="Rage Italic" panose="03070502040507070304" pitchFamily="66" charset="0"/>
                <a:cs typeface="Arial" panose="020B0604020202020204" pitchFamily="34" charset="0"/>
                <a:sym typeface="Symbol" panose="05050102010706020507" pitchFamily="18" charset="2"/>
              </a:rPr>
              <a:t>P</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Q</a:t>
            </a:r>
            <a:r>
              <a:rPr lang="en-US" altLang="en-US" sz="2800" dirty="0">
                <a:cs typeface="Arial" panose="020B0604020202020204" pitchFamily="34" charset="0"/>
                <a:sym typeface="Symbol" panose="05050102010706020507" pitchFamily="18" charset="2"/>
              </a:rPr>
              <a:t>) is the power set of </a:t>
            </a:r>
            <a:r>
              <a:rPr lang="en-US" altLang="en-US" sz="2800" i="1" dirty="0">
                <a:cs typeface="Arial" panose="020B0604020202020204" pitchFamily="34" charset="0"/>
                <a:sym typeface="Symbol" panose="05050102010706020507" pitchFamily="18" charset="2"/>
              </a:rPr>
              <a:t>Q</a:t>
            </a:r>
            <a:r>
              <a:rPr lang="en-US" altLang="en-US" sz="2800" dirty="0">
                <a:cs typeface="Arial" panose="020B0604020202020204" pitchFamily="34" charset="0"/>
                <a:sym typeface="Symbol" panose="05050102010706020507" pitchFamily="18" charset="2"/>
              </a:rPr>
              <a:t>)</a:t>
            </a:r>
            <a:r>
              <a:rPr lang="en-US" altLang="en-US" sz="2800" dirty="0"/>
              <a:t>.</a:t>
            </a:r>
          </a:p>
          <a:p>
            <a:pPr lvl="1" eaLnBrk="1" hangingPunct="1"/>
            <a:r>
              <a:rPr lang="en-US" altLang="en-US" sz="3200" i="1" dirty="0">
                <a:cs typeface="Arial" panose="020B0604020202020204" pitchFamily="34" charset="0"/>
                <a:sym typeface="Symbol" panose="05050102010706020507" pitchFamily="18" charset="2"/>
              </a:rPr>
              <a:t>q</a:t>
            </a:r>
            <a:r>
              <a:rPr lang="en-US" altLang="en-US" sz="3200" baseline="-25000" dirty="0">
                <a:cs typeface="Arial" panose="020B0604020202020204" pitchFamily="34" charset="0"/>
                <a:sym typeface="Symbol" panose="05050102010706020507" pitchFamily="18" charset="2"/>
              </a:rPr>
              <a:t>0</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 is the start state.</a:t>
            </a:r>
          </a:p>
          <a:p>
            <a:pPr lvl="1" eaLnBrk="1" hangingPunct="1"/>
            <a:r>
              <a:rPr lang="en-US" altLang="en-US" sz="3200" i="1" dirty="0">
                <a:cs typeface="Arial" panose="020B0604020202020204" pitchFamily="34" charset="0"/>
                <a:sym typeface="Symbol" panose="05050102010706020507" pitchFamily="18" charset="2"/>
              </a:rPr>
              <a:t>F</a:t>
            </a:r>
            <a:r>
              <a:rPr lang="en-US" altLang="en-US" sz="3200" dirty="0">
                <a:cs typeface="Arial" panose="020B0604020202020204" pitchFamily="34" charset="0"/>
                <a:sym typeface="Symbol" panose="05050102010706020507" pitchFamily="18" charset="2"/>
              </a:rPr>
              <a:t> </a:t>
            </a:r>
            <a:r>
              <a:rPr lang="el-GR" altLang="en-US" sz="3200" dirty="0">
                <a:cs typeface="Arial" panose="020B0604020202020204" pitchFamily="34" charset="0"/>
                <a:sym typeface="Symbol" panose="05050102010706020507" pitchFamily="18" charset="2"/>
              </a:rPr>
              <a:t></a:t>
            </a:r>
            <a:r>
              <a:rPr lang="en-US" altLang="en-US" sz="3200" dirty="0">
                <a:cs typeface="Arial" panose="020B0604020202020204" pitchFamily="34" charset="0"/>
                <a:sym typeface="Symbol" panose="05050102010706020507" pitchFamily="18" charset="2"/>
              </a:rPr>
              <a:t> </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 is the set of accepted states. </a:t>
            </a:r>
          </a:p>
        </p:txBody>
      </p:sp>
    </p:spTree>
    <p:extLst>
      <p:ext uri="{BB962C8B-B14F-4D97-AF65-F5344CB8AC3E}">
        <p14:creationId xmlns:p14="http://schemas.microsoft.com/office/powerpoint/2010/main" val="815865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a:xfrm>
            <a:off x="0" y="2463772"/>
            <a:ext cx="4709160" cy="3467472"/>
          </a:xfrm>
        </p:spPr>
        <p:txBody>
          <a:bodyPr>
            <a:noAutofit/>
          </a:bodyPr>
          <a:lstStyle/>
          <a:p>
            <a:pPr eaLnBrk="1" hangingPunct="1">
              <a:spcBef>
                <a:spcPts val="0"/>
              </a:spcBef>
            </a:pPr>
            <a:r>
              <a:rPr lang="en-US" altLang="en-US" sz="2000" dirty="0"/>
              <a:t>Let, the above NFA </a:t>
            </a:r>
            <a:r>
              <a:rPr lang="en-US" altLang="en-US" sz="2000" i="1" dirty="0"/>
              <a:t>N</a:t>
            </a:r>
            <a:r>
              <a:rPr lang="en-US" altLang="en-US" sz="2000" baseline="-25000" dirty="0"/>
              <a:t>1</a:t>
            </a:r>
            <a:r>
              <a:rPr lang="en-US" altLang="en-US" sz="2000" dirty="0"/>
              <a:t> = (</a:t>
            </a:r>
            <a:r>
              <a:rPr lang="en-US" altLang="en-US" sz="2000" i="1" dirty="0"/>
              <a:t>Q</a:t>
            </a:r>
            <a:r>
              <a:rPr lang="en-US" altLang="en-US" sz="2000" baseline="-25000" dirty="0"/>
              <a:t>1</a:t>
            </a:r>
            <a:r>
              <a:rPr lang="en-US" altLang="en-US" sz="2000" dirty="0"/>
              <a:t>, </a:t>
            </a:r>
            <a:r>
              <a:rPr lang="el-GR" altLang="en-US" sz="2000" dirty="0">
                <a:cs typeface="Arial" panose="020B0604020202020204" pitchFamily="34" charset="0"/>
              </a:rPr>
              <a:t>Σ</a:t>
            </a:r>
            <a:r>
              <a:rPr lang="en-US" altLang="en-US" sz="2000" dirty="0">
                <a:cs typeface="Arial" panose="020B0604020202020204" pitchFamily="34" charset="0"/>
              </a:rPr>
              <a:t>, </a:t>
            </a:r>
            <a:r>
              <a:rPr lang="el-GR" altLang="en-US" sz="2000" i="1" dirty="0">
                <a:cs typeface="Arial" panose="020B0604020202020204" pitchFamily="34" charset="0"/>
                <a:sym typeface="Symbol" panose="05050102010706020507" pitchFamily="18" charset="2"/>
              </a:rPr>
              <a:t></a:t>
            </a:r>
            <a:r>
              <a:rPr lang="en-US" altLang="en-US" sz="2000" baseline="-25000" dirty="0"/>
              <a:t>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F</a:t>
            </a:r>
            <a:r>
              <a:rPr lang="en-US" altLang="en-US" sz="2000" baseline="-25000" dirty="0"/>
              <a:t>1</a:t>
            </a:r>
            <a:r>
              <a:rPr lang="en-US" altLang="en-US" sz="2000" dirty="0"/>
              <a:t>). </a:t>
            </a:r>
          </a:p>
          <a:p>
            <a:pPr lvl="1" eaLnBrk="1" hangingPunct="1">
              <a:spcBef>
                <a:spcPts val="0"/>
              </a:spcBef>
            </a:pPr>
            <a:r>
              <a:rPr lang="en-US" altLang="en-US" sz="2000" i="1" dirty="0"/>
              <a:t>Q</a:t>
            </a:r>
            <a:r>
              <a:rPr lang="en-US" altLang="en-US" sz="2000" baseline="-25000" dirty="0"/>
              <a:t>1</a:t>
            </a:r>
            <a:r>
              <a:rPr lang="en-US" altLang="en-US" sz="2000" dirty="0"/>
              <a:t> = {</a:t>
            </a:r>
            <a:r>
              <a:rPr lang="en-US" altLang="en-US" sz="2000" i="1" dirty="0"/>
              <a:t>a</a:t>
            </a:r>
            <a:r>
              <a:rPr lang="en-US" altLang="en-US" sz="2000" baseline="-25000" dirty="0"/>
              <a:t>1</a:t>
            </a:r>
            <a:r>
              <a:rPr lang="en-US" altLang="en-US" sz="2000" dirty="0"/>
              <a:t>, </a:t>
            </a:r>
            <a:r>
              <a:rPr lang="en-US" altLang="en-US" sz="2000" i="1" dirty="0"/>
              <a:t>a</a:t>
            </a:r>
            <a:r>
              <a:rPr lang="en-US" altLang="en-US" sz="2000" baseline="-25000" dirty="0"/>
              <a:t>2</a:t>
            </a:r>
            <a:r>
              <a:rPr lang="en-US" altLang="en-US" sz="2000" dirty="0"/>
              <a:t>, </a:t>
            </a:r>
            <a:r>
              <a:rPr lang="en-US" altLang="en-US" sz="2000" i="1" dirty="0"/>
              <a:t>a</a:t>
            </a:r>
            <a:r>
              <a:rPr lang="en-US" altLang="en-US" sz="2000" baseline="-25000" dirty="0"/>
              <a:t>3</a:t>
            </a:r>
            <a:r>
              <a:rPr lang="en-US" altLang="en-US" sz="2000" dirty="0"/>
              <a:t>, </a:t>
            </a:r>
            <a:r>
              <a:rPr lang="en-US" altLang="en-US" sz="2000" i="1" dirty="0"/>
              <a:t>a</a:t>
            </a:r>
            <a:r>
              <a:rPr lang="en-US" altLang="en-US" sz="2000" baseline="-25000" dirty="0"/>
              <a:t>4</a:t>
            </a:r>
            <a:r>
              <a:rPr lang="en-US" altLang="en-US" sz="2000" dirty="0"/>
              <a:t>}.</a:t>
            </a:r>
          </a:p>
          <a:p>
            <a:pPr lvl="1" eaLnBrk="1" hangingPunct="1">
              <a:spcBef>
                <a:spcPts val="0"/>
              </a:spcBef>
            </a:pPr>
            <a:r>
              <a:rPr lang="el-GR" altLang="en-US" sz="2000" dirty="0">
                <a:cs typeface="Arial" panose="020B0604020202020204" pitchFamily="34" charset="0"/>
              </a:rPr>
              <a:t>Σ</a:t>
            </a:r>
            <a:r>
              <a:rPr lang="en-US" altLang="en-US" sz="2000" dirty="0">
                <a:cs typeface="Arial" panose="020B0604020202020204" pitchFamily="34" charset="0"/>
              </a:rPr>
              <a:t> = {0, 1}.</a:t>
            </a:r>
          </a:p>
          <a:p>
            <a:pPr lvl="1">
              <a:spcBef>
                <a:spcPts val="0"/>
              </a:spcBef>
            </a:pPr>
            <a:r>
              <a:rPr lang="el-GR" altLang="en-US" sz="2000" i="1" u="sng" dirty="0">
                <a:cs typeface="Arial" panose="020B0604020202020204" pitchFamily="34" charset="0"/>
                <a:sym typeface="Symbol" panose="05050102010706020507" pitchFamily="18" charset="2"/>
              </a:rPr>
              <a:t></a:t>
            </a:r>
            <a:r>
              <a:rPr lang="en-US" altLang="en-US" sz="2000" u="sng" baseline="-25000" dirty="0"/>
              <a:t>1 </a:t>
            </a:r>
            <a:r>
              <a:rPr lang="en-US" altLang="en-US" sz="2000" u="sng" dirty="0">
                <a:cs typeface="Arial" panose="020B0604020202020204" pitchFamily="34" charset="0"/>
                <a:sym typeface="Symbol" panose="05050102010706020507" pitchFamily="18" charset="2"/>
              </a:rPr>
              <a:t>	|	 0		 1	 	 </a:t>
            </a:r>
            <a:r>
              <a:rPr lang="el-GR" altLang="en-US" sz="2000" i="1" u="sng" dirty="0">
                <a:cs typeface="Arial" panose="020B0604020202020204" pitchFamily="34" charset="0"/>
                <a:sym typeface="Symbol" panose="05050102010706020507" pitchFamily="18" charset="2"/>
              </a:rPr>
              <a:t></a:t>
            </a:r>
            <a:r>
              <a:rPr lang="en-US" altLang="en-US" sz="2000" i="1" u="sng" dirty="0">
                <a:cs typeface="Arial" panose="020B0604020202020204" pitchFamily="34" charset="0"/>
                <a:sym typeface="Symbol" panose="05050102010706020507" pitchFamily="18" charset="2"/>
              </a:rPr>
              <a:t>	</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1</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2</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2</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p>
          <a:p>
            <a:pPr lvl="1" eaLnBrk="1" hangingPunct="1">
              <a:spcBef>
                <a:spcPts val="0"/>
              </a:spcBef>
            </a:pP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is the start state.</a:t>
            </a:r>
          </a:p>
          <a:p>
            <a:pPr lvl="1" eaLnBrk="1" hangingPunct="1">
              <a:spcBef>
                <a:spcPts val="0"/>
              </a:spcBef>
            </a:pPr>
            <a:r>
              <a:rPr lang="en-US" altLang="en-US" sz="2000" i="1" dirty="0">
                <a:cs typeface="Arial" panose="020B0604020202020204" pitchFamily="34" charset="0"/>
                <a:sym typeface="Symbol" panose="05050102010706020507" pitchFamily="18" charset="2"/>
              </a:rPr>
              <a:t>F</a:t>
            </a:r>
            <a:r>
              <a:rPr lang="en-US" altLang="en-US" sz="2000" baseline="-25000" dirty="0"/>
              <a:t>1</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a:t>
            </a:r>
          </a:p>
        </p:txBody>
      </p:sp>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a:xfrm>
            <a:off x="19047" y="2093325"/>
            <a:ext cx="9105902" cy="344865"/>
          </a:xfrm>
        </p:spPr>
        <p:txBody>
          <a:bodyPr>
            <a:normAutofit fontScale="92500" lnSpcReduction="20000"/>
          </a:bodyPr>
          <a:lstStyle/>
          <a:p>
            <a:r>
              <a:rPr lang="en-US" b="1" dirty="0"/>
              <a:t>Formal Definition</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8" name="Picture Placeholder 7" descr="A close up of a clock&#10;&#10;Description automatically generated">
            <a:extLst>
              <a:ext uri="{FF2B5EF4-FFF2-40B4-BE49-F238E27FC236}">
                <a16:creationId xmlns:a16="http://schemas.microsoft.com/office/drawing/2014/main" id="{E7488809-D27F-4384-A766-FB1AB546B0B7}"/>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19047" y="779327"/>
            <a:ext cx="8427737" cy="1308553"/>
          </a:xfrm>
        </p:spPr>
      </p:pic>
      <p:sp>
        <p:nvSpPr>
          <p:cNvPr id="7" name="Content Placeholder 1">
            <a:extLst>
              <a:ext uri="{FF2B5EF4-FFF2-40B4-BE49-F238E27FC236}">
                <a16:creationId xmlns:a16="http://schemas.microsoft.com/office/drawing/2014/main" id="{EA4A226B-262C-4813-8F78-4FF8958F5753}"/>
              </a:ext>
            </a:extLst>
          </p:cNvPr>
          <p:cNvSpPr txBox="1">
            <a:spLocks/>
          </p:cNvSpPr>
          <p:nvPr/>
        </p:nvSpPr>
        <p:spPr>
          <a:xfrm>
            <a:off x="4571320" y="4338502"/>
            <a:ext cx="2362880" cy="2229938"/>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endParaRPr lang="en-US" altLang="en-US" sz="2200" dirty="0">
              <a:cs typeface="Arial" panose="020B0604020202020204" pitchFamily="34" charset="0"/>
              <a:sym typeface="Symbol" panose="05050102010706020507" pitchFamily="18" charset="2"/>
            </a:endParaRPr>
          </a:p>
        </p:txBody>
      </p:sp>
      <p:sp>
        <p:nvSpPr>
          <p:cNvPr id="6" name="Content Placeholder 1">
            <a:extLst>
              <a:ext uri="{FF2B5EF4-FFF2-40B4-BE49-F238E27FC236}">
                <a16:creationId xmlns:a16="http://schemas.microsoft.com/office/drawing/2014/main" id="{FAF4CB39-BB0D-40BF-B7FE-1EA20DF539E9}"/>
              </a:ext>
            </a:extLst>
          </p:cNvPr>
          <p:cNvSpPr txBox="1">
            <a:spLocks/>
          </p:cNvSpPr>
          <p:nvPr/>
        </p:nvSpPr>
        <p:spPr>
          <a:xfrm>
            <a:off x="7437121" y="3029776"/>
            <a:ext cx="1706880" cy="2225146"/>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endParaRPr lang="en-US" altLang="en-US" sz="2000" b="1" dirty="0">
              <a:solidFill>
                <a:srgbClr val="0070C0"/>
              </a:solidFill>
              <a:cs typeface="Arial" panose="020B0604020202020204" pitchFamily="34" charset="0"/>
              <a:sym typeface="Symbol" panose="05050102010706020507" pitchFamily="18" charset="2"/>
            </a:endParaRPr>
          </a:p>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0)</a:t>
            </a:r>
            <a:r>
              <a:rPr lang="en-US" altLang="en-US" sz="2000" b="1" dirty="0">
                <a:cs typeface="Arial" panose="020B0604020202020204" pitchFamily="34" charset="0"/>
                <a:sym typeface="Symbol" panose="05050102010706020507" pitchFamily="18" charset="2"/>
              </a:rPr>
              <a:t> =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r>
              <a:rPr lang="en-US" altLang="en-US" sz="2000" b="1" dirty="0">
                <a:cs typeface="Arial" panose="020B0604020202020204" pitchFamily="34" charset="0"/>
                <a:sym typeface="Symbol" panose="05050102010706020507" pitchFamily="18" charset="2"/>
              </a:rPr>
              <a:t> </a:t>
            </a:r>
          </a:p>
        </p:txBody>
      </p:sp>
      <p:sp>
        <p:nvSpPr>
          <p:cNvPr id="11" name="Content Placeholder 1">
            <a:extLst>
              <a:ext uri="{FF2B5EF4-FFF2-40B4-BE49-F238E27FC236}">
                <a16:creationId xmlns:a16="http://schemas.microsoft.com/office/drawing/2014/main" id="{2A2FBB6B-0CE2-4B11-AEB1-DFA32408DE4F}"/>
              </a:ext>
            </a:extLst>
          </p:cNvPr>
          <p:cNvSpPr txBox="1">
            <a:spLocks/>
          </p:cNvSpPr>
          <p:nvPr/>
        </p:nvSpPr>
        <p:spPr>
          <a:xfrm>
            <a:off x="5190993" y="2519498"/>
            <a:ext cx="3825919" cy="424488"/>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lgn="ctr">
              <a:spcBef>
                <a:spcPts val="0"/>
              </a:spcBef>
              <a:buNone/>
            </a:pPr>
            <a:r>
              <a:rPr lang="el-GR" altLang="en-US" sz="2000" i="1" dirty="0">
                <a:cs typeface="Arial" panose="020B0604020202020204" pitchFamily="34" charset="0"/>
                <a:sym typeface="Symbol" panose="05050102010706020507" pitchFamily="18" charset="2"/>
              </a:rPr>
              <a:t></a:t>
            </a:r>
            <a:r>
              <a:rPr lang="en-US" altLang="en-US" sz="2000" baseline="-25000" dirty="0"/>
              <a:t>1</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in form </a:t>
            </a:r>
            <a:r>
              <a:rPr lang="el-GR" altLang="en-US" sz="2000" b="1" i="1" dirty="0">
                <a:solidFill>
                  <a:srgbClr val="FF0000"/>
                </a:solidFill>
                <a:cs typeface="Arial" panose="020B0604020202020204" pitchFamily="34" charset="0"/>
                <a:sym typeface="Symbol" panose="05050102010706020507" pitchFamily="18" charset="2"/>
              </a:rPr>
              <a:t></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r>
              <a:rPr lang="en-US" altLang="en-US" sz="2000" b="1" i="1" dirty="0">
                <a:solidFill>
                  <a:srgbClr val="00B050"/>
                </a:solidFill>
                <a:cs typeface="Arial" panose="020B0604020202020204" pitchFamily="34" charset="0"/>
                <a:sym typeface="Symbol" panose="05050102010706020507" pitchFamily="18" charset="2"/>
              </a:rPr>
              <a:t>Q</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dirty="0">
                <a:solidFill>
                  <a:srgbClr val="00B050"/>
                </a:solidFill>
                <a:cs typeface="Arial" panose="020B0604020202020204" pitchFamily="34" charset="0"/>
              </a:rPr>
              <a:t>Σ</a:t>
            </a:r>
            <a:r>
              <a:rPr lang="el-GR" altLang="en-US" sz="2000" b="1" i="1" baseline="-25000"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 </a:t>
            </a:r>
            <a:r>
              <a:rPr lang="el-GR" altLang="en-US" sz="2000"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b="1"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2000" b="1" dirty="0">
                <a:solidFill>
                  <a:srgbClr val="0070C0"/>
                </a:solidFill>
                <a:cs typeface="Arial" panose="020B0604020202020204" pitchFamily="34" charset="0"/>
                <a:sym typeface="Symbol" panose="05050102010706020507" pitchFamily="18" charset="2"/>
              </a:rPr>
              <a:t>(</a:t>
            </a:r>
            <a:r>
              <a:rPr lang="en-US" altLang="en-US" sz="2000" b="1" i="1" dirty="0">
                <a:solidFill>
                  <a:srgbClr val="0070C0"/>
                </a:solidFill>
                <a:cs typeface="Arial" panose="020B0604020202020204" pitchFamily="34" charset="0"/>
                <a:sym typeface="Symbol" panose="05050102010706020507" pitchFamily="18" charset="2"/>
              </a:rPr>
              <a:t>Q</a:t>
            </a:r>
            <a:r>
              <a:rPr lang="en-US" altLang="en-US" sz="2000" b="1" dirty="0">
                <a:solidFill>
                  <a:srgbClr val="0070C0"/>
                </a:solidFill>
                <a:cs typeface="Arial" panose="020B0604020202020204" pitchFamily="34" charset="0"/>
                <a:sym typeface="Symbol" panose="05050102010706020507" pitchFamily="18" charset="2"/>
              </a:rPr>
              <a:t>)</a:t>
            </a:r>
          </a:p>
        </p:txBody>
      </p:sp>
      <p:sp>
        <p:nvSpPr>
          <p:cNvPr id="13" name="Content Placeholder 1">
            <a:extLst>
              <a:ext uri="{FF2B5EF4-FFF2-40B4-BE49-F238E27FC236}">
                <a16:creationId xmlns:a16="http://schemas.microsoft.com/office/drawing/2014/main" id="{6744501E-C967-4CCA-A702-95A1E4041478}"/>
              </a:ext>
            </a:extLst>
          </p:cNvPr>
          <p:cNvSpPr txBox="1">
            <a:spLocks/>
          </p:cNvSpPr>
          <p:nvPr/>
        </p:nvSpPr>
        <p:spPr>
          <a:xfrm>
            <a:off x="5190993" y="3029777"/>
            <a:ext cx="2195240" cy="2225146"/>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1</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1</a:t>
            </a:r>
            <a:r>
              <a:rPr lang="en-US" altLang="en-US" sz="2000" b="1" dirty="0">
                <a:solidFill>
                  <a:srgbClr val="0070C0"/>
                </a:solidFill>
                <a:cs typeface="Arial" panose="020B0604020202020204" pitchFamily="34" charset="0"/>
                <a:sym typeface="Symbol" panose="05050102010706020507" pitchFamily="18" charset="2"/>
              </a:rPr>
              <a:t>, a</a:t>
            </a:r>
            <a:r>
              <a:rPr lang="en-US" altLang="en-US" sz="2000" b="1" baseline="-25000" dirty="0">
                <a:solidFill>
                  <a:srgbClr val="0070C0"/>
                </a:solidFill>
                <a:cs typeface="Arial" panose="020B0604020202020204" pitchFamily="34" charset="0"/>
                <a:sym typeface="Symbol" panose="05050102010706020507" pitchFamily="18" charset="2"/>
              </a:rPr>
              <a:t>2</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endParaRPr lang="en-US" altLang="en-US" sz="2000" b="1" dirty="0">
              <a:solidFill>
                <a:srgbClr val="0070C0"/>
              </a:solidFill>
              <a:cs typeface="Arial" panose="020B0604020202020204" pitchFamily="34" charset="0"/>
              <a:sym typeface="Symbol" panose="05050102010706020507" pitchFamily="18" charset="2"/>
            </a:endParaRPr>
          </a:p>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3</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3</a:t>
            </a:r>
            <a:r>
              <a:rPr lang="en-US" altLang="en-US" sz="2000" b="1" dirty="0">
                <a:solidFill>
                  <a:srgbClr val="0070C0"/>
                </a:solidFill>
                <a:cs typeface="Arial" panose="020B0604020202020204" pitchFamily="34" charset="0"/>
                <a:sym typeface="Symbol" panose="05050102010706020507" pitchFamily="18" charset="2"/>
              </a:rPr>
              <a:t>} </a:t>
            </a:r>
          </a:p>
        </p:txBody>
      </p:sp>
      <p:sp>
        <p:nvSpPr>
          <p:cNvPr id="14" name="Content Placeholder 1">
            <a:extLst>
              <a:ext uri="{FF2B5EF4-FFF2-40B4-BE49-F238E27FC236}">
                <a16:creationId xmlns:a16="http://schemas.microsoft.com/office/drawing/2014/main" id="{8A4EF7D4-2034-4ADB-B030-07035591CE71}"/>
              </a:ext>
            </a:extLst>
          </p:cNvPr>
          <p:cNvSpPr txBox="1">
            <a:spLocks/>
          </p:cNvSpPr>
          <p:nvPr/>
        </p:nvSpPr>
        <p:spPr>
          <a:xfrm>
            <a:off x="17692" y="5593080"/>
            <a:ext cx="9105901" cy="1130023"/>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spcBef>
                <a:spcPts val="0"/>
              </a:spcBef>
              <a:buNone/>
            </a:pPr>
            <a:r>
              <a:rPr lang="en-US" altLang="en-US" sz="1800" b="1" i="1" dirty="0">
                <a:solidFill>
                  <a:srgbClr val="00B050"/>
                </a:solidFill>
                <a:cs typeface="Arial" panose="020B0604020202020204" pitchFamily="34" charset="0"/>
                <a:sym typeface="Symbol" panose="05050102010706020507" pitchFamily="18" charset="2"/>
              </a:rPr>
              <a:t>Q</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dirty="0">
                <a:solidFill>
                  <a:srgbClr val="00B050"/>
                </a:solidFill>
                <a:cs typeface="Arial" panose="020B0604020202020204" pitchFamily="34" charset="0"/>
              </a:rPr>
              <a:t>Σ</a:t>
            </a:r>
            <a:r>
              <a:rPr lang="el-GR" altLang="en-US" sz="1800" b="1" i="1" baseline="-25000" dirty="0">
                <a:solidFill>
                  <a:srgbClr val="00B050"/>
                </a:solidFill>
                <a:cs typeface="Arial" panose="020B0604020202020204" pitchFamily="34" charset="0"/>
                <a:sym typeface="Symbol" panose="05050102010706020507" pitchFamily="18" charset="2"/>
              </a:rPr>
              <a:t> </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a:t>
            </a:r>
          </a:p>
          <a:p>
            <a:pPr marL="0" indent="0">
              <a:spcBef>
                <a:spcPts val="0"/>
              </a:spcBef>
              <a:buNone/>
            </a:pPr>
            <a:r>
              <a:rPr lang="en-US" altLang="en-US" sz="1800" b="1"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Q</a:t>
            </a:r>
            <a:r>
              <a:rPr lang="en-US" altLang="en-US" sz="1800" b="1" dirty="0">
                <a:solidFill>
                  <a:srgbClr val="0070C0"/>
                </a:solidFill>
                <a:cs typeface="Arial" panose="020B0604020202020204" pitchFamily="34" charset="0"/>
                <a:sym typeface="Symbol" panose="05050102010706020507" pitchFamily="18" charset="2"/>
              </a:rPr>
              <a:t>) = {</a:t>
            </a:r>
            <a:r>
              <a:rPr lang="en-US" altLang="en-US" sz="1800" b="1" i="1" dirty="0">
                <a:solidFill>
                  <a:srgbClr val="0070C0"/>
                </a:solidFill>
                <a:cs typeface="Arial" panose="020B0604020202020204" pitchFamily="34" charset="0"/>
                <a:sym typeface="Symbol" panose="05050102010706020507" pitchFamily="18" charset="2"/>
              </a:rPr>
              <a:t></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a:t>
            </a:r>
            <a:br>
              <a:rPr lang="en-US" altLang="en-US" sz="1800" b="1" dirty="0">
                <a:solidFill>
                  <a:srgbClr val="0070C0"/>
                </a:solidFill>
                <a:cs typeface="Arial" panose="020B0604020202020204" pitchFamily="34" charset="0"/>
                <a:sym typeface="Symbol" panose="05050102010706020507" pitchFamily="18" charset="2"/>
              </a:rPr>
            </a:b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 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280333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left)">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left)">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iterate type="lt">
                                    <p:tmAbs val="0"/>
                                  </p:iterate>
                                  <p:childTnLst>
                                    <p:set>
                                      <p:cBhvr>
                                        <p:cTn id="5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wipe(left)">
                                      <p:cBhvr>
                                        <p:cTn id="61" dur="500"/>
                                        <p:tgtEl>
                                          <p:spTgt spid="14">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4">
                                            <p:txEl>
                                              <p:pRg st="1" end="1"/>
                                            </p:txEl>
                                          </p:spTgt>
                                        </p:tgtEl>
                                        <p:attrNameLst>
                                          <p:attrName>style.visibility</p:attrName>
                                        </p:attrNameLst>
                                      </p:cBhvr>
                                      <p:to>
                                        <p:strVal val="visible"/>
                                      </p:to>
                                    </p:set>
                                    <p:animEffect transition="in" filter="wipe(left)">
                                      <p:cBhvr>
                                        <p:cTn id="66" dur="500"/>
                                        <p:tgtEl>
                                          <p:spTgt spid="14">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3">
                                            <p:txEl>
                                              <p:pRg st="0" end="0"/>
                                            </p:txEl>
                                          </p:spTgt>
                                        </p:tgtEl>
                                        <p:attrNameLst>
                                          <p:attrName>style.visibility</p:attrName>
                                        </p:attrNameLst>
                                      </p:cBhvr>
                                      <p:to>
                                        <p:strVal val="visible"/>
                                      </p:to>
                                    </p:set>
                                    <p:animEffect transition="in" filter="wipe(left)">
                                      <p:cBhvr>
                                        <p:cTn id="71" dur="500"/>
                                        <p:tgtEl>
                                          <p:spTgt spid="13">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3">
                                            <p:txEl>
                                              <p:pRg st="1" end="1"/>
                                            </p:txEl>
                                          </p:spTgt>
                                        </p:tgtEl>
                                        <p:attrNameLst>
                                          <p:attrName>style.visibility</p:attrName>
                                        </p:attrNameLst>
                                      </p:cBhvr>
                                      <p:to>
                                        <p:strVal val="visible"/>
                                      </p:to>
                                    </p:set>
                                    <p:animEffect transition="in" filter="wipe(left)">
                                      <p:cBhvr>
                                        <p:cTn id="76" dur="500"/>
                                        <p:tgtEl>
                                          <p:spTgt spid="13">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
                                            <p:txEl>
                                              <p:pRg st="0" end="0"/>
                                            </p:txEl>
                                          </p:spTgt>
                                        </p:tgtEl>
                                        <p:attrNameLst>
                                          <p:attrName>style.visibility</p:attrName>
                                        </p:attrNameLst>
                                      </p:cBhvr>
                                      <p:to>
                                        <p:strVal val="visible"/>
                                      </p:to>
                                    </p:set>
                                    <p:animEffect transition="in" filter="wipe(left)">
                                      <p:cBhvr>
                                        <p:cTn id="81" dur="500"/>
                                        <p:tgtEl>
                                          <p:spTgt spid="6">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6">
                                            <p:txEl>
                                              <p:pRg st="1" end="1"/>
                                            </p:txEl>
                                          </p:spTgt>
                                        </p:tgtEl>
                                        <p:attrNameLst>
                                          <p:attrName>style.visibility</p:attrName>
                                        </p:attrNameLst>
                                      </p:cBhvr>
                                      <p:to>
                                        <p:strVal val="visible"/>
                                      </p:to>
                                    </p:set>
                                    <p:animEffect transition="in" filter="wipe(left)">
                                      <p:cBhvr>
                                        <p:cTn id="86"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F84C92-44D4-4265-BD37-08C85CE261F5}"/>
              </a:ext>
            </a:extLst>
          </p:cNvPr>
          <p:cNvSpPr>
            <a:spLocks noGrp="1"/>
          </p:cNvSpPr>
          <p:nvPr>
            <p:ph type="ftr" sz="quarter" idx="11"/>
          </p:nvPr>
        </p:nvSpPr>
        <p:spPr/>
        <p:txBody>
          <a:bodyPr/>
          <a:lstStyle/>
          <a:p>
            <a:r>
              <a:rPr lang="en-US"/>
              <a:t>CSC3113: Theory of Computation</a:t>
            </a:r>
          </a:p>
        </p:txBody>
      </p:sp>
      <p:sp>
        <p:nvSpPr>
          <p:cNvPr id="4" name="Subtitle 3">
            <a:extLst>
              <a:ext uri="{FF2B5EF4-FFF2-40B4-BE49-F238E27FC236}">
                <a16:creationId xmlns:a16="http://schemas.microsoft.com/office/drawing/2014/main" id="{1A52C3C7-0CEC-4D17-83FD-330A5EF1DBC2}"/>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661A5340-EA66-4E1C-ACFA-CD1E9B43D5E3}"/>
              </a:ext>
            </a:extLst>
          </p:cNvPr>
          <p:cNvSpPr>
            <a:spLocks noGrp="1"/>
          </p:cNvSpPr>
          <p:nvPr>
            <p:ph type="body" sz="quarter" idx="13"/>
          </p:nvPr>
        </p:nvSpPr>
        <p:spPr>
          <a:xfrm>
            <a:off x="896528" y="2804159"/>
            <a:ext cx="7585075" cy="2106057"/>
          </a:xfrm>
        </p:spPr>
        <p:txBody>
          <a:bodyPr/>
          <a:lstStyle/>
          <a:p>
            <a:pPr algn="ctr"/>
            <a:r>
              <a:rPr lang="en-US" dirty="0"/>
              <a:t>Practice NFA</a:t>
            </a:r>
          </a:p>
        </p:txBody>
      </p:sp>
    </p:spTree>
    <p:extLst>
      <p:ext uri="{BB962C8B-B14F-4D97-AF65-F5344CB8AC3E}">
        <p14:creationId xmlns:p14="http://schemas.microsoft.com/office/powerpoint/2010/main" val="2384780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6C064613-26CC-4CA4-8B38-6DD4B90E8E12}"/>
              </a:ext>
            </a:extLst>
          </p:cNvPr>
          <p:cNvSpPr/>
          <p:nvPr/>
        </p:nvSpPr>
        <p:spPr>
          <a:xfrm>
            <a:off x="2204357" y="333428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9" name="Rectangle: Rounded Corners 38">
            <a:extLst>
              <a:ext uri="{FF2B5EF4-FFF2-40B4-BE49-F238E27FC236}">
                <a16:creationId xmlns:a16="http://schemas.microsoft.com/office/drawing/2014/main" id="{BD91F170-586A-43FE-997C-8D3D7C1D29A8}"/>
              </a:ext>
            </a:extLst>
          </p:cNvPr>
          <p:cNvSpPr/>
          <p:nvPr/>
        </p:nvSpPr>
        <p:spPr>
          <a:xfrm>
            <a:off x="3402493" y="399475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26097" y="947057"/>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4455178" y="280283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6435471" y="106408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370913" y="114299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B1 ={w : w is a binary string containing an odd number of 1s}.</a:t>
            </a:r>
          </a:p>
          <a:p>
            <a:pPr>
              <a:spcBef>
                <a:spcPts val="0"/>
              </a:spcBef>
            </a:pPr>
            <a:r>
              <a:rPr lang="en-US" sz="2400" cap="none" dirty="0"/>
              <a:t>B2 ={w : w is a binary string containing an even number of 0s}.</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747157"/>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747157"/>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1843307"/>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171700"/>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nector: Curved 11">
            <a:extLst>
              <a:ext uri="{FF2B5EF4-FFF2-40B4-BE49-F238E27FC236}">
                <a16:creationId xmlns:a16="http://schemas.microsoft.com/office/drawing/2014/main" id="{60D00A1C-9561-4F45-8FE8-B17E011227B1}"/>
              </a:ext>
            </a:extLst>
          </p:cNvPr>
          <p:cNvCxnSpPr>
            <a:stCxn id="4" idx="7"/>
            <a:endCxn id="5" idx="1"/>
          </p:cNvCxnSpPr>
          <p:nvPr/>
        </p:nvCxnSpPr>
        <p:spPr>
          <a:xfrm rot="5400000" flipH="1" flipV="1">
            <a:off x="4746172" y="595663"/>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85489E31-9AAC-4560-89A7-44EEDEDEDEB4}"/>
              </a:ext>
            </a:extLst>
          </p:cNvPr>
          <p:cNvCxnSpPr>
            <a:stCxn id="5" idx="3"/>
            <a:endCxn id="4" idx="5"/>
          </p:cNvCxnSpPr>
          <p:nvPr/>
        </p:nvCxnSpPr>
        <p:spPr>
          <a:xfrm rot="5400000">
            <a:off x="4746172" y="1196057"/>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Curved 17">
            <a:extLst>
              <a:ext uri="{FF2B5EF4-FFF2-40B4-BE49-F238E27FC236}">
                <a16:creationId xmlns:a16="http://schemas.microsoft.com/office/drawing/2014/main" id="{16A737BC-6FDB-4C0C-B26F-5778B1189B8C}"/>
              </a:ext>
            </a:extLst>
          </p:cNvPr>
          <p:cNvCxnSpPr>
            <a:cxnSpLocks/>
            <a:stCxn id="4" idx="1"/>
            <a:endCxn id="4" idx="0"/>
          </p:cNvCxnSpPr>
          <p:nvPr/>
        </p:nvCxnSpPr>
        <p:spPr>
          <a:xfrm rot="5400000" flipH="1" flipV="1">
            <a:off x="2966522" y="1662118"/>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899A57D-414D-4E8E-823B-04C2F81DFF14}"/>
              </a:ext>
            </a:extLst>
          </p:cNvPr>
          <p:cNvCxnSpPr>
            <a:stCxn id="5" idx="0"/>
            <a:endCxn id="5" idx="7"/>
          </p:cNvCxnSpPr>
          <p:nvPr/>
        </p:nvCxnSpPr>
        <p:spPr>
          <a:xfrm rot="16200000" flipH="1">
            <a:off x="6401476" y="1662118"/>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9DDF094-676A-4C42-87C2-6AC6ED82838E}"/>
              </a:ext>
            </a:extLst>
          </p:cNvPr>
          <p:cNvSpPr txBox="1"/>
          <p:nvPr/>
        </p:nvSpPr>
        <p:spPr>
          <a:xfrm>
            <a:off x="584200" y="1954053"/>
            <a:ext cx="718853" cy="510778"/>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B</a:t>
            </a:r>
            <a:r>
              <a:rPr lang="en-US" sz="2400" b="1" dirty="0">
                <a:latin typeface="+mj-lt"/>
              </a:rPr>
              <a:t>1</a:t>
            </a:r>
          </a:p>
        </p:txBody>
      </p:sp>
      <p:sp>
        <p:nvSpPr>
          <p:cNvPr id="19" name="Rectangle: Rounded Corners 18">
            <a:extLst>
              <a:ext uri="{FF2B5EF4-FFF2-40B4-BE49-F238E27FC236}">
                <a16:creationId xmlns:a16="http://schemas.microsoft.com/office/drawing/2014/main" id="{F0CF69BE-6F7B-4D1F-B7EE-EE9EA869E018}"/>
              </a:ext>
            </a:extLst>
          </p:cNvPr>
          <p:cNvSpPr/>
          <p:nvPr/>
        </p:nvSpPr>
        <p:spPr>
          <a:xfrm>
            <a:off x="3999281" y="315511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0" name="Rectangle: Rounded Corners 19">
            <a:extLst>
              <a:ext uri="{FF2B5EF4-FFF2-40B4-BE49-F238E27FC236}">
                <a16:creationId xmlns:a16="http://schemas.microsoft.com/office/drawing/2014/main" id="{69E6C0D6-D28F-4DE8-82C4-C759F7293C54}"/>
              </a:ext>
            </a:extLst>
          </p:cNvPr>
          <p:cNvSpPr/>
          <p:nvPr/>
        </p:nvSpPr>
        <p:spPr>
          <a:xfrm>
            <a:off x="6028362" y="501089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2" name="Rectangle: Rounded Corners 21">
            <a:extLst>
              <a:ext uri="{FF2B5EF4-FFF2-40B4-BE49-F238E27FC236}">
                <a16:creationId xmlns:a16="http://schemas.microsoft.com/office/drawing/2014/main" id="{9CDE3375-01AD-4FCE-988B-85CA2DC5EF08}"/>
              </a:ext>
            </a:extLst>
          </p:cNvPr>
          <p:cNvSpPr/>
          <p:nvPr/>
        </p:nvSpPr>
        <p:spPr>
          <a:xfrm>
            <a:off x="8008655" y="327214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7" name="Rectangle: Rounded Corners 26">
            <a:extLst>
              <a:ext uri="{FF2B5EF4-FFF2-40B4-BE49-F238E27FC236}">
                <a16:creationId xmlns:a16="http://schemas.microsoft.com/office/drawing/2014/main" id="{5F2D0FAF-270D-45BD-9C7C-6D7312698102}"/>
              </a:ext>
            </a:extLst>
          </p:cNvPr>
          <p:cNvSpPr/>
          <p:nvPr/>
        </p:nvSpPr>
        <p:spPr>
          <a:xfrm>
            <a:off x="5944097" y="335105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8" name="Oval 27">
            <a:extLst>
              <a:ext uri="{FF2B5EF4-FFF2-40B4-BE49-F238E27FC236}">
                <a16:creationId xmlns:a16="http://schemas.microsoft.com/office/drawing/2014/main" id="{C872AB96-A1AF-44FA-A65A-D37A00C0895E}"/>
              </a:ext>
            </a:extLst>
          </p:cNvPr>
          <p:cNvSpPr/>
          <p:nvPr/>
        </p:nvSpPr>
        <p:spPr>
          <a:xfrm>
            <a:off x="4332713" y="395521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29" name="Oval 28">
            <a:extLst>
              <a:ext uri="{FF2B5EF4-FFF2-40B4-BE49-F238E27FC236}">
                <a16:creationId xmlns:a16="http://schemas.microsoft.com/office/drawing/2014/main" id="{D28584C7-7813-41FC-B88A-D7B2E785ABC0}"/>
              </a:ext>
            </a:extLst>
          </p:cNvPr>
          <p:cNvSpPr/>
          <p:nvPr/>
        </p:nvSpPr>
        <p:spPr>
          <a:xfrm>
            <a:off x="7473242" y="395521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30" name="Oval 29">
            <a:extLst>
              <a:ext uri="{FF2B5EF4-FFF2-40B4-BE49-F238E27FC236}">
                <a16:creationId xmlns:a16="http://schemas.microsoft.com/office/drawing/2014/main" id="{30331513-B1F4-4596-831B-44F5E176B9D9}"/>
              </a:ext>
            </a:extLst>
          </p:cNvPr>
          <p:cNvSpPr/>
          <p:nvPr/>
        </p:nvSpPr>
        <p:spPr>
          <a:xfrm>
            <a:off x="7552408" y="4081708"/>
            <a:ext cx="654826" cy="606968"/>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81182A76-B7C7-48A0-A6F2-AF3E98D7D3A5}"/>
              </a:ext>
            </a:extLst>
          </p:cNvPr>
          <p:cNvCxnSpPr>
            <a:cxnSpLocks/>
          </p:cNvCxnSpPr>
          <p:nvPr/>
        </p:nvCxnSpPr>
        <p:spPr>
          <a:xfrm>
            <a:off x="1315754" y="4361318"/>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2" name="Connector: Curved 31">
            <a:extLst>
              <a:ext uri="{FF2B5EF4-FFF2-40B4-BE49-F238E27FC236}">
                <a16:creationId xmlns:a16="http://schemas.microsoft.com/office/drawing/2014/main" id="{1F52D3DD-8919-4222-AF6D-979BE21B98F8}"/>
              </a:ext>
            </a:extLst>
          </p:cNvPr>
          <p:cNvCxnSpPr>
            <a:stCxn id="28" idx="7"/>
            <a:endCxn id="29" idx="1"/>
          </p:cNvCxnSpPr>
          <p:nvPr/>
        </p:nvCxnSpPr>
        <p:spPr>
          <a:xfrm rot="5400000" flipH="1" flipV="1">
            <a:off x="6319356" y="280371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DEC70C22-E86A-4385-8568-9711F5C00236}"/>
              </a:ext>
            </a:extLst>
          </p:cNvPr>
          <p:cNvCxnSpPr>
            <a:stCxn id="29" idx="3"/>
            <a:endCxn id="28" idx="5"/>
          </p:cNvCxnSpPr>
          <p:nvPr/>
        </p:nvCxnSpPr>
        <p:spPr>
          <a:xfrm rot="5400000">
            <a:off x="6319356" y="3404110"/>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Connector: Curved 33">
            <a:extLst>
              <a:ext uri="{FF2B5EF4-FFF2-40B4-BE49-F238E27FC236}">
                <a16:creationId xmlns:a16="http://schemas.microsoft.com/office/drawing/2014/main" id="{CD5CE290-E88F-4F79-B593-932D84A24F76}"/>
              </a:ext>
            </a:extLst>
          </p:cNvPr>
          <p:cNvCxnSpPr>
            <a:cxnSpLocks/>
            <a:stCxn id="28" idx="1"/>
            <a:endCxn id="28" idx="0"/>
          </p:cNvCxnSpPr>
          <p:nvPr/>
        </p:nvCxnSpPr>
        <p:spPr>
          <a:xfrm rot="5400000" flipH="1" flipV="1">
            <a:off x="4539706" y="3870171"/>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B0D9FC47-3F71-47D0-B399-AD59E2CC365D}"/>
              </a:ext>
            </a:extLst>
          </p:cNvPr>
          <p:cNvCxnSpPr>
            <a:stCxn id="29" idx="0"/>
            <a:endCxn id="29" idx="7"/>
          </p:cNvCxnSpPr>
          <p:nvPr/>
        </p:nvCxnSpPr>
        <p:spPr>
          <a:xfrm rot="16200000" flipH="1">
            <a:off x="7974660" y="3870171"/>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09FFB73-EDD7-467D-B466-45847347B911}"/>
              </a:ext>
            </a:extLst>
          </p:cNvPr>
          <p:cNvSpPr txBox="1"/>
          <p:nvPr/>
        </p:nvSpPr>
        <p:spPr>
          <a:xfrm>
            <a:off x="526142" y="4130486"/>
            <a:ext cx="776911" cy="510778"/>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B</a:t>
            </a:r>
            <a:r>
              <a:rPr lang="en-US" sz="2400" b="1" dirty="0">
                <a:latin typeface="+mj-lt"/>
              </a:rPr>
              <a:t>2</a:t>
            </a:r>
          </a:p>
        </p:txBody>
      </p:sp>
      <p:sp>
        <p:nvSpPr>
          <p:cNvPr id="37" name="Oval 36">
            <a:extLst>
              <a:ext uri="{FF2B5EF4-FFF2-40B4-BE49-F238E27FC236}">
                <a16:creationId xmlns:a16="http://schemas.microsoft.com/office/drawing/2014/main" id="{1715345E-081B-4F5A-86C2-A907BF95018D}"/>
              </a:ext>
            </a:extLst>
          </p:cNvPr>
          <p:cNvSpPr/>
          <p:nvPr/>
        </p:nvSpPr>
        <p:spPr>
          <a:xfrm>
            <a:off x="2426097" y="393629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cxnSp>
        <p:nvCxnSpPr>
          <p:cNvPr id="11" name="Straight Arrow Connector 10">
            <a:extLst>
              <a:ext uri="{FF2B5EF4-FFF2-40B4-BE49-F238E27FC236}">
                <a16:creationId xmlns:a16="http://schemas.microsoft.com/office/drawing/2014/main" id="{9A361B4A-739E-4D5C-AA29-F8576BF74618}"/>
              </a:ext>
            </a:extLst>
          </p:cNvPr>
          <p:cNvCxnSpPr>
            <a:stCxn id="37" idx="6"/>
            <a:endCxn id="28" idx="2"/>
          </p:cNvCxnSpPr>
          <p:nvPr/>
        </p:nvCxnSpPr>
        <p:spPr>
          <a:xfrm>
            <a:off x="3258854" y="4360834"/>
            <a:ext cx="1073859" cy="1891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nector: Curved 14">
            <a:extLst>
              <a:ext uri="{FF2B5EF4-FFF2-40B4-BE49-F238E27FC236}">
                <a16:creationId xmlns:a16="http://schemas.microsoft.com/office/drawing/2014/main" id="{02C0DE9C-04F8-4706-8CE6-00DAD9561CBB}"/>
              </a:ext>
            </a:extLst>
          </p:cNvPr>
          <p:cNvCxnSpPr>
            <a:stCxn id="37" idx="1"/>
            <a:endCxn id="37" idx="7"/>
          </p:cNvCxnSpPr>
          <p:nvPr/>
        </p:nvCxnSpPr>
        <p:spPr>
          <a:xfrm rot="5400000" flipH="1" flipV="1">
            <a:off x="2842475" y="3766213"/>
            <a:ext cx="12700" cy="588849"/>
          </a:xfrm>
          <a:prstGeom prst="curvedConnector3">
            <a:avLst>
              <a:gd name="adj1" fmla="val 48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45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par>
                          <p:cTn id="22" fill="hold">
                            <p:stCondLst>
                              <p:cond delay="500"/>
                            </p:stCondLst>
                            <p:childTnLst>
                              <p:par>
                                <p:cTn id="23" presetID="21" presetClass="entr" presetSubtype="8" fill="hold" nodeType="afterEffect">
                                  <p:stCondLst>
                                    <p:cond delay="200"/>
                                  </p:stCondLst>
                                  <p:childTnLst>
                                    <p:set>
                                      <p:cBhvr>
                                        <p:cTn id="24" dur="1" fill="hold">
                                          <p:stCondLst>
                                            <p:cond delay="0"/>
                                          </p:stCondLst>
                                        </p:cTn>
                                        <p:tgtEl>
                                          <p:spTgt spid="12"/>
                                        </p:tgtEl>
                                        <p:attrNameLst>
                                          <p:attrName>style.visibility</p:attrName>
                                        </p:attrNameLst>
                                      </p:cBhvr>
                                      <p:to>
                                        <p:strVal val="visible"/>
                                      </p:to>
                                    </p:set>
                                    <p:animEffect transition="in" filter="wheel(8)">
                                      <p:cBhvr>
                                        <p:cTn id="25" dur="1000"/>
                                        <p:tgtEl>
                                          <p:spTgt spid="12"/>
                                        </p:tgtEl>
                                      </p:cBhvr>
                                    </p:animEffect>
                                  </p:childTnLst>
                                </p:cTn>
                              </p:par>
                            </p:childTnLst>
                          </p:cTn>
                        </p:par>
                        <p:par>
                          <p:cTn id="26" fill="hold">
                            <p:stCondLst>
                              <p:cond delay="1700"/>
                            </p:stCondLst>
                            <p:childTnLst>
                              <p:par>
                                <p:cTn id="27" presetID="1" presetClass="entr" presetSubtype="0" fill="hold" grpId="0" nodeType="afterEffect">
                                  <p:stCondLst>
                                    <p:cond delay="20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heel(8)">
                                      <p:cBhvr>
                                        <p:cTn id="38" dur="1000"/>
                                        <p:tgtEl>
                                          <p:spTgt spid="14"/>
                                        </p:tgtEl>
                                      </p:cBhvr>
                                    </p:animEffect>
                                  </p:childTnLst>
                                </p:cTn>
                              </p:par>
                            </p:childTnLst>
                          </p:cTn>
                        </p:par>
                        <p:par>
                          <p:cTn id="39" fill="hold">
                            <p:stCondLst>
                              <p:cond delay="1000"/>
                            </p:stCondLst>
                            <p:childTnLst>
                              <p:par>
                                <p:cTn id="40" presetID="1" presetClass="entr" presetSubtype="0" fill="hold" grpId="0" nodeType="afterEffect">
                                  <p:stCondLst>
                                    <p:cond delay="20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heel(8)">
                                      <p:cBhvr>
                                        <p:cTn id="46" dur="1000"/>
                                        <p:tgtEl>
                                          <p:spTgt spid="18"/>
                                        </p:tgtEl>
                                      </p:cBhvr>
                                    </p:animEffect>
                                  </p:childTnLst>
                                </p:cTn>
                              </p:par>
                            </p:childTnLst>
                          </p:cTn>
                        </p:par>
                        <p:par>
                          <p:cTn id="47" fill="hold">
                            <p:stCondLst>
                              <p:cond delay="1000"/>
                            </p:stCondLst>
                            <p:childTnLst>
                              <p:par>
                                <p:cTn id="48" presetID="1" presetClass="entr" presetSubtype="0" fill="hold" grpId="0" nodeType="afterEffect">
                                  <p:stCondLst>
                                    <p:cond delay="20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heel(8)">
                                      <p:cBhvr>
                                        <p:cTn id="54" dur="1000"/>
                                        <p:tgtEl>
                                          <p:spTgt spid="21"/>
                                        </p:tgtEl>
                                      </p:cBhvr>
                                    </p:animEffect>
                                  </p:childTnLst>
                                </p:cTn>
                              </p:par>
                            </p:childTnLst>
                          </p:cTn>
                        </p:par>
                        <p:par>
                          <p:cTn id="55" fill="hold">
                            <p:stCondLst>
                              <p:cond delay="1000"/>
                            </p:stCondLst>
                            <p:childTnLst>
                              <p:par>
                                <p:cTn id="56" presetID="1" presetClass="entr" presetSubtype="0" fill="hold" grpId="0" nodeType="afterEffect">
                                  <p:stCondLst>
                                    <p:cond delay="200"/>
                                  </p:stCondLst>
                                  <p:childTnLst>
                                    <p:set>
                                      <p:cBhvr>
                                        <p:cTn id="57" dur="1" fill="hold">
                                          <p:stCondLst>
                                            <p:cond delay="0"/>
                                          </p:stCondLst>
                                        </p:cTn>
                                        <p:tgtEl>
                                          <p:spTgt spid="2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0-#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down)">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heel(8)">
                                      <p:cBhvr>
                                        <p:cTn id="76" dur="1000"/>
                                        <p:tgtEl>
                                          <p:spTgt spid="11"/>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wipe(down)">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heel(8)">
                                      <p:cBhvr>
                                        <p:cTn id="88" dur="1000"/>
                                        <p:tgtEl>
                                          <p:spTgt spid="32"/>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down)">
                                      <p:cBhvr>
                                        <p:cTn id="95" dur="500"/>
                                        <p:tgtEl>
                                          <p:spTgt spid="2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down)">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wheel(8)">
                                      <p:cBhvr>
                                        <p:cTn id="105" dur="1000"/>
                                        <p:tgtEl>
                                          <p:spTgt spid="33"/>
                                        </p:tgtEl>
                                      </p:cBhvr>
                                    </p:animEffect>
                                  </p:childTnLst>
                                </p:cTn>
                              </p:par>
                            </p:childTnLst>
                          </p:cTn>
                        </p:par>
                        <p:par>
                          <p:cTn id="106" fill="hold">
                            <p:stCondLst>
                              <p:cond delay="1000"/>
                            </p:stCondLst>
                            <p:childTnLst>
                              <p:par>
                                <p:cTn id="107" presetID="1" presetClass="entr" presetSubtype="0" fill="hold" grpId="0" nodeType="afterEffect">
                                  <p:stCondLst>
                                    <p:cond delay="200"/>
                                  </p:stCondLst>
                                  <p:childTnLst>
                                    <p:set>
                                      <p:cBhvr>
                                        <p:cTn id="108" dur="1" fill="hold">
                                          <p:stCondLst>
                                            <p:cond delay="0"/>
                                          </p:stCondLst>
                                        </p:cTn>
                                        <p:tgtEl>
                                          <p:spTgt spid="2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heel(8)">
                                      <p:cBhvr>
                                        <p:cTn id="113" dur="1000"/>
                                        <p:tgtEl>
                                          <p:spTgt spid="35"/>
                                        </p:tgtEl>
                                      </p:cBhvr>
                                    </p:animEffect>
                                  </p:childTnLst>
                                </p:cTn>
                              </p:par>
                            </p:childTnLst>
                          </p:cTn>
                        </p:par>
                        <p:par>
                          <p:cTn id="114" fill="hold">
                            <p:stCondLst>
                              <p:cond delay="1000"/>
                            </p:stCondLst>
                            <p:childTnLst>
                              <p:par>
                                <p:cTn id="115" presetID="1" presetClass="entr" presetSubtype="0" fill="hold" grpId="0" nodeType="afterEffect">
                                  <p:stCondLst>
                                    <p:cond delay="200"/>
                                  </p:stCondLst>
                                  <p:childTnLst>
                                    <p:set>
                                      <p:cBhvr>
                                        <p:cTn id="116" dur="1" fill="hold">
                                          <p:stCondLst>
                                            <p:cond delay="0"/>
                                          </p:stCondLst>
                                        </p:cTn>
                                        <p:tgtEl>
                                          <p:spTgt spid="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wheel(8)">
                                      <p:cBhvr>
                                        <p:cTn id="121" dur="1000"/>
                                        <p:tgtEl>
                                          <p:spTgt spid="34"/>
                                        </p:tgtEl>
                                      </p:cBhvr>
                                    </p:animEffect>
                                  </p:childTnLst>
                                </p:cTn>
                              </p:par>
                            </p:childTnLst>
                          </p:cTn>
                        </p:par>
                        <p:par>
                          <p:cTn id="122" fill="hold">
                            <p:stCondLst>
                              <p:cond delay="1000"/>
                            </p:stCondLst>
                            <p:childTnLst>
                              <p:par>
                                <p:cTn id="123" presetID="1" presetClass="entr" presetSubtype="0" fill="hold" grpId="0" nodeType="afterEffect">
                                  <p:stCondLst>
                                    <p:cond delay="20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1" presetClass="entr" presetSubtype="8" fill="hold" nodeType="clickEffect">
                                  <p:stCondLst>
                                    <p:cond delay="0"/>
                                  </p:stCondLst>
                                  <p:childTnLst>
                                    <p:set>
                                      <p:cBhvr>
                                        <p:cTn id="128" dur="1" fill="hold">
                                          <p:stCondLst>
                                            <p:cond delay="0"/>
                                          </p:stCondLst>
                                        </p:cTn>
                                        <p:tgtEl>
                                          <p:spTgt spid="15"/>
                                        </p:tgtEl>
                                        <p:attrNameLst>
                                          <p:attrName>style.visibility</p:attrName>
                                        </p:attrNameLst>
                                      </p:cBhvr>
                                      <p:to>
                                        <p:strVal val="visible"/>
                                      </p:to>
                                    </p:set>
                                    <p:animEffect transition="in" filter="wheel(8)">
                                      <p:cBhvr>
                                        <p:cTn id="129" dur="1000"/>
                                        <p:tgtEl>
                                          <p:spTgt spid="15"/>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23" grpId="0" animBg="1"/>
      <p:bldP spid="24" grpId="0" animBg="1"/>
      <p:bldP spid="25" grpId="0" animBg="1"/>
      <p:bldP spid="26" grpId="0" animBg="1"/>
      <p:bldP spid="4" grpId="0" animBg="1"/>
      <p:bldP spid="5" grpId="0" animBg="1"/>
      <p:bldP spid="6" grpId="0" animBg="1"/>
      <p:bldP spid="7" grpId="0" animBg="1"/>
      <p:bldP spid="19" grpId="0" animBg="1"/>
      <p:bldP spid="20" grpId="0" animBg="1"/>
      <p:bldP spid="22" grpId="0" animBg="1"/>
      <p:bldP spid="27" grpId="0" animBg="1"/>
      <p:bldP spid="28" grpId="0" animBg="1"/>
      <p:bldP spid="29" grpId="0" animBg="1"/>
      <p:bldP spid="30" grpId="0" animBg="1"/>
      <p:bldP spid="3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Rounded Corners 70">
            <a:extLst>
              <a:ext uri="{FF2B5EF4-FFF2-40B4-BE49-F238E27FC236}">
                <a16:creationId xmlns:a16="http://schemas.microsoft.com/office/drawing/2014/main" id="{D797B254-10D8-42BD-81D6-2CEE97D8A527}"/>
              </a:ext>
            </a:extLst>
          </p:cNvPr>
          <p:cNvSpPr/>
          <p:nvPr/>
        </p:nvSpPr>
        <p:spPr>
          <a:xfrm>
            <a:off x="5146364" y="478416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34007" y="148704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4405285" y="192677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1"/>
            <a:ext cx="8324850" cy="1577736"/>
          </a:xfrm>
        </p:spPr>
        <p:txBody>
          <a:bodyPr/>
          <a:lstStyle/>
          <a:p>
            <a:pPr>
              <a:spcBef>
                <a:spcPts val="0"/>
              </a:spcBef>
            </a:pPr>
            <a:r>
              <a:rPr lang="en-US" sz="2400" cap="none" dirty="0"/>
              <a:t>B3 ={w| w ends with a 0}.</a:t>
            </a:r>
          </a:p>
          <a:p>
            <a:pPr>
              <a:spcBef>
                <a:spcPts val="0"/>
              </a:spcBef>
            </a:pPr>
            <a:r>
              <a:rPr lang="en-US" sz="2400" cap="none" dirty="0"/>
              <a:t>B4 ={w| w begins with a 1}.</a:t>
            </a:r>
          </a:p>
          <a:p>
            <a:pPr>
              <a:spcBef>
                <a:spcPts val="0"/>
              </a:spcBef>
            </a:pPr>
            <a:r>
              <a:rPr lang="en-US" sz="2400" cap="none" dirty="0"/>
              <a:t>B5 ={w| w begins with a 1 and ends with a 0}.</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92677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92677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2022920"/>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351313"/>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CBA36C0-D3EC-4734-B793-B088EF3FB15A}"/>
              </a:ext>
            </a:extLst>
          </p:cNvPr>
          <p:cNvCxnSpPr>
            <a:stCxn id="4" idx="6"/>
            <a:endCxn id="5" idx="2"/>
          </p:cNvCxnSpPr>
          <p:nvPr/>
        </p:nvCxnSpPr>
        <p:spPr>
          <a:xfrm>
            <a:off x="3592286" y="2351313"/>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CCEDA42-5579-412A-ABA2-5416CECD010F}"/>
              </a:ext>
            </a:extLst>
          </p:cNvPr>
          <p:cNvCxnSpPr>
            <a:stCxn id="4" idx="1"/>
            <a:endCxn id="4" idx="0"/>
          </p:cNvCxnSpPr>
          <p:nvPr/>
        </p:nvCxnSpPr>
        <p:spPr>
          <a:xfrm rot="5400000" flipH="1" flipV="1">
            <a:off x="2966522" y="1841731"/>
            <a:ext cx="124346" cy="294425"/>
          </a:xfrm>
          <a:prstGeom prst="curvedConnector3">
            <a:avLst>
              <a:gd name="adj1" fmla="val 41515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CB8F6062-406E-40E7-9DC3-7FB76350AF5C}"/>
              </a:ext>
            </a:extLst>
          </p:cNvPr>
          <p:cNvSpPr/>
          <p:nvPr/>
        </p:nvSpPr>
        <p:spPr>
          <a:xfrm>
            <a:off x="757010" y="2163545"/>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B3</a:t>
            </a:r>
            <a:endParaRPr lang="en-US" b="1" baseline="-25000" dirty="0">
              <a:solidFill>
                <a:sysClr val="windowText" lastClr="000000"/>
              </a:solidFill>
              <a:latin typeface="+mj-lt"/>
            </a:endParaRPr>
          </a:p>
        </p:txBody>
      </p:sp>
      <p:sp>
        <p:nvSpPr>
          <p:cNvPr id="29" name="Rectangle: Rounded Corners 28">
            <a:extLst>
              <a:ext uri="{FF2B5EF4-FFF2-40B4-BE49-F238E27FC236}">
                <a16:creationId xmlns:a16="http://schemas.microsoft.com/office/drawing/2014/main" id="{0AD1A88E-F83E-445E-94E3-66D2FA1DFFF0}"/>
              </a:ext>
            </a:extLst>
          </p:cNvPr>
          <p:cNvSpPr/>
          <p:nvPr/>
        </p:nvSpPr>
        <p:spPr>
          <a:xfrm>
            <a:off x="7606362" y="350481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0" name="Rectangle: Rounded Corners 29">
            <a:extLst>
              <a:ext uri="{FF2B5EF4-FFF2-40B4-BE49-F238E27FC236}">
                <a16:creationId xmlns:a16="http://schemas.microsoft.com/office/drawing/2014/main" id="{A5B60832-1784-4A19-A693-11BC13B41EFA}"/>
              </a:ext>
            </a:extLst>
          </p:cNvPr>
          <p:cNvSpPr/>
          <p:nvPr/>
        </p:nvSpPr>
        <p:spPr>
          <a:xfrm>
            <a:off x="4488810" y="340360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2" name="Oval 31">
            <a:extLst>
              <a:ext uri="{FF2B5EF4-FFF2-40B4-BE49-F238E27FC236}">
                <a16:creationId xmlns:a16="http://schemas.microsoft.com/office/drawing/2014/main" id="{5C4428F0-5049-4DCD-9213-661D4DF8A4C7}"/>
              </a:ext>
            </a:extLst>
          </p:cNvPr>
          <p:cNvSpPr/>
          <p:nvPr/>
        </p:nvSpPr>
        <p:spPr>
          <a:xfrm>
            <a:off x="2843054" y="340360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33" name="Oval 32">
            <a:extLst>
              <a:ext uri="{FF2B5EF4-FFF2-40B4-BE49-F238E27FC236}">
                <a16:creationId xmlns:a16="http://schemas.microsoft.com/office/drawing/2014/main" id="{9DD0825D-8B54-4F23-9DE7-1B1D46E980D0}"/>
              </a:ext>
            </a:extLst>
          </p:cNvPr>
          <p:cNvSpPr/>
          <p:nvPr/>
        </p:nvSpPr>
        <p:spPr>
          <a:xfrm>
            <a:off x="5983583" y="340360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34" name="Oval 33">
            <a:extLst>
              <a:ext uri="{FF2B5EF4-FFF2-40B4-BE49-F238E27FC236}">
                <a16:creationId xmlns:a16="http://schemas.microsoft.com/office/drawing/2014/main" id="{99C4F2F0-80D8-4B2F-BE16-91EAEEEABC92}"/>
              </a:ext>
            </a:extLst>
          </p:cNvPr>
          <p:cNvSpPr/>
          <p:nvPr/>
        </p:nvSpPr>
        <p:spPr>
          <a:xfrm>
            <a:off x="6077989" y="3499751"/>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C6103FFF-7FAF-403B-B209-DFCD96D51A26}"/>
              </a:ext>
            </a:extLst>
          </p:cNvPr>
          <p:cNvCxnSpPr>
            <a:endCxn id="32" idx="2"/>
          </p:cNvCxnSpPr>
          <p:nvPr/>
        </p:nvCxnSpPr>
        <p:spPr>
          <a:xfrm>
            <a:off x="1732711" y="3828144"/>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72C7923-F061-4C4F-B51F-FB72FC53E0EE}"/>
              </a:ext>
            </a:extLst>
          </p:cNvPr>
          <p:cNvCxnSpPr>
            <a:stCxn id="32" idx="6"/>
            <a:endCxn id="33" idx="2"/>
          </p:cNvCxnSpPr>
          <p:nvPr/>
        </p:nvCxnSpPr>
        <p:spPr>
          <a:xfrm>
            <a:off x="3675811" y="3828144"/>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BABC667A-F23F-4D3A-B767-507D5D6F63A5}"/>
              </a:ext>
            </a:extLst>
          </p:cNvPr>
          <p:cNvCxnSpPr>
            <a:stCxn id="33" idx="7"/>
            <a:endCxn id="33" idx="5"/>
          </p:cNvCxnSpPr>
          <p:nvPr/>
        </p:nvCxnSpPr>
        <p:spPr>
          <a:xfrm rot="16200000" flipH="1">
            <a:off x="6394189" y="3828144"/>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7470A42-4106-4B6C-B8E0-70F37772BA52}"/>
              </a:ext>
            </a:extLst>
          </p:cNvPr>
          <p:cNvSpPr/>
          <p:nvPr/>
        </p:nvSpPr>
        <p:spPr>
          <a:xfrm>
            <a:off x="840535" y="3640376"/>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B4</a:t>
            </a:r>
            <a:endParaRPr lang="en-US" b="1" baseline="-25000" dirty="0">
              <a:solidFill>
                <a:sysClr val="windowText" lastClr="000000"/>
              </a:solidFill>
              <a:latin typeface="+mj-lt"/>
            </a:endParaRPr>
          </a:p>
        </p:txBody>
      </p:sp>
      <p:cxnSp>
        <p:nvCxnSpPr>
          <p:cNvPr id="47" name="Straight Arrow Connector 46">
            <a:extLst>
              <a:ext uri="{FF2B5EF4-FFF2-40B4-BE49-F238E27FC236}">
                <a16:creationId xmlns:a16="http://schemas.microsoft.com/office/drawing/2014/main" id="{70A6E661-72AA-4CA8-AE1D-53F1A6255937}"/>
              </a:ext>
            </a:extLst>
          </p:cNvPr>
          <p:cNvCxnSpPr>
            <a:cxnSpLocks/>
            <a:stCxn id="63" idx="6"/>
            <a:endCxn id="54" idx="2"/>
          </p:cNvCxnSpPr>
          <p:nvPr/>
        </p:nvCxnSpPr>
        <p:spPr>
          <a:xfrm>
            <a:off x="5529693" y="5875563"/>
            <a:ext cx="1251864"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C8E6DDB6-841C-4A30-8C8E-8FFD51C96693}"/>
              </a:ext>
            </a:extLst>
          </p:cNvPr>
          <p:cNvSpPr/>
          <p:nvPr/>
        </p:nvSpPr>
        <p:spPr>
          <a:xfrm>
            <a:off x="3686697" y="546624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53" name="Oval 52">
            <a:extLst>
              <a:ext uri="{FF2B5EF4-FFF2-40B4-BE49-F238E27FC236}">
                <a16:creationId xmlns:a16="http://schemas.microsoft.com/office/drawing/2014/main" id="{968747A5-EAA4-4793-ACCC-50AE1AEC0D6B}"/>
              </a:ext>
            </a:extLst>
          </p:cNvPr>
          <p:cNvSpPr/>
          <p:nvPr/>
        </p:nvSpPr>
        <p:spPr>
          <a:xfrm>
            <a:off x="2612316" y="5466243"/>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4" name="Oval 53">
            <a:extLst>
              <a:ext uri="{FF2B5EF4-FFF2-40B4-BE49-F238E27FC236}">
                <a16:creationId xmlns:a16="http://schemas.microsoft.com/office/drawing/2014/main" id="{FF614AE0-AB14-4DF4-BC2F-12F85D77BFCD}"/>
              </a:ext>
            </a:extLst>
          </p:cNvPr>
          <p:cNvSpPr/>
          <p:nvPr/>
        </p:nvSpPr>
        <p:spPr>
          <a:xfrm>
            <a:off x="6781557" y="5466243"/>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55" name="Oval 54">
            <a:extLst>
              <a:ext uri="{FF2B5EF4-FFF2-40B4-BE49-F238E27FC236}">
                <a16:creationId xmlns:a16="http://schemas.microsoft.com/office/drawing/2014/main" id="{CDD7DC75-A37B-4DD9-8A18-1BDE2B1FD2A1}"/>
              </a:ext>
            </a:extLst>
          </p:cNvPr>
          <p:cNvSpPr/>
          <p:nvPr/>
        </p:nvSpPr>
        <p:spPr>
          <a:xfrm>
            <a:off x="6875963" y="5562393"/>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EC4116D-621D-4905-A1E1-C7ADCD1D434B}"/>
              </a:ext>
            </a:extLst>
          </p:cNvPr>
          <p:cNvCxnSpPr>
            <a:endCxn id="53" idx="2"/>
          </p:cNvCxnSpPr>
          <p:nvPr/>
        </p:nvCxnSpPr>
        <p:spPr>
          <a:xfrm>
            <a:off x="1501973" y="5890786"/>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9176BCA7-8FB0-40BA-B5BC-016D3C49F4D5}"/>
              </a:ext>
            </a:extLst>
          </p:cNvPr>
          <p:cNvCxnSpPr>
            <a:cxnSpLocks/>
            <a:stCxn id="53" idx="6"/>
            <a:endCxn id="63" idx="2"/>
          </p:cNvCxnSpPr>
          <p:nvPr/>
        </p:nvCxnSpPr>
        <p:spPr>
          <a:xfrm flipV="1">
            <a:off x="3445073" y="5875563"/>
            <a:ext cx="1251863"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57C0BF92-992F-4C5E-88E1-3B61F1F81779}"/>
              </a:ext>
            </a:extLst>
          </p:cNvPr>
          <p:cNvSpPr/>
          <p:nvPr/>
        </p:nvSpPr>
        <p:spPr>
          <a:xfrm>
            <a:off x="609797" y="5703018"/>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B5</a:t>
            </a:r>
            <a:endParaRPr lang="en-US" dirty="0">
              <a:solidFill>
                <a:sysClr val="windowText" lastClr="000000"/>
              </a:solidFill>
              <a:latin typeface="+mj-lt"/>
            </a:endParaRPr>
          </a:p>
        </p:txBody>
      </p:sp>
      <p:sp>
        <p:nvSpPr>
          <p:cNvPr id="63" name="Oval 62">
            <a:extLst>
              <a:ext uri="{FF2B5EF4-FFF2-40B4-BE49-F238E27FC236}">
                <a16:creationId xmlns:a16="http://schemas.microsoft.com/office/drawing/2014/main" id="{48C728E1-8BFF-4991-A793-94C9F82BED16}"/>
              </a:ext>
            </a:extLst>
          </p:cNvPr>
          <p:cNvSpPr/>
          <p:nvPr/>
        </p:nvSpPr>
        <p:spPr>
          <a:xfrm>
            <a:off x="4696936" y="545102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7" name="Rectangle: Rounded Corners 66">
            <a:extLst>
              <a:ext uri="{FF2B5EF4-FFF2-40B4-BE49-F238E27FC236}">
                <a16:creationId xmlns:a16="http://schemas.microsoft.com/office/drawing/2014/main" id="{C2960B48-4ACF-40D6-A9E7-04EA6E82C6EA}"/>
              </a:ext>
            </a:extLst>
          </p:cNvPr>
          <p:cNvSpPr/>
          <p:nvPr/>
        </p:nvSpPr>
        <p:spPr>
          <a:xfrm>
            <a:off x="5822697" y="544686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69" name="Connector: Curved 68">
            <a:extLst>
              <a:ext uri="{FF2B5EF4-FFF2-40B4-BE49-F238E27FC236}">
                <a16:creationId xmlns:a16="http://schemas.microsoft.com/office/drawing/2014/main" id="{EF9AC5DC-FF5E-4CE7-8C00-6843D1A8A1CF}"/>
              </a:ext>
            </a:extLst>
          </p:cNvPr>
          <p:cNvCxnSpPr>
            <a:stCxn id="63" idx="1"/>
            <a:endCxn id="63" idx="7"/>
          </p:cNvCxnSpPr>
          <p:nvPr/>
        </p:nvCxnSpPr>
        <p:spPr>
          <a:xfrm rot="5400000" flipH="1" flipV="1">
            <a:off x="5113314" y="5280942"/>
            <a:ext cx="12700" cy="588849"/>
          </a:xfrm>
          <a:prstGeom prst="curvedConnector3">
            <a:avLst>
              <a:gd name="adj1" fmla="val 483624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22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8)">
                                      <p:cBhvr>
                                        <p:cTn id="21" dur="1000"/>
                                        <p:tgtEl>
                                          <p:spTgt spid="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heel(8)">
                                      <p:cBhvr>
                                        <p:cTn id="38" dur="1000"/>
                                        <p:tgtEl>
                                          <p:spTgt spid="20"/>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0-#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down)">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8"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heel(8)">
                                      <p:cBhvr>
                                        <p:cTn id="60" dur="1000"/>
                                        <p:tgtEl>
                                          <p:spTgt spid="36"/>
                                        </p:tgtEl>
                                      </p:cBhvr>
                                    </p:animEffect>
                                  </p:childTnLst>
                                </p:cTn>
                              </p:par>
                            </p:childTnLst>
                          </p:cTn>
                        </p:par>
                        <p:par>
                          <p:cTn id="61" fill="hold">
                            <p:stCondLst>
                              <p:cond delay="1000"/>
                            </p:stCondLst>
                            <p:childTnLst>
                              <p:par>
                                <p:cTn id="62" presetID="1" presetClass="entr" presetSubtype="0"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childTnLst>
                          </p:cTn>
                        </p:par>
                        <p:par>
                          <p:cTn id="64" fill="hold">
                            <p:stCondLst>
                              <p:cond delay="1000"/>
                            </p:stCondLst>
                            <p:childTnLst>
                              <p:par>
                                <p:cTn id="65" presetID="22" presetClass="entr" presetSubtype="4"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down)">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down)">
                                      <p:cBhvr>
                                        <p:cTn id="72" dur="50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8" fill="hold"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heel(8)">
                                      <p:cBhvr>
                                        <p:cTn id="77" dur="1000"/>
                                        <p:tgtEl>
                                          <p:spTgt spid="37"/>
                                        </p:tgtEl>
                                      </p:cBhvr>
                                    </p:animEffect>
                                  </p:childTnLst>
                                </p:cTn>
                              </p:par>
                            </p:childTnLst>
                          </p:cTn>
                        </p:par>
                        <p:par>
                          <p:cTn id="78" fill="hold">
                            <p:stCondLst>
                              <p:cond delay="1000"/>
                            </p:stCondLst>
                            <p:childTnLst>
                              <p:par>
                                <p:cTn id="79" presetID="1" presetClass="entr" presetSubtype="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nodeType="clickEffect">
                                  <p:stCondLst>
                                    <p:cond delay="0"/>
                                  </p:stCondLst>
                                  <p:childTnLst>
                                    <p:set>
                                      <p:cBhvr>
                                        <p:cTn id="88" dur="1" fill="hold">
                                          <p:stCondLst>
                                            <p:cond delay="0"/>
                                          </p:stCondLst>
                                        </p:cTn>
                                        <p:tgtEl>
                                          <p:spTgt spid="56"/>
                                        </p:tgtEl>
                                        <p:attrNameLst>
                                          <p:attrName>style.visibility</p:attrName>
                                        </p:attrNameLst>
                                      </p:cBhvr>
                                      <p:to>
                                        <p:strVal val="visible"/>
                                      </p:to>
                                    </p:set>
                                    <p:anim calcmode="lin" valueType="num">
                                      <p:cBhvr additive="base">
                                        <p:cTn id="89" dur="500" fill="hold"/>
                                        <p:tgtEl>
                                          <p:spTgt spid="56"/>
                                        </p:tgtEl>
                                        <p:attrNameLst>
                                          <p:attrName>ppt_x</p:attrName>
                                        </p:attrNameLst>
                                      </p:cBhvr>
                                      <p:tavLst>
                                        <p:tav tm="0">
                                          <p:val>
                                            <p:strVal val="0-#ppt_w/2"/>
                                          </p:val>
                                        </p:tav>
                                        <p:tav tm="100000">
                                          <p:val>
                                            <p:strVal val="#ppt_x"/>
                                          </p:val>
                                        </p:tav>
                                      </p:tavLst>
                                    </p:anim>
                                    <p:anim calcmode="lin" valueType="num">
                                      <p:cBhvr additive="base">
                                        <p:cTn id="90" dur="500" fill="hold"/>
                                        <p:tgtEl>
                                          <p:spTgt spid="56"/>
                                        </p:tgtEl>
                                        <p:attrNameLst>
                                          <p:attrName>ppt_y</p:attrName>
                                        </p:attrNameLst>
                                      </p:cBhvr>
                                      <p:tavLst>
                                        <p:tav tm="0">
                                          <p:val>
                                            <p:strVal val="#ppt_y"/>
                                          </p:val>
                                        </p:tav>
                                        <p:tav tm="100000">
                                          <p:val>
                                            <p:strVal val="#ppt_y"/>
                                          </p:val>
                                        </p:tav>
                                      </p:tavLst>
                                    </p:anim>
                                  </p:childTnLst>
                                </p:cTn>
                              </p:par>
                            </p:childTnLst>
                          </p:cTn>
                        </p:par>
                        <p:par>
                          <p:cTn id="91" fill="hold">
                            <p:stCondLst>
                              <p:cond delay="500"/>
                            </p:stCondLst>
                            <p:childTnLst>
                              <p:par>
                                <p:cTn id="92" presetID="22" presetClass="entr" presetSubtype="4" fill="hold" grpId="0" nodeType="afterEffect">
                                  <p:stCondLst>
                                    <p:cond delay="0"/>
                                  </p:stCondLst>
                                  <p:childTnLst>
                                    <p:set>
                                      <p:cBhvr>
                                        <p:cTn id="93" dur="1" fill="hold">
                                          <p:stCondLst>
                                            <p:cond delay="0"/>
                                          </p:stCondLst>
                                        </p:cTn>
                                        <p:tgtEl>
                                          <p:spTgt spid="53"/>
                                        </p:tgtEl>
                                        <p:attrNameLst>
                                          <p:attrName>style.visibility</p:attrName>
                                        </p:attrNameLst>
                                      </p:cBhvr>
                                      <p:to>
                                        <p:strVal val="visible"/>
                                      </p:to>
                                    </p:set>
                                    <p:animEffect transition="in" filter="wipe(down)">
                                      <p:cBhvr>
                                        <p:cTn id="94" dur="500"/>
                                        <p:tgtEl>
                                          <p:spTgt spid="53"/>
                                        </p:tgtEl>
                                      </p:cBhvr>
                                    </p:animEffect>
                                  </p:childTnLst>
                                </p:cTn>
                              </p:par>
                            </p:childTnLst>
                          </p:cTn>
                        </p:par>
                      </p:childTnLst>
                    </p:cTn>
                  </p:par>
                  <p:par>
                    <p:cTn id="95" fill="hold">
                      <p:stCondLst>
                        <p:cond delay="indefinite"/>
                      </p:stCondLst>
                      <p:childTnLst>
                        <p:par>
                          <p:cTn id="96" fill="hold">
                            <p:stCondLst>
                              <p:cond delay="0"/>
                            </p:stCondLst>
                            <p:childTnLst>
                              <p:par>
                                <p:cTn id="97" presetID="21" presetClass="entr" presetSubtype="8" fill="hold" nodeType="click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wheel(8)">
                                      <p:cBhvr>
                                        <p:cTn id="99" dur="1000"/>
                                        <p:tgtEl>
                                          <p:spTgt spid="57"/>
                                        </p:tgtEl>
                                      </p:cBhvr>
                                    </p:animEffect>
                                  </p:childTnLst>
                                </p:cTn>
                              </p:par>
                            </p:childTnLst>
                          </p:cTn>
                        </p:par>
                        <p:par>
                          <p:cTn id="100" fill="hold">
                            <p:stCondLst>
                              <p:cond delay="1000"/>
                            </p:stCondLst>
                            <p:childTnLst>
                              <p:par>
                                <p:cTn id="101" presetID="1" presetClass="entr" presetSubtype="0" fill="hold" grpId="0" nodeType="after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childTnLst>
                          </p:cTn>
                        </p:par>
                        <p:par>
                          <p:cTn id="103" fill="hold">
                            <p:stCondLst>
                              <p:cond delay="1000"/>
                            </p:stCondLst>
                            <p:childTnLst>
                              <p:par>
                                <p:cTn id="104" presetID="22" presetClass="entr" presetSubtype="4" fill="hold" grpId="0" nodeType="after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wipe(down)">
                                      <p:cBhvr>
                                        <p:cTn id="106" dur="500"/>
                                        <p:tgtEl>
                                          <p:spTgt spid="63"/>
                                        </p:tgtEl>
                                      </p:cBhvr>
                                    </p:animEffect>
                                  </p:childTnLst>
                                </p:cTn>
                              </p:par>
                            </p:childTnLst>
                          </p:cTn>
                        </p:par>
                      </p:childTnLst>
                    </p:cTn>
                  </p:par>
                  <p:par>
                    <p:cTn id="107" fill="hold">
                      <p:stCondLst>
                        <p:cond delay="indefinite"/>
                      </p:stCondLst>
                      <p:childTnLst>
                        <p:par>
                          <p:cTn id="108" fill="hold">
                            <p:stCondLst>
                              <p:cond delay="0"/>
                            </p:stCondLst>
                            <p:childTnLst>
                              <p:par>
                                <p:cTn id="109" presetID="21" presetClass="entr" presetSubtype="8" fill="hold"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heel(8)">
                                      <p:cBhvr>
                                        <p:cTn id="111" dur="1000"/>
                                        <p:tgtEl>
                                          <p:spTgt spid="47"/>
                                        </p:tgtEl>
                                      </p:cBhvr>
                                    </p:animEffect>
                                  </p:childTnLst>
                                </p:cTn>
                              </p:par>
                            </p:childTnLst>
                          </p:cTn>
                        </p:par>
                        <p:par>
                          <p:cTn id="112" fill="hold">
                            <p:stCondLst>
                              <p:cond delay="1000"/>
                            </p:stCondLst>
                            <p:childTnLst>
                              <p:par>
                                <p:cTn id="113" presetID="1" presetClass="entr" presetSubtype="0" fill="hold" grpId="0" nodeType="afterEffect">
                                  <p:stCondLst>
                                    <p:cond delay="0"/>
                                  </p:stCondLst>
                                  <p:childTnLst>
                                    <p:set>
                                      <p:cBhvr>
                                        <p:cTn id="114" dur="1" fill="hold">
                                          <p:stCondLst>
                                            <p:cond delay="0"/>
                                          </p:stCondLst>
                                        </p:cTn>
                                        <p:tgtEl>
                                          <p:spTgt spid="67"/>
                                        </p:tgtEl>
                                        <p:attrNameLst>
                                          <p:attrName>style.visibility</p:attrName>
                                        </p:attrNameLst>
                                      </p:cBhvr>
                                      <p:to>
                                        <p:strVal val="visible"/>
                                      </p:to>
                                    </p:set>
                                  </p:childTnLst>
                                </p:cTn>
                              </p:par>
                            </p:childTnLst>
                          </p:cTn>
                        </p:par>
                        <p:par>
                          <p:cTn id="115" fill="hold">
                            <p:stCondLst>
                              <p:cond delay="1000"/>
                            </p:stCondLst>
                            <p:childTnLst>
                              <p:par>
                                <p:cTn id="116" presetID="22" presetClass="entr" presetSubtype="4" fill="hold" grpId="0" nodeType="after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wipe(down)">
                                      <p:cBhvr>
                                        <p:cTn id="118" dur="500"/>
                                        <p:tgtEl>
                                          <p:spTgt spid="5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55"/>
                                        </p:tgtEl>
                                        <p:attrNameLst>
                                          <p:attrName>style.visibility</p:attrName>
                                        </p:attrNameLst>
                                      </p:cBhvr>
                                      <p:to>
                                        <p:strVal val="visible"/>
                                      </p:to>
                                    </p:set>
                                    <p:animEffect transition="in" filter="wipe(down)">
                                      <p:cBhvr>
                                        <p:cTn id="123" dur="500"/>
                                        <p:tgtEl>
                                          <p:spTgt spid="55"/>
                                        </p:tgtEl>
                                      </p:cBhvr>
                                    </p:animEffect>
                                  </p:childTnLst>
                                </p:cTn>
                              </p:par>
                            </p:childTnLst>
                          </p:cTn>
                        </p:par>
                      </p:childTnLst>
                    </p:cTn>
                  </p:par>
                  <p:par>
                    <p:cTn id="124" fill="hold">
                      <p:stCondLst>
                        <p:cond delay="indefinite"/>
                      </p:stCondLst>
                      <p:childTnLst>
                        <p:par>
                          <p:cTn id="125" fill="hold">
                            <p:stCondLst>
                              <p:cond delay="0"/>
                            </p:stCondLst>
                            <p:childTnLst>
                              <p:par>
                                <p:cTn id="126" presetID="21" presetClass="entr" presetSubtype="8" fill="hold" nodeType="click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wheel(8)">
                                      <p:cBhvr>
                                        <p:cTn id="128" dur="1000"/>
                                        <p:tgtEl>
                                          <p:spTgt spid="69"/>
                                        </p:tgtEl>
                                      </p:cBhvr>
                                    </p:animEffect>
                                  </p:childTnLst>
                                </p:cTn>
                              </p:par>
                            </p:childTnLst>
                          </p:cTn>
                        </p:par>
                        <p:par>
                          <p:cTn id="129" fill="hold">
                            <p:stCondLst>
                              <p:cond delay="1000"/>
                            </p:stCondLst>
                            <p:childTnLst>
                              <p:par>
                                <p:cTn id="130" presetID="1" presetClass="entr" presetSubtype="0" fill="hold" grpId="0" nodeType="afterEffect">
                                  <p:stCondLst>
                                    <p:cond delay="0"/>
                                  </p:stCondLst>
                                  <p:childTnLst>
                                    <p:set>
                                      <p:cBhvr>
                                        <p:cTn id="13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23" grpId="0" animBg="1"/>
      <p:bldP spid="25" grpId="0" animBg="1"/>
      <p:bldP spid="4" grpId="0" animBg="1"/>
      <p:bldP spid="5" grpId="0" animBg="1"/>
      <p:bldP spid="6" grpId="0" animBg="1"/>
      <p:bldP spid="27" grpId="0" animBg="1"/>
      <p:bldP spid="29" grpId="0" animBg="1"/>
      <p:bldP spid="30" grpId="0" animBg="1"/>
      <p:bldP spid="32" grpId="0" animBg="1"/>
      <p:bldP spid="33" grpId="0" animBg="1"/>
      <p:bldP spid="34" grpId="0" animBg="1"/>
      <p:bldP spid="40" grpId="0" animBg="1"/>
      <p:bldP spid="51" grpId="0" animBg="1"/>
      <p:bldP spid="53" grpId="0" animBg="1"/>
      <p:bldP spid="54" grpId="0" animBg="1"/>
      <p:bldP spid="55" grpId="0" animBg="1"/>
      <p:bldP spid="59" grpId="0" animBg="1"/>
      <p:bldP spid="63" grpId="0" animBg="1"/>
      <p:bldP spid="6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585216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294132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8" name="Oval 67">
            <a:extLst>
              <a:ext uri="{FF2B5EF4-FFF2-40B4-BE49-F238E27FC236}">
                <a16:creationId xmlns:a16="http://schemas.microsoft.com/office/drawing/2014/main" id="{0E56F860-438E-45AF-8188-6755A5C5F52F}"/>
              </a:ext>
            </a:extLst>
          </p:cNvPr>
          <p:cNvSpPr/>
          <p:nvPr/>
        </p:nvSpPr>
        <p:spPr>
          <a:xfrm>
            <a:off x="439674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0" name="Oval 69">
            <a:extLst>
              <a:ext uri="{FF2B5EF4-FFF2-40B4-BE49-F238E27FC236}">
                <a16:creationId xmlns:a16="http://schemas.microsoft.com/office/drawing/2014/main" id="{1926C18E-3963-4E9C-B80D-1A0DD6EC1068}"/>
              </a:ext>
            </a:extLst>
          </p:cNvPr>
          <p:cNvSpPr/>
          <p:nvPr/>
        </p:nvSpPr>
        <p:spPr>
          <a:xfrm>
            <a:off x="585216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a:t>
            </a:r>
            <a:r>
              <a:rPr lang="en-US" sz="3200" cap="none" baseline="-25000" dirty="0"/>
              <a:t>6</a:t>
            </a:r>
            <a:r>
              <a:rPr lang="en-US" sz="2400" cap="none" dirty="0"/>
              <a:t> ={w| w has at least two 1s}.</a:t>
            </a:r>
          </a:p>
          <a:p>
            <a:pPr>
              <a:spcBef>
                <a:spcPts val="0"/>
              </a:spcBef>
            </a:pPr>
            <a:r>
              <a:rPr lang="en-US" sz="2400" cap="none" dirty="0"/>
              <a:t>B7 ={w| w has at most two 1s}.</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294132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439674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812067" y="2377440"/>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400" b="1" baseline="-25000" dirty="0">
                <a:solidFill>
                  <a:sysClr val="windowText" lastClr="000000"/>
                </a:solidFill>
                <a:latin typeface="+mj-lt"/>
              </a:rPr>
              <a:t>6</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812067" y="4218471"/>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B7</a:t>
            </a:r>
            <a:endParaRPr lang="en-US" b="1" baseline="-25000" dirty="0">
              <a:solidFill>
                <a:sysClr val="windowText" lastClr="000000"/>
              </a:solidFill>
              <a:latin typeface="+mj-lt"/>
            </a:endParaRP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233172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362712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508254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2331720" y="452327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362712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508254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905523" y="24324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2994683" y="42887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4457700" y="428570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5905523" y="4294988"/>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3284220" y="2224247"/>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4739640" y="222424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6195060" y="2224247"/>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328422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4739640" y="408051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619506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2987040" y="161844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3627120" y="22411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4495851" y="164961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5135902" y="222611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5879950" y="166416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2988361" y="344842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3688080" y="406907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4437437" y="343232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5135903" y="411030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5897903" y="341708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Tree>
    <p:extLst>
      <p:ext uri="{BB962C8B-B14F-4D97-AF65-F5344CB8AC3E}">
        <p14:creationId xmlns:p14="http://schemas.microsoft.com/office/powerpoint/2010/main" val="254384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wheel(8)">
                                      <p:cBhvr>
                                        <p:cTn id="58" dur="1000"/>
                                        <p:tgtEl>
                                          <p:spTgt spid="8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8" fill="hold"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heel(8)">
                                      <p:cBhvr>
                                        <p:cTn id="66" dur="1000"/>
                                        <p:tgtEl>
                                          <p:spTgt spid="83"/>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1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p:tgtEl>
                                          <p:spTgt spid="22"/>
                                        </p:tgtEl>
                                        <p:attrNameLst>
                                          <p:attrName>ppt_x</p:attrName>
                                        </p:attrNameLst>
                                      </p:cBhvr>
                                      <p:tavLst>
                                        <p:tav tm="0">
                                          <p:val>
                                            <p:strVal val="0-#ppt_w/2"/>
                                          </p:val>
                                        </p:tav>
                                        <p:tav tm="100000">
                                          <p:val>
                                            <p:strVal val="#ppt_x"/>
                                          </p:val>
                                        </p:tav>
                                      </p:tavLst>
                                    </p:anim>
                                    <p:anim calcmode="lin" valueType="num">
                                      <p:cBhvr additive="base">
                                        <p:cTn id="79" dur="500" fill="hold"/>
                                        <p:tgtEl>
                                          <p:spTgt spid="22"/>
                                        </p:tgtEl>
                                        <p:attrNameLst>
                                          <p:attrName>ppt_y</p:attrName>
                                        </p:attrNameLst>
                                      </p:cBhvr>
                                      <p:tavLst>
                                        <p:tav tm="0">
                                          <p:val>
                                            <p:strVal val="#ppt_y"/>
                                          </p:val>
                                        </p:tav>
                                        <p:tav tm="100000">
                                          <p:val>
                                            <p:strVal val="#ppt_y"/>
                                          </p:val>
                                        </p:tav>
                                      </p:tavLst>
                                    </p:anim>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down)">
                                      <p:cBhvr>
                                        <p:cTn id="83" dur="500"/>
                                        <p:tgtEl>
                                          <p:spTgt spid="66"/>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heel(8)">
                                      <p:cBhvr>
                                        <p:cTn id="88" dur="1000"/>
                                        <p:tgtEl>
                                          <p:spTgt spid="39"/>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122"/>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Effect transition="in" filter="wipe(down)">
                                      <p:cBhvr>
                                        <p:cTn id="95" dur="500"/>
                                        <p:tgtEl>
                                          <p:spTgt spid="68"/>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wheel(8)">
                                      <p:cBhvr>
                                        <p:cTn id="100" dur="1000"/>
                                        <p:tgtEl>
                                          <p:spTgt spid="44"/>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124"/>
                                        </p:tgtEl>
                                        <p:attrNameLst>
                                          <p:attrName>style.visibility</p:attrName>
                                        </p:attrNameLst>
                                      </p:cBhvr>
                                      <p:to>
                                        <p:strVal val="visible"/>
                                      </p:to>
                                    </p:set>
                                  </p:childTnLst>
                                </p:cTn>
                              </p:par>
                            </p:childTnLst>
                          </p:cTn>
                        </p:par>
                        <p:par>
                          <p:cTn id="104" fill="hold">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wipe(down)">
                                      <p:cBhvr>
                                        <p:cTn id="107" dur="500"/>
                                        <p:tgtEl>
                                          <p:spTgt spid="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wipe(down)">
                                      <p:cBhvr>
                                        <p:cTn id="112" dur="500"/>
                                        <p:tgtEl>
                                          <p:spTgt spid="7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animEffect transition="in" filter="wipe(down)">
                                      <p:cBhvr>
                                        <p:cTn id="117" dur="500"/>
                                        <p:tgtEl>
                                          <p:spTgt spid="7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wipe(down)">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8" fill="hold" nodeType="clickEffect">
                                  <p:stCondLst>
                                    <p:cond delay="0"/>
                                  </p:stCondLst>
                                  <p:childTnLst>
                                    <p:set>
                                      <p:cBhvr>
                                        <p:cTn id="126" dur="1" fill="hold">
                                          <p:stCondLst>
                                            <p:cond delay="0"/>
                                          </p:stCondLst>
                                        </p:cTn>
                                        <p:tgtEl>
                                          <p:spTgt spid="85"/>
                                        </p:tgtEl>
                                        <p:attrNameLst>
                                          <p:attrName>style.visibility</p:attrName>
                                        </p:attrNameLst>
                                      </p:cBhvr>
                                      <p:to>
                                        <p:strVal val="visible"/>
                                      </p:to>
                                    </p:set>
                                    <p:animEffect transition="in" filter="wheel(8)">
                                      <p:cBhvr>
                                        <p:cTn id="127" dur="1000"/>
                                        <p:tgtEl>
                                          <p:spTgt spid="85"/>
                                        </p:tgtEl>
                                      </p:cBhvr>
                                    </p:animEffect>
                                  </p:childTnLst>
                                </p:cTn>
                              </p:par>
                            </p:childTnLst>
                          </p:cTn>
                        </p:par>
                        <p:par>
                          <p:cTn id="128" fill="hold">
                            <p:stCondLst>
                              <p:cond delay="1000"/>
                            </p:stCondLst>
                            <p:childTnLst>
                              <p:par>
                                <p:cTn id="129" presetID="1" presetClass="entr" presetSubtype="0" fill="hold" grpId="0" nodeType="afterEffect">
                                  <p:stCondLst>
                                    <p:cond delay="0"/>
                                  </p:stCondLst>
                                  <p:childTnLst>
                                    <p:set>
                                      <p:cBhvr>
                                        <p:cTn id="130" dur="1" fill="hold">
                                          <p:stCondLst>
                                            <p:cond delay="0"/>
                                          </p:stCondLst>
                                        </p:cTn>
                                        <p:tgtEl>
                                          <p:spTgt spid="12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1" presetClass="entr" presetSubtype="8" fill="hold" nodeType="clickEffect">
                                  <p:stCondLst>
                                    <p:cond delay="0"/>
                                  </p:stCondLst>
                                  <p:childTnLst>
                                    <p:set>
                                      <p:cBhvr>
                                        <p:cTn id="134" dur="1" fill="hold">
                                          <p:stCondLst>
                                            <p:cond delay="0"/>
                                          </p:stCondLst>
                                        </p:cTn>
                                        <p:tgtEl>
                                          <p:spTgt spid="86"/>
                                        </p:tgtEl>
                                        <p:attrNameLst>
                                          <p:attrName>style.visibility</p:attrName>
                                        </p:attrNameLst>
                                      </p:cBhvr>
                                      <p:to>
                                        <p:strVal val="visible"/>
                                      </p:to>
                                    </p:set>
                                    <p:animEffect transition="in" filter="wheel(8)">
                                      <p:cBhvr>
                                        <p:cTn id="135" dur="1000"/>
                                        <p:tgtEl>
                                          <p:spTgt spid="86"/>
                                        </p:tgtEl>
                                      </p:cBhvr>
                                    </p:animEffect>
                                  </p:childTnLst>
                                </p:cTn>
                              </p:par>
                            </p:childTnLst>
                          </p:cTn>
                        </p:par>
                        <p:par>
                          <p:cTn id="136" fill="hold">
                            <p:stCondLst>
                              <p:cond delay="1000"/>
                            </p:stCondLst>
                            <p:childTnLst>
                              <p:par>
                                <p:cTn id="137" presetID="1" presetClass="entr" presetSubtype="0" fill="hold" grpId="0" nodeType="afterEffect">
                                  <p:stCondLst>
                                    <p:cond delay="0"/>
                                  </p:stCondLst>
                                  <p:childTnLst>
                                    <p:set>
                                      <p:cBhvr>
                                        <p:cTn id="138" dur="1" fill="hold">
                                          <p:stCondLst>
                                            <p:cond delay="0"/>
                                          </p:stCondLst>
                                        </p:cTn>
                                        <p:tgtEl>
                                          <p:spTgt spid="12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nodeType="clickEffect">
                                  <p:stCondLst>
                                    <p:cond delay="0"/>
                                  </p:stCondLst>
                                  <p:childTnLst>
                                    <p:set>
                                      <p:cBhvr>
                                        <p:cTn id="142" dur="1" fill="hold">
                                          <p:stCondLst>
                                            <p:cond delay="0"/>
                                          </p:stCondLst>
                                        </p:cTn>
                                        <p:tgtEl>
                                          <p:spTgt spid="87"/>
                                        </p:tgtEl>
                                        <p:attrNameLst>
                                          <p:attrName>style.visibility</p:attrName>
                                        </p:attrNameLst>
                                      </p:cBhvr>
                                      <p:to>
                                        <p:strVal val="visible"/>
                                      </p:to>
                                    </p:set>
                                    <p:animEffect transition="in" filter="wheel(8)">
                                      <p:cBhvr>
                                        <p:cTn id="143" dur="1000"/>
                                        <p:tgtEl>
                                          <p:spTgt spid="87"/>
                                        </p:tgtEl>
                                      </p:cBhvr>
                                    </p:animEffect>
                                  </p:childTnLst>
                                </p:cTn>
                              </p:par>
                            </p:childTnLst>
                          </p:cTn>
                        </p:par>
                        <p:par>
                          <p:cTn id="144" fill="hold">
                            <p:stCondLst>
                              <p:cond delay="1000"/>
                            </p:stCondLst>
                            <p:childTnLst>
                              <p:par>
                                <p:cTn id="145" presetID="1" presetClass="entr" presetSubtype="0" fill="hold" grpId="0" nodeType="afterEffect">
                                  <p:stCondLst>
                                    <p:cond delay="0"/>
                                  </p:stCondLst>
                                  <p:childTnLst>
                                    <p:set>
                                      <p:cBhvr>
                                        <p:cTn id="146"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8" grpId="0" animBg="1"/>
      <p:bldP spid="70" grpId="0" animBg="1"/>
      <p:bldP spid="10" grpId="0" animBg="1"/>
      <p:bldP spid="64" grpId="0" animBg="1"/>
      <p:bldP spid="12" grpId="0" animBg="1"/>
      <p:bldP spid="75" grpId="0" animBg="1"/>
      <p:bldP spid="76" grpId="0" animBg="1"/>
      <p:bldP spid="77" grpId="0" animBg="1"/>
      <p:bldP spid="78" grpId="0" animBg="1"/>
      <p:bldP spid="79" grpId="0" animBg="1"/>
      <p:bldP spid="116" grpId="0"/>
      <p:bldP spid="117" grpId="0"/>
      <p:bldP spid="118" grpId="0"/>
      <p:bldP spid="119" grpId="0"/>
      <p:bldP spid="120" grpId="0"/>
      <p:bldP spid="121" grpId="0"/>
      <p:bldP spid="122" grpId="0"/>
      <p:bldP spid="123" grpId="0"/>
      <p:bldP spid="124" grpId="0"/>
      <p:bldP spid="1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E9E4C0-76F0-4C01-BDD9-112419E91E2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F31E5E2-592D-4796-8D8D-A6D72371577B}"/>
              </a:ext>
            </a:extLst>
          </p:cNvPr>
          <p:cNvSpPr>
            <a:spLocks noGrp="1"/>
          </p:cNvSpPr>
          <p:nvPr>
            <p:ph type="body" sz="quarter" idx="12"/>
          </p:nvPr>
        </p:nvSpPr>
        <p:spPr/>
        <p:txBody>
          <a:bodyPr/>
          <a:lstStyle/>
          <a:p>
            <a:r>
              <a:rPr lang="en-US" altLang="en-US" dirty="0"/>
              <a:t>Closure</a:t>
            </a:r>
            <a:endParaRPr lang="en-US" dirty="0"/>
          </a:p>
        </p:txBody>
      </p:sp>
      <p:sp>
        <p:nvSpPr>
          <p:cNvPr id="4" name="Text Placeholder 3">
            <a:extLst>
              <a:ext uri="{FF2B5EF4-FFF2-40B4-BE49-F238E27FC236}">
                <a16:creationId xmlns:a16="http://schemas.microsoft.com/office/drawing/2014/main" id="{69CC7622-8071-4D40-BA93-4A9E78D25EBA}"/>
              </a:ext>
            </a:extLst>
          </p:cNvPr>
          <p:cNvSpPr>
            <a:spLocks noGrp="1"/>
          </p:cNvSpPr>
          <p:nvPr>
            <p:ph type="body" sz="quarter" idx="13"/>
          </p:nvPr>
        </p:nvSpPr>
        <p:spPr/>
        <p:txBody>
          <a:bodyPr/>
          <a:lstStyle/>
          <a:p>
            <a:pPr algn="just" eaLnBrk="1" hangingPunct="1"/>
            <a:r>
              <a:rPr lang="en-US" altLang="en-US" dirty="0"/>
              <a:t>A collection of objects is closed under some operation, if applying that operation to the members of the collection returns an object still in the collection.</a:t>
            </a:r>
          </a:p>
          <a:p>
            <a:pPr algn="just" eaLnBrk="1" hangingPunct="1"/>
            <a:r>
              <a:rPr lang="en-US" altLang="en-US" dirty="0"/>
              <a:t>Theorem: </a:t>
            </a:r>
            <a:r>
              <a:rPr lang="en-US" dirty="0"/>
              <a:t>The class of regular languages is closed under all three regular operations (union, concatenation, star), as well as under complement, intersection, and reverse</a:t>
            </a:r>
            <a:r>
              <a:rPr lang="en-US" altLang="en-US" dirty="0"/>
              <a:t>.</a:t>
            </a:r>
          </a:p>
          <a:p>
            <a:pPr lvl="1" algn="just"/>
            <a:r>
              <a:rPr lang="en-US" sz="2200" dirty="0"/>
              <a:t>i.e., if set </a:t>
            </a:r>
            <a:r>
              <a:rPr lang="en-US" sz="2200" i="1" dirty="0"/>
              <a:t>A</a:t>
            </a:r>
            <a:r>
              <a:rPr lang="en-US" sz="2200" dirty="0"/>
              <a:t> and </a:t>
            </a:r>
            <a:r>
              <a:rPr lang="en-US" sz="2200" i="1" dirty="0"/>
              <a:t>B</a:t>
            </a:r>
            <a:r>
              <a:rPr lang="en-US" sz="2200" dirty="0"/>
              <a:t> are regular, applying any of these operations on these sets yields a regular language.</a:t>
            </a:r>
            <a:endParaRPr lang="en-US" altLang="en-US" sz="2200" dirty="0"/>
          </a:p>
          <a:p>
            <a:pPr eaLnBrk="1" hangingPunct="1"/>
            <a:r>
              <a:rPr lang="en-US" altLang="en-US" dirty="0"/>
              <a:t>Next, we will prove it for </a:t>
            </a:r>
            <a:r>
              <a:rPr lang="en-US" altLang="en-US" i="1" dirty="0"/>
              <a:t>Union</a:t>
            </a:r>
            <a:r>
              <a:rPr lang="en-US" altLang="en-US" dirty="0"/>
              <a:t> operation.</a:t>
            </a:r>
          </a:p>
          <a:p>
            <a:endParaRPr lang="en-US" dirty="0"/>
          </a:p>
        </p:txBody>
      </p:sp>
    </p:spTree>
    <p:extLst>
      <p:ext uri="{BB962C8B-B14F-4D97-AF65-F5344CB8AC3E}">
        <p14:creationId xmlns:p14="http://schemas.microsoft.com/office/powerpoint/2010/main" val="1318089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2457DF-27CB-401A-840A-0C3B560E783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3A37347-D953-4BF5-AB92-33AA5E1A57AE}"/>
              </a:ext>
            </a:extLst>
          </p:cNvPr>
          <p:cNvSpPr>
            <a:spLocks noGrp="1"/>
          </p:cNvSpPr>
          <p:nvPr>
            <p:ph type="body" sz="quarter" idx="12"/>
          </p:nvPr>
        </p:nvSpPr>
        <p:spPr/>
        <p:txBody>
          <a:bodyPr/>
          <a:lstStyle/>
          <a:p>
            <a:r>
              <a:rPr lang="en-US" altLang="en-US" sz="3600" dirty="0"/>
              <a:t>Regular Language</a:t>
            </a:r>
            <a:endParaRPr lang="en-US" dirty="0"/>
          </a:p>
        </p:txBody>
      </p:sp>
      <p:sp>
        <p:nvSpPr>
          <p:cNvPr id="4" name="Text Placeholder 3">
            <a:extLst>
              <a:ext uri="{FF2B5EF4-FFF2-40B4-BE49-F238E27FC236}">
                <a16:creationId xmlns:a16="http://schemas.microsoft.com/office/drawing/2014/main" id="{2B8B07C0-57BB-45CD-B629-88195D1DFA05}"/>
              </a:ext>
            </a:extLst>
          </p:cNvPr>
          <p:cNvSpPr>
            <a:spLocks noGrp="1"/>
          </p:cNvSpPr>
          <p:nvPr>
            <p:ph type="body" sz="quarter" idx="13"/>
          </p:nvPr>
        </p:nvSpPr>
        <p:spPr>
          <a:xfrm>
            <a:off x="2" y="857159"/>
            <a:ext cx="9136063" cy="5591175"/>
          </a:xfrm>
        </p:spPr>
        <p:txBody>
          <a:bodyPr>
            <a:normAutofit lnSpcReduction="10000"/>
          </a:bodyPr>
          <a:lstStyle/>
          <a:p>
            <a:pPr algn="just" eaLnBrk="1" hangingPunct="1"/>
            <a:r>
              <a:rPr lang="en-US" altLang="en-US" sz="2400" dirty="0"/>
              <a:t>A language is called a </a:t>
            </a:r>
            <a:r>
              <a:rPr lang="en-US" altLang="en-US" sz="2400" b="1" i="1" dirty="0"/>
              <a:t>regular language</a:t>
            </a:r>
            <a:r>
              <a:rPr lang="en-US" altLang="en-US" sz="2400" dirty="0"/>
              <a:t> if some finite automaton recognizes it.</a:t>
            </a:r>
          </a:p>
          <a:p>
            <a:pPr eaLnBrk="1" hangingPunct="1"/>
            <a:r>
              <a:rPr lang="en-US" altLang="en-US" sz="2400" dirty="0"/>
              <a:t>Regular Operations: Let </a:t>
            </a:r>
            <a:r>
              <a:rPr lang="en-US" altLang="en-US" sz="2400" i="1" dirty="0"/>
              <a:t>A</a:t>
            </a:r>
            <a:r>
              <a:rPr lang="en-US" altLang="en-US" sz="2400" dirty="0"/>
              <a:t>={good, bad}, </a:t>
            </a:r>
            <a:r>
              <a:rPr lang="en-US" altLang="en-US" sz="2400" i="1" dirty="0"/>
              <a:t>B</a:t>
            </a:r>
            <a:r>
              <a:rPr lang="en-US" altLang="en-US" sz="2400" dirty="0"/>
              <a:t> = {boy, girl}. </a:t>
            </a:r>
          </a:p>
          <a:p>
            <a:r>
              <a:rPr lang="en-US" altLang="en-US" dirty="0"/>
              <a:t>Basic 3 operations used to study the properties of the regular languages – </a:t>
            </a:r>
          </a:p>
          <a:p>
            <a:pPr lvl="1"/>
            <a:r>
              <a:rPr lang="en-US" altLang="en-US" sz="2200" b="1" i="1" dirty="0"/>
              <a:t>Union</a:t>
            </a:r>
            <a:r>
              <a:rPr lang="en-US" altLang="en-US" sz="2200" dirty="0"/>
              <a:t>: </a:t>
            </a:r>
            <a:r>
              <a:rPr lang="en-US" altLang="en-US" sz="2200" i="1" dirty="0"/>
              <a:t>A</a:t>
            </a:r>
            <a:r>
              <a:rPr lang="en-US" altLang="en-US" sz="2200" dirty="0">
                <a:sym typeface="Symbol" panose="05050102010706020507" pitchFamily="18" charset="2"/>
              </a:rPr>
              <a:t></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a:sym typeface="Symbol" panose="05050102010706020507" pitchFamily="18" charset="2"/>
              </a:rPr>
              <a:t>x</a:t>
            </a:r>
            <a:r>
              <a:rPr lang="en-US" altLang="en-US" sz="2200" dirty="0">
                <a:sym typeface="Symbol" panose="05050102010706020507" pitchFamily="18" charset="2"/>
              </a:rPr>
              <a:t> : </a:t>
            </a:r>
            <a:r>
              <a:rPr lang="en-US" altLang="en-US" sz="2200" i="1" dirty="0">
                <a:sym typeface="Symbol" panose="05050102010706020507" pitchFamily="18" charset="2"/>
              </a:rPr>
              <a:t>x</a:t>
            </a:r>
            <a:r>
              <a:rPr lang="en-US" altLang="en-US" sz="2200" dirty="0">
                <a:sym typeface="Symbol" panose="05050102010706020507" pitchFamily="18" charset="2"/>
              </a:rPr>
              <a:t>  </a:t>
            </a:r>
            <a:r>
              <a:rPr lang="en-US" altLang="en-US" sz="2200" i="1" dirty="0">
                <a:sym typeface="Symbol" panose="05050102010706020507" pitchFamily="18" charset="2"/>
              </a:rPr>
              <a:t>A</a:t>
            </a:r>
            <a:r>
              <a:rPr lang="en-US" altLang="en-US" sz="2200" dirty="0">
                <a:sym typeface="Symbol" panose="05050102010706020507" pitchFamily="18" charset="2"/>
              </a:rPr>
              <a:t> or </a:t>
            </a:r>
            <a:r>
              <a:rPr lang="en-US" altLang="en-US" sz="2200" i="1" dirty="0">
                <a:sym typeface="Symbol" panose="05050102010706020507" pitchFamily="18" charset="2"/>
              </a:rPr>
              <a:t>x</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{good, bad, boy, girl}.</a:t>
            </a:r>
          </a:p>
          <a:p>
            <a:pPr lvl="2"/>
            <a:r>
              <a:rPr lang="en-US" altLang="en-US" sz="1900" dirty="0">
                <a:sym typeface="Symbol" panose="05050102010706020507" pitchFamily="18" charset="2"/>
              </a:rPr>
              <a:t>Takes all the strings in both </a:t>
            </a:r>
            <a:r>
              <a:rPr lang="en-US" altLang="en-US" sz="1900" i="1" dirty="0">
                <a:sym typeface="Symbol" panose="05050102010706020507" pitchFamily="18" charset="2"/>
              </a:rPr>
              <a:t>A</a:t>
            </a:r>
            <a:r>
              <a:rPr lang="en-US" altLang="en-US" sz="1900" dirty="0">
                <a:sym typeface="Symbol" panose="05050102010706020507" pitchFamily="18" charset="2"/>
              </a:rPr>
              <a:t> and </a:t>
            </a:r>
            <a:r>
              <a:rPr lang="en-US" altLang="en-US" sz="1900" i="1" dirty="0">
                <a:sym typeface="Symbol" panose="05050102010706020507" pitchFamily="18" charset="2"/>
              </a:rPr>
              <a:t>B</a:t>
            </a:r>
            <a:r>
              <a:rPr lang="en-US" altLang="en-US" sz="1900" dirty="0">
                <a:sym typeface="Symbol" panose="05050102010706020507" pitchFamily="18" charset="2"/>
              </a:rPr>
              <a:t> and lumps them together into one language.</a:t>
            </a:r>
          </a:p>
          <a:p>
            <a:pPr lvl="1"/>
            <a:r>
              <a:rPr lang="en-US" altLang="en-US" sz="2200" b="1" i="1" dirty="0">
                <a:sym typeface="Symbol" panose="05050102010706020507" pitchFamily="18" charset="2"/>
              </a:rPr>
              <a:t>Concatenation</a:t>
            </a:r>
            <a:r>
              <a:rPr lang="en-US" altLang="en-US" sz="2200" dirty="0">
                <a:sym typeface="Symbol" panose="05050102010706020507" pitchFamily="18" charset="2"/>
              </a:rPr>
              <a:t>: </a:t>
            </a:r>
            <a:r>
              <a:rPr lang="en-US" altLang="en-US" sz="2200" i="1" dirty="0">
                <a:sym typeface="Symbol" panose="05050102010706020507" pitchFamily="18" charset="2"/>
              </a:rPr>
              <a:t>A </a:t>
            </a:r>
            <a:r>
              <a:rPr lang="en-US" altLang="en-US" sz="2200" dirty="0">
                <a:sym typeface="Symbol" panose="05050102010706020507" pitchFamily="18" charset="2"/>
              </a:rPr>
              <a:t>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i="1" dirty="0" err="1">
                <a:sym typeface="Symbol" panose="05050102010706020507" pitchFamily="18" charset="2"/>
              </a:rPr>
              <a:t>xy</a:t>
            </a:r>
            <a:r>
              <a:rPr lang="en-US" altLang="en-US" sz="2200" dirty="0">
                <a:sym typeface="Symbol" panose="05050102010706020507" pitchFamily="18" charset="2"/>
              </a:rPr>
              <a:t> : </a:t>
            </a:r>
            <a:r>
              <a:rPr lang="en-US" altLang="en-US" sz="2200" i="1" dirty="0">
                <a:sym typeface="Symbol" panose="05050102010706020507" pitchFamily="18" charset="2"/>
              </a:rPr>
              <a:t>x</a:t>
            </a:r>
            <a:r>
              <a:rPr lang="en-US" altLang="en-US" sz="2200" dirty="0">
                <a:sym typeface="Symbol" panose="05050102010706020507" pitchFamily="18" charset="2"/>
              </a:rPr>
              <a:t>  </a:t>
            </a:r>
            <a:r>
              <a:rPr lang="en-US" altLang="en-US" sz="2200" i="1" dirty="0">
                <a:sym typeface="Symbol" panose="05050102010706020507" pitchFamily="18" charset="2"/>
              </a:rPr>
              <a:t>A</a:t>
            </a:r>
            <a:r>
              <a:rPr lang="en-US" altLang="en-US" sz="2200" dirty="0">
                <a:sym typeface="Symbol" panose="05050102010706020507" pitchFamily="18" charset="2"/>
              </a:rPr>
              <a:t> and </a:t>
            </a:r>
            <a:r>
              <a:rPr lang="en-US" altLang="en-US" sz="2200" i="1" dirty="0">
                <a:sym typeface="Symbol" panose="05050102010706020507" pitchFamily="18" charset="2"/>
              </a:rPr>
              <a:t>y</a:t>
            </a:r>
            <a:r>
              <a:rPr lang="en-US" altLang="en-US" sz="2200" dirty="0">
                <a:sym typeface="Symbol" panose="05050102010706020507" pitchFamily="18" charset="2"/>
              </a:rPr>
              <a:t>  </a:t>
            </a:r>
            <a:r>
              <a:rPr lang="en-US" altLang="en-US" sz="2200" i="1" dirty="0">
                <a:sym typeface="Symbol" panose="05050102010706020507" pitchFamily="18" charset="2"/>
              </a:rPr>
              <a:t>B</a:t>
            </a:r>
            <a:r>
              <a:rPr lang="en-US" altLang="en-US" sz="2200" dirty="0">
                <a:sym typeface="Symbol" panose="05050102010706020507" pitchFamily="18" charset="2"/>
              </a:rPr>
              <a:t>} = {</a:t>
            </a:r>
            <a:r>
              <a:rPr lang="en-US" altLang="en-US" sz="2200" dirty="0" err="1">
                <a:sym typeface="Symbol" panose="05050102010706020507" pitchFamily="18" charset="2"/>
              </a:rPr>
              <a:t>goodboy</a:t>
            </a:r>
            <a:r>
              <a:rPr lang="en-US" altLang="en-US" sz="2200" dirty="0">
                <a:sym typeface="Symbol" panose="05050102010706020507" pitchFamily="18" charset="2"/>
              </a:rPr>
              <a:t>, </a:t>
            </a:r>
            <a:r>
              <a:rPr lang="en-US" altLang="en-US" sz="2200" dirty="0" err="1">
                <a:sym typeface="Symbol" panose="05050102010706020507" pitchFamily="18" charset="2"/>
              </a:rPr>
              <a:t>goodgirl</a:t>
            </a:r>
            <a:r>
              <a:rPr lang="en-US" altLang="en-US" sz="2200" dirty="0">
                <a:sym typeface="Symbol" panose="05050102010706020507" pitchFamily="18" charset="2"/>
              </a:rPr>
              <a:t>, </a:t>
            </a:r>
            <a:r>
              <a:rPr lang="en-US" altLang="en-US" sz="2200" dirty="0" err="1">
                <a:sym typeface="Symbol" panose="05050102010706020507" pitchFamily="18" charset="2"/>
              </a:rPr>
              <a:t>badboy</a:t>
            </a:r>
            <a:r>
              <a:rPr lang="en-US" altLang="en-US" sz="2200" dirty="0">
                <a:sym typeface="Symbol" panose="05050102010706020507" pitchFamily="18" charset="2"/>
              </a:rPr>
              <a:t>, </a:t>
            </a:r>
            <a:r>
              <a:rPr lang="en-US" altLang="en-US" sz="2200" dirty="0" err="1">
                <a:sym typeface="Symbol" panose="05050102010706020507" pitchFamily="18" charset="2"/>
              </a:rPr>
              <a:t>badgirl</a:t>
            </a:r>
            <a:r>
              <a:rPr lang="en-US" altLang="en-US" sz="2200" dirty="0">
                <a:sym typeface="Symbol" panose="05050102010706020507" pitchFamily="18" charset="2"/>
              </a:rPr>
              <a:t>}.</a:t>
            </a:r>
          </a:p>
          <a:p>
            <a:pPr lvl="2"/>
            <a:r>
              <a:rPr lang="en-US" altLang="en-US" sz="1900" dirty="0">
                <a:sym typeface="Symbol" panose="05050102010706020507" pitchFamily="18" charset="2"/>
              </a:rPr>
              <a:t>Attaches a string from </a:t>
            </a:r>
            <a:r>
              <a:rPr lang="en-US" altLang="en-US" sz="1900" i="1" dirty="0">
                <a:sym typeface="Symbol" panose="05050102010706020507" pitchFamily="18" charset="2"/>
              </a:rPr>
              <a:t>A</a:t>
            </a:r>
            <a:r>
              <a:rPr lang="en-US" altLang="en-US" sz="1900" dirty="0">
                <a:sym typeface="Symbol" panose="05050102010706020507" pitchFamily="18" charset="2"/>
              </a:rPr>
              <a:t> in front of a string </a:t>
            </a:r>
            <a:r>
              <a:rPr lang="en-US" altLang="en-US" sz="1900" i="1" dirty="0">
                <a:sym typeface="Symbol" panose="05050102010706020507" pitchFamily="18" charset="2"/>
              </a:rPr>
              <a:t>B</a:t>
            </a:r>
            <a:r>
              <a:rPr lang="en-US" altLang="en-US" sz="1900" dirty="0">
                <a:sym typeface="Symbol" panose="05050102010706020507" pitchFamily="18" charset="2"/>
              </a:rPr>
              <a:t> in all possible ways to get the strings in the new language.</a:t>
            </a:r>
          </a:p>
          <a:p>
            <a:pPr lvl="1"/>
            <a:r>
              <a:rPr lang="en-US" altLang="en-US" sz="2200" b="1" i="1" dirty="0">
                <a:sym typeface="Symbol" panose="05050102010706020507" pitchFamily="18" charset="2"/>
              </a:rPr>
              <a:t>Star</a:t>
            </a:r>
            <a:r>
              <a:rPr lang="en-US" altLang="en-US" sz="2200" dirty="0">
                <a:sym typeface="Symbol" panose="05050102010706020507" pitchFamily="18" charset="2"/>
              </a:rPr>
              <a:t>: </a:t>
            </a:r>
            <a:r>
              <a:rPr lang="en-US" altLang="en-US" sz="2200" i="1" dirty="0">
                <a:sym typeface="Symbol" panose="05050102010706020507" pitchFamily="18" charset="2"/>
              </a:rPr>
              <a:t>A</a:t>
            </a:r>
            <a:r>
              <a:rPr lang="en-US" altLang="en-US" sz="2200" dirty="0">
                <a:sym typeface="Symbol" panose="05050102010706020507" pitchFamily="18" charset="2"/>
              </a:rPr>
              <a:t>* = {</a:t>
            </a:r>
            <a:r>
              <a:rPr lang="en-US" altLang="en-US" sz="2200" i="1" dirty="0">
                <a:sym typeface="Symbol" panose="05050102010706020507" pitchFamily="18" charset="2"/>
              </a:rPr>
              <a:t>x</a:t>
            </a:r>
            <a:r>
              <a:rPr lang="en-US" altLang="en-US" sz="2200" baseline="-25000" dirty="0">
                <a:sym typeface="Symbol" panose="05050102010706020507" pitchFamily="18" charset="2"/>
              </a:rPr>
              <a:t>1</a:t>
            </a:r>
            <a:r>
              <a:rPr lang="en-US" altLang="en-US" sz="2200" i="1" dirty="0">
                <a:sym typeface="Symbol" panose="05050102010706020507" pitchFamily="18" charset="2"/>
              </a:rPr>
              <a:t>x</a:t>
            </a:r>
            <a:r>
              <a:rPr lang="en-US" altLang="en-US" sz="2200" baseline="-25000" dirty="0">
                <a:sym typeface="Symbol" panose="05050102010706020507" pitchFamily="18" charset="2"/>
              </a:rPr>
              <a:t>2</a:t>
            </a:r>
            <a:r>
              <a:rPr lang="en-US" altLang="en-US" sz="2200" dirty="0">
                <a:sym typeface="Symbol" panose="05050102010706020507" pitchFamily="18" charset="2"/>
              </a:rPr>
              <a:t>…</a:t>
            </a:r>
            <a:r>
              <a:rPr lang="en-US" altLang="en-US" sz="2200" i="1" dirty="0" err="1">
                <a:sym typeface="Symbol" panose="05050102010706020507" pitchFamily="18" charset="2"/>
              </a:rPr>
              <a:t>x</a:t>
            </a:r>
            <a:r>
              <a:rPr lang="en-US" altLang="en-US" sz="2200" baseline="-25000" dirty="0" err="1">
                <a:sym typeface="Symbol" panose="05050102010706020507" pitchFamily="18" charset="2"/>
              </a:rPr>
              <a:t>k</a:t>
            </a:r>
            <a:r>
              <a:rPr lang="en-US" altLang="en-US" sz="2200" dirty="0">
                <a:sym typeface="Symbol" panose="05050102010706020507" pitchFamily="18" charset="2"/>
              </a:rPr>
              <a:t> : </a:t>
            </a:r>
            <a:r>
              <a:rPr lang="en-US" altLang="en-US" sz="2200" i="1" dirty="0">
                <a:sym typeface="Symbol" panose="05050102010706020507" pitchFamily="18" charset="2"/>
              </a:rPr>
              <a:t>k</a:t>
            </a:r>
            <a:r>
              <a:rPr lang="en-US" altLang="en-US" sz="2200" dirty="0">
                <a:sym typeface="Symbol" panose="05050102010706020507" pitchFamily="18" charset="2"/>
              </a:rPr>
              <a:t>  0 and each </a:t>
            </a:r>
            <a:r>
              <a:rPr lang="en-US" altLang="en-US" sz="2200" i="1" dirty="0">
                <a:sym typeface="Symbol" panose="05050102010706020507" pitchFamily="18" charset="2"/>
              </a:rPr>
              <a:t>x</a:t>
            </a:r>
            <a:r>
              <a:rPr lang="en-US" altLang="en-US" sz="2200" baseline="-25000" dirty="0">
                <a:sym typeface="Symbol" panose="05050102010706020507" pitchFamily="18" charset="2"/>
              </a:rPr>
              <a:t>i</a:t>
            </a:r>
            <a:r>
              <a:rPr lang="en-US" altLang="en-US" sz="2200" dirty="0">
                <a:sym typeface="Symbol" panose="05050102010706020507" pitchFamily="18" charset="2"/>
              </a:rPr>
              <a:t>  </a:t>
            </a:r>
            <a:r>
              <a:rPr lang="en-US" altLang="en-US" sz="2200" i="1" dirty="0">
                <a:sym typeface="Symbol" panose="05050102010706020507" pitchFamily="18" charset="2"/>
              </a:rPr>
              <a:t>A</a:t>
            </a:r>
            <a:r>
              <a:rPr lang="en-US" altLang="en-US" sz="2200" dirty="0">
                <a:sym typeface="Symbol" panose="05050102010706020507" pitchFamily="18" charset="2"/>
              </a:rPr>
              <a:t>} = {</a:t>
            </a:r>
            <a:r>
              <a:rPr lang="el-GR" altLang="en-US" sz="2200" i="1" dirty="0">
                <a:cs typeface="Arial" panose="020B0604020202020204" pitchFamily="34" charset="0"/>
              </a:rPr>
              <a:t>ε</a:t>
            </a:r>
            <a:r>
              <a:rPr lang="en-US" altLang="en-US" sz="2200" dirty="0">
                <a:cs typeface="Arial" panose="020B0604020202020204" pitchFamily="34" charset="0"/>
              </a:rPr>
              <a:t>, good, bad, </a:t>
            </a:r>
            <a:r>
              <a:rPr lang="en-US" altLang="en-US" sz="2200" dirty="0" err="1">
                <a:cs typeface="Arial" panose="020B0604020202020204" pitchFamily="34" charset="0"/>
              </a:rPr>
              <a:t>goodgood</a:t>
            </a:r>
            <a:r>
              <a:rPr lang="en-US" altLang="en-US" sz="2200" dirty="0">
                <a:cs typeface="Arial" panose="020B0604020202020204" pitchFamily="34" charset="0"/>
              </a:rPr>
              <a:t>, </a:t>
            </a:r>
            <a:r>
              <a:rPr lang="en-US" altLang="en-US" sz="2200" dirty="0" err="1">
                <a:cs typeface="Arial" panose="020B0604020202020204" pitchFamily="34" charset="0"/>
              </a:rPr>
              <a:t>goodbad</a:t>
            </a:r>
            <a:r>
              <a:rPr lang="en-US" altLang="en-US" sz="2200" dirty="0">
                <a:cs typeface="Arial" panose="020B0604020202020204" pitchFamily="34" charset="0"/>
              </a:rPr>
              <a:t>, </a:t>
            </a:r>
            <a:r>
              <a:rPr lang="en-US" altLang="en-US" sz="2200" dirty="0" err="1">
                <a:cs typeface="Arial" panose="020B0604020202020204" pitchFamily="34" charset="0"/>
              </a:rPr>
              <a:t>badgood</a:t>
            </a:r>
            <a:r>
              <a:rPr lang="en-US" altLang="en-US" sz="2200" dirty="0">
                <a:cs typeface="Arial" panose="020B0604020202020204" pitchFamily="34" charset="0"/>
              </a:rPr>
              <a:t>, </a:t>
            </a:r>
            <a:r>
              <a:rPr lang="en-US" altLang="en-US" sz="2200" dirty="0" err="1">
                <a:cs typeface="Arial" panose="020B0604020202020204" pitchFamily="34" charset="0"/>
              </a:rPr>
              <a:t>badbad</a:t>
            </a:r>
            <a:r>
              <a:rPr lang="en-US" altLang="en-US" sz="2200" dirty="0">
                <a:cs typeface="Arial" panose="020B0604020202020204" pitchFamily="34" charset="0"/>
              </a:rPr>
              <a:t>, </a:t>
            </a:r>
            <a:r>
              <a:rPr lang="en-US" altLang="en-US" sz="2200" dirty="0" err="1">
                <a:cs typeface="Arial" panose="020B0604020202020204" pitchFamily="34" charset="0"/>
              </a:rPr>
              <a:t>goodgoodgood</a:t>
            </a:r>
            <a:r>
              <a:rPr lang="en-US" altLang="en-US" sz="2200" dirty="0">
                <a:cs typeface="Arial" panose="020B0604020202020204" pitchFamily="34" charset="0"/>
              </a:rPr>
              <a:t>, </a:t>
            </a:r>
            <a:r>
              <a:rPr lang="en-US" altLang="en-US" sz="2200" dirty="0" err="1">
                <a:cs typeface="Arial" panose="020B0604020202020204" pitchFamily="34" charset="0"/>
              </a:rPr>
              <a:t>goodgoodbad</a:t>
            </a:r>
            <a:r>
              <a:rPr lang="en-US" altLang="en-US" sz="2200" dirty="0">
                <a:cs typeface="Arial" panose="020B0604020202020204" pitchFamily="34" charset="0"/>
              </a:rPr>
              <a:t>, …</a:t>
            </a:r>
            <a:r>
              <a:rPr lang="en-US" altLang="en-US" sz="2200" dirty="0">
                <a:sym typeface="Symbol" panose="05050102010706020507" pitchFamily="18" charset="2"/>
              </a:rPr>
              <a:t>}.</a:t>
            </a:r>
          </a:p>
          <a:p>
            <a:pPr lvl="2"/>
            <a:r>
              <a:rPr lang="en-US" altLang="en-US" sz="1900" dirty="0"/>
              <a:t>Attaching any number of strings in </a:t>
            </a:r>
            <a:r>
              <a:rPr lang="en-US" altLang="en-US" sz="1900" i="1" dirty="0"/>
              <a:t>A</a:t>
            </a:r>
            <a:r>
              <a:rPr lang="en-US" altLang="en-US" sz="1900" dirty="0"/>
              <a:t> together to get a string in the new language. It is a unary operation, where </a:t>
            </a:r>
            <a:r>
              <a:rPr lang="el-GR" altLang="en-US" sz="1900" i="1" dirty="0">
                <a:cs typeface="Arial" panose="020B0604020202020204" pitchFamily="34" charset="0"/>
              </a:rPr>
              <a:t>ε</a:t>
            </a:r>
            <a:r>
              <a:rPr lang="en-US" altLang="en-US" sz="1900" dirty="0">
                <a:cs typeface="Arial" panose="020B0604020202020204" pitchFamily="34" charset="0"/>
              </a:rPr>
              <a:t> </a:t>
            </a:r>
            <a:r>
              <a:rPr lang="en-US" altLang="en-US" sz="1900" dirty="0"/>
              <a:t>is always a member of </a:t>
            </a:r>
            <a:r>
              <a:rPr lang="en-US" altLang="en-US" sz="1900" i="1" dirty="0"/>
              <a:t>A</a:t>
            </a:r>
            <a:r>
              <a:rPr lang="en-US" altLang="en-US" sz="1900" dirty="0"/>
              <a:t>* (as ‘any number’ also includes 0).</a:t>
            </a:r>
          </a:p>
          <a:p>
            <a:endParaRPr lang="en-US" dirty="0"/>
          </a:p>
        </p:txBody>
      </p:sp>
    </p:spTree>
    <p:extLst>
      <p:ext uri="{BB962C8B-B14F-4D97-AF65-F5344CB8AC3E}">
        <p14:creationId xmlns:p14="http://schemas.microsoft.com/office/powerpoint/2010/main" val="3300187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23424C-50F8-48DB-AE92-37929FF88CB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1E3055D-5E87-44D8-8A28-2882C3C479A3}"/>
              </a:ext>
            </a:extLst>
          </p:cNvPr>
          <p:cNvSpPr>
            <a:spLocks noGrp="1"/>
          </p:cNvSpPr>
          <p:nvPr>
            <p:ph type="body" sz="quarter" idx="12"/>
          </p:nvPr>
        </p:nvSpPr>
        <p:spPr/>
        <p:txBody>
          <a:bodyPr/>
          <a:lstStyle/>
          <a:p>
            <a:r>
              <a:rPr lang="en-US" altLang="en-US" sz="2800" dirty="0"/>
              <a:t>Regular Language closed under Union in </a:t>
            </a:r>
            <a:r>
              <a:rPr lang="en-US" altLang="en-US" sz="2800" dirty="0" err="1"/>
              <a:t>dfa</a:t>
            </a:r>
            <a:endParaRPr lang="en-US" sz="2800" dirty="0"/>
          </a:p>
        </p:txBody>
      </p:sp>
      <p:sp>
        <p:nvSpPr>
          <p:cNvPr id="4" name="Text Placeholder 3">
            <a:extLst>
              <a:ext uri="{FF2B5EF4-FFF2-40B4-BE49-F238E27FC236}">
                <a16:creationId xmlns:a16="http://schemas.microsoft.com/office/drawing/2014/main" id="{EE7FF643-1AE0-4BE4-A25E-BE02054F96E9}"/>
              </a:ext>
            </a:extLst>
          </p:cNvPr>
          <p:cNvSpPr>
            <a:spLocks noGrp="1"/>
          </p:cNvSpPr>
          <p:nvPr>
            <p:ph type="body" sz="quarter" idx="13"/>
          </p:nvPr>
        </p:nvSpPr>
        <p:spPr/>
        <p:txBody>
          <a:bodyPr>
            <a:normAutofit fontScale="77500" lnSpcReduction="20000"/>
          </a:bodyPr>
          <a:lstStyle/>
          <a:p>
            <a:pPr eaLnBrk="1" hangingPunct="1">
              <a:lnSpc>
                <a:spcPct val="110000"/>
              </a:lnSpc>
            </a:pPr>
            <a:r>
              <a:rPr lang="en-US" altLang="en-US" sz="3100" dirty="0"/>
              <a:t>We will prove it by construction.</a:t>
            </a:r>
          </a:p>
          <a:p>
            <a:pPr eaLnBrk="1" hangingPunct="1">
              <a:lnSpc>
                <a:spcPct val="110000"/>
              </a:lnSpc>
            </a:pPr>
            <a:r>
              <a:rPr lang="en-US" altLang="en-US" sz="3100" dirty="0"/>
              <a:t>Let </a:t>
            </a:r>
            <a:r>
              <a:rPr lang="en-US" altLang="en-US" sz="3100" i="1" dirty="0"/>
              <a:t>M</a:t>
            </a:r>
            <a:r>
              <a:rPr lang="en-US" altLang="en-US" sz="3100" baseline="-25000" dirty="0"/>
              <a:t>1</a:t>
            </a:r>
            <a:r>
              <a:rPr lang="en-US" altLang="en-US" sz="3100" dirty="0"/>
              <a:t> recognize </a:t>
            </a:r>
            <a:r>
              <a:rPr lang="en-US" altLang="en-US" sz="3100" i="1" dirty="0"/>
              <a:t>A</a:t>
            </a:r>
            <a:r>
              <a:rPr lang="en-US" altLang="en-US" sz="3100" baseline="-25000" dirty="0"/>
              <a:t>1</a:t>
            </a:r>
            <a:r>
              <a:rPr lang="en-US" altLang="en-US" sz="3100" dirty="0"/>
              <a:t>, where </a:t>
            </a:r>
            <a:r>
              <a:rPr lang="en-US" altLang="en-US" sz="3100" i="1" dirty="0"/>
              <a:t>M</a:t>
            </a:r>
            <a:r>
              <a:rPr lang="en-US" altLang="en-US" sz="3100" baseline="-25000" dirty="0"/>
              <a:t>1</a:t>
            </a:r>
            <a:r>
              <a:rPr lang="en-US" altLang="en-US" sz="3100" dirty="0"/>
              <a:t>= (</a:t>
            </a:r>
            <a:r>
              <a:rPr lang="en-US" altLang="en-US" sz="3100" i="1" dirty="0"/>
              <a:t>Q</a:t>
            </a:r>
            <a:r>
              <a:rPr lang="en-US" altLang="en-US" sz="3100" i="1" baseline="-25000" dirty="0"/>
              <a:t>1</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i="1" baseline="-25000" dirty="0">
                <a:cs typeface="Arial" panose="020B0604020202020204" pitchFamily="34" charset="0"/>
                <a:sym typeface="Symbol" panose="05050102010706020507" pitchFamily="18" charset="2"/>
              </a:rPr>
              <a:t>1</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1</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i="1" baseline="-25000" dirty="0">
                <a:cs typeface="Arial" panose="020B0604020202020204" pitchFamily="34" charset="0"/>
                <a:sym typeface="Symbol" panose="05050102010706020507" pitchFamily="18" charset="2"/>
              </a:rPr>
              <a:t>1</a:t>
            </a:r>
            <a:r>
              <a:rPr lang="en-US" altLang="en-US" sz="3100" dirty="0"/>
              <a:t>), and </a:t>
            </a:r>
            <a:br>
              <a:rPr lang="en-US" altLang="en-US" sz="3100" dirty="0"/>
            </a:br>
            <a:r>
              <a:rPr lang="en-US" altLang="en-US" sz="3100" dirty="0"/>
              <a:t>       </a:t>
            </a:r>
            <a:r>
              <a:rPr lang="en-US" altLang="en-US" sz="3100" i="1" dirty="0"/>
              <a:t>M</a:t>
            </a:r>
            <a:r>
              <a:rPr lang="en-US" altLang="en-US" sz="3100" baseline="-25000" dirty="0"/>
              <a:t>2</a:t>
            </a:r>
            <a:r>
              <a:rPr lang="en-US" altLang="en-US" sz="3100" dirty="0"/>
              <a:t> recognize </a:t>
            </a:r>
            <a:r>
              <a:rPr lang="en-US" altLang="en-US" sz="3100" i="1" dirty="0"/>
              <a:t>A</a:t>
            </a:r>
            <a:r>
              <a:rPr lang="en-US" altLang="en-US" sz="3100" baseline="-25000" dirty="0"/>
              <a:t>2</a:t>
            </a:r>
            <a:r>
              <a:rPr lang="en-US" altLang="en-US" sz="3100" dirty="0"/>
              <a:t>, where </a:t>
            </a:r>
            <a:r>
              <a:rPr lang="en-US" altLang="en-US" sz="3100" i="1" dirty="0"/>
              <a:t>M</a:t>
            </a:r>
            <a:r>
              <a:rPr lang="en-US" altLang="en-US" sz="3100" baseline="-25000" dirty="0"/>
              <a:t>2</a:t>
            </a:r>
            <a:r>
              <a:rPr lang="en-US" altLang="en-US" sz="3100" dirty="0"/>
              <a:t>= (</a:t>
            </a:r>
            <a:r>
              <a:rPr lang="en-US" altLang="en-US" sz="3100" i="1" dirty="0"/>
              <a:t>Q</a:t>
            </a:r>
            <a:r>
              <a:rPr lang="en-US" altLang="en-US" sz="3100" i="1" baseline="-25000" dirty="0"/>
              <a:t>2</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i="1" baseline="-25000" dirty="0">
                <a:cs typeface="Arial" panose="020B0604020202020204" pitchFamily="34" charset="0"/>
                <a:sym typeface="Symbol" panose="05050102010706020507" pitchFamily="18" charset="2"/>
              </a:rPr>
              <a:t>2</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2</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i="1" baseline="-25000" dirty="0">
                <a:cs typeface="Arial" panose="020B0604020202020204" pitchFamily="34" charset="0"/>
                <a:sym typeface="Symbol" panose="05050102010706020507" pitchFamily="18" charset="2"/>
              </a:rPr>
              <a:t>2</a:t>
            </a:r>
            <a:r>
              <a:rPr lang="en-US" altLang="en-US" sz="3100" dirty="0"/>
              <a:t>).</a:t>
            </a:r>
          </a:p>
          <a:p>
            <a:pPr eaLnBrk="1" hangingPunct="1">
              <a:lnSpc>
                <a:spcPct val="110000"/>
              </a:lnSpc>
            </a:pPr>
            <a:r>
              <a:rPr lang="en-US" altLang="en-US" sz="3100" dirty="0"/>
              <a:t>Construct </a:t>
            </a:r>
            <a:r>
              <a:rPr lang="en-US" altLang="en-US" sz="3100" i="1" dirty="0"/>
              <a:t>M</a:t>
            </a:r>
            <a:r>
              <a:rPr lang="en-US" altLang="en-US" sz="3100" dirty="0"/>
              <a:t> to recognize </a:t>
            </a:r>
            <a:r>
              <a:rPr lang="en-US" altLang="en-US" sz="3100" i="1" dirty="0"/>
              <a:t>A</a:t>
            </a:r>
            <a:r>
              <a:rPr lang="en-US" altLang="en-US" sz="3100" baseline="-25000" dirty="0"/>
              <a:t>1</a:t>
            </a:r>
            <a:r>
              <a:rPr lang="en-US" altLang="en-US" sz="3100" dirty="0">
                <a:sym typeface="Symbol" panose="05050102010706020507" pitchFamily="18" charset="2"/>
              </a:rPr>
              <a:t></a:t>
            </a:r>
            <a:r>
              <a:rPr lang="en-US" altLang="en-US" sz="3100" dirty="0"/>
              <a:t> </a:t>
            </a:r>
            <a:r>
              <a:rPr lang="en-US" altLang="en-US" sz="3100" i="1" dirty="0"/>
              <a:t>A</a:t>
            </a:r>
            <a:r>
              <a:rPr lang="en-US" altLang="en-US" sz="3100" baseline="-25000" dirty="0"/>
              <a:t>2</a:t>
            </a:r>
            <a:r>
              <a:rPr lang="en-US" altLang="en-US" sz="3100" dirty="0"/>
              <a:t>, where </a:t>
            </a:r>
            <a:r>
              <a:rPr lang="en-US" altLang="en-US" sz="3100" i="1" dirty="0"/>
              <a:t>M </a:t>
            </a:r>
            <a:r>
              <a:rPr lang="en-US" altLang="en-US" sz="3100" dirty="0"/>
              <a:t>= (</a:t>
            </a:r>
            <a:r>
              <a:rPr lang="en-US" altLang="en-US" sz="3100" i="1" dirty="0"/>
              <a:t>Q</a:t>
            </a:r>
            <a:r>
              <a:rPr lang="en-US" altLang="en-US" sz="3100" dirty="0"/>
              <a:t>, </a:t>
            </a:r>
            <a:r>
              <a:rPr lang="el-GR" altLang="en-US" sz="3100" dirty="0">
                <a:cs typeface="Arial" panose="020B0604020202020204" pitchFamily="34" charset="0"/>
              </a:rPr>
              <a:t>Σ</a:t>
            </a:r>
            <a:r>
              <a:rPr lang="en-US" altLang="en-US" sz="3100" dirty="0">
                <a:cs typeface="Arial" panose="020B0604020202020204" pitchFamily="34" charset="0"/>
              </a:rPr>
              <a:t>, </a:t>
            </a:r>
            <a:r>
              <a:rPr lang="en-US" altLang="en-US" sz="3100" i="1" dirty="0">
                <a:cs typeface="Arial" panose="020B0604020202020204" pitchFamily="34" charset="0"/>
                <a:sym typeface="Symbol" panose="05050102010706020507" pitchFamily="18" charset="2"/>
              </a:rPr>
              <a:t></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q</a:t>
            </a:r>
            <a:r>
              <a:rPr lang="en-US" altLang="en-US" sz="3100" baseline="-25000" dirty="0">
                <a:cs typeface="Arial" panose="020B0604020202020204" pitchFamily="34" charset="0"/>
                <a:sym typeface="Symbol" panose="05050102010706020507" pitchFamily="18" charset="2"/>
              </a:rPr>
              <a:t>0</a:t>
            </a:r>
            <a:r>
              <a:rPr lang="en-US" altLang="en-US" sz="3100" dirty="0">
                <a:cs typeface="Arial" panose="020B0604020202020204" pitchFamily="34" charset="0"/>
                <a:sym typeface="Symbol" panose="05050102010706020507" pitchFamily="18" charset="2"/>
              </a:rPr>
              <a:t>, </a:t>
            </a:r>
            <a:r>
              <a:rPr lang="en-US" altLang="en-US" sz="3100" i="1" dirty="0">
                <a:cs typeface="Arial" panose="020B0604020202020204" pitchFamily="34" charset="0"/>
                <a:sym typeface="Symbol" panose="05050102010706020507" pitchFamily="18" charset="2"/>
              </a:rPr>
              <a:t>F</a:t>
            </a:r>
            <a:r>
              <a:rPr lang="en-US" altLang="en-US" sz="3100" dirty="0"/>
              <a:t>).</a:t>
            </a:r>
          </a:p>
          <a:p>
            <a:pPr lvl="1" eaLnBrk="1" hangingPunct="1">
              <a:lnSpc>
                <a:spcPct val="120000"/>
              </a:lnSpc>
            </a:pPr>
            <a:r>
              <a:rPr lang="en-US" altLang="en-US" sz="2800" i="1" dirty="0"/>
              <a:t>Q </a:t>
            </a:r>
            <a:r>
              <a:rPr lang="en-US" altLang="en-US" sz="2800" dirty="0"/>
              <a:t>= {(</a:t>
            </a:r>
            <a:r>
              <a:rPr lang="en-US" altLang="en-US" sz="2800" i="1" dirty="0"/>
              <a:t>r</a:t>
            </a:r>
            <a:r>
              <a:rPr lang="en-US" altLang="en-US" sz="2800" baseline="-25000" dirty="0"/>
              <a:t>1</a:t>
            </a:r>
            <a:r>
              <a:rPr lang="en-US" altLang="en-US" sz="2800" dirty="0"/>
              <a:t>, </a:t>
            </a:r>
            <a:r>
              <a:rPr lang="en-US" altLang="en-US" sz="2800" i="1" dirty="0"/>
              <a:t>r</a:t>
            </a:r>
            <a:r>
              <a:rPr lang="en-US" altLang="en-US" sz="2800" baseline="-25000" dirty="0"/>
              <a:t>2</a:t>
            </a:r>
            <a:r>
              <a:rPr lang="en-US" altLang="en-US" sz="2800" dirty="0"/>
              <a:t>) : </a:t>
            </a:r>
            <a:r>
              <a:rPr lang="en-US" altLang="en-US" sz="2800" i="1" dirty="0"/>
              <a:t>r</a:t>
            </a:r>
            <a:r>
              <a:rPr lang="en-US" altLang="en-US" sz="2800" baseline="-25000" dirty="0"/>
              <a:t>1</a:t>
            </a:r>
            <a:r>
              <a:rPr lang="en-US" altLang="en-US" sz="2800" dirty="0"/>
              <a:t> </a:t>
            </a:r>
            <a:r>
              <a:rPr lang="en-US" altLang="en-US" sz="2800" dirty="0">
                <a:sym typeface="Symbol" panose="05050102010706020507" pitchFamily="18" charset="2"/>
              </a:rPr>
              <a:t> </a:t>
            </a:r>
            <a:r>
              <a:rPr lang="en-US" altLang="en-US" sz="2800" i="1" dirty="0">
                <a:sym typeface="Symbol" panose="05050102010706020507" pitchFamily="18" charset="2"/>
              </a:rPr>
              <a:t>Q</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 </a:t>
            </a:r>
            <a:r>
              <a:rPr lang="en-US" altLang="en-US" sz="2800" i="1" dirty="0">
                <a:sym typeface="Symbol" panose="05050102010706020507" pitchFamily="18" charset="2"/>
              </a:rPr>
              <a:t>Q</a:t>
            </a:r>
            <a:r>
              <a:rPr lang="en-US" altLang="en-US" sz="2800" baseline="-25000" dirty="0">
                <a:sym typeface="Symbol" panose="05050102010706020507" pitchFamily="18" charset="2"/>
              </a:rPr>
              <a:t>2</a:t>
            </a:r>
            <a:r>
              <a:rPr lang="en-US" altLang="en-US" sz="2800" dirty="0"/>
              <a:t>}.</a:t>
            </a:r>
          </a:p>
          <a:p>
            <a:pPr lvl="2" eaLnBrk="1" hangingPunct="1">
              <a:lnSpc>
                <a:spcPct val="120000"/>
              </a:lnSpc>
            </a:pPr>
            <a:r>
              <a:rPr lang="en-US" altLang="en-US" sz="2600" i="1" dirty="0"/>
              <a:t>Q</a:t>
            </a:r>
            <a:r>
              <a:rPr lang="en-US" altLang="en-US" sz="2600" dirty="0"/>
              <a:t> = </a:t>
            </a:r>
            <a:r>
              <a:rPr lang="en-US" altLang="en-US" sz="2600" i="1" dirty="0"/>
              <a:t>Q</a:t>
            </a:r>
            <a:r>
              <a:rPr lang="en-US" altLang="en-US" sz="2600" baseline="-25000" dirty="0"/>
              <a:t>1</a:t>
            </a:r>
            <a:r>
              <a:rPr lang="en-US" altLang="en-US" sz="2600" dirty="0"/>
              <a:t> </a:t>
            </a:r>
            <a:r>
              <a:rPr lang="en-US" altLang="en-US" sz="2600" dirty="0">
                <a:sym typeface="Symbol" panose="05050102010706020507" pitchFamily="18" charset="2"/>
              </a:rPr>
              <a:t> </a:t>
            </a:r>
            <a:r>
              <a:rPr lang="en-US" altLang="en-US" sz="2600" i="1" dirty="0"/>
              <a:t>Q</a:t>
            </a:r>
            <a:r>
              <a:rPr lang="en-US" altLang="en-US" sz="2600" baseline="-25000" dirty="0"/>
              <a:t>2</a:t>
            </a:r>
            <a:r>
              <a:rPr lang="en-US" altLang="en-US" sz="2600" dirty="0"/>
              <a:t>. (All combination of states of machine </a:t>
            </a:r>
            <a:r>
              <a:rPr lang="en-US" altLang="en-US" sz="2600" i="1" dirty="0"/>
              <a:t>M</a:t>
            </a:r>
            <a:r>
              <a:rPr lang="en-US" altLang="en-US" sz="2600" baseline="-25000" dirty="0"/>
              <a:t>1</a:t>
            </a:r>
            <a:r>
              <a:rPr lang="en-US" altLang="en-US" sz="2600" dirty="0"/>
              <a:t> and </a:t>
            </a:r>
            <a:r>
              <a:rPr lang="en-US" altLang="en-US" sz="2600" i="1" dirty="0"/>
              <a:t>M</a:t>
            </a:r>
            <a:r>
              <a:rPr lang="en-US" altLang="en-US" sz="2600" baseline="-25000" dirty="0"/>
              <a:t>2</a:t>
            </a:r>
            <a:r>
              <a:rPr lang="en-US" altLang="en-US" sz="2600" dirty="0"/>
              <a:t>).</a:t>
            </a:r>
          </a:p>
          <a:p>
            <a:pPr lvl="1" eaLnBrk="1" hangingPunct="1">
              <a:lnSpc>
                <a:spcPct val="120000"/>
              </a:lnSpc>
            </a:pPr>
            <a:r>
              <a:rPr lang="el-GR" altLang="en-US" sz="2800" dirty="0">
                <a:cs typeface="Arial" panose="020B0604020202020204" pitchFamily="34" charset="0"/>
              </a:rPr>
              <a:t>Σ</a:t>
            </a:r>
            <a:r>
              <a:rPr lang="en-US" altLang="en-US" sz="2800" dirty="0">
                <a:cs typeface="Arial" panose="020B0604020202020204" pitchFamily="34" charset="0"/>
              </a:rPr>
              <a:t> = </a:t>
            </a:r>
            <a:r>
              <a:rPr lang="el-GR" altLang="en-US" sz="2800" dirty="0">
                <a:cs typeface="Arial" panose="020B0604020202020204" pitchFamily="34" charset="0"/>
              </a:rPr>
              <a:t>Σ</a:t>
            </a:r>
            <a:r>
              <a:rPr lang="en-US" altLang="en-US" sz="2800" baseline="-25000" dirty="0">
                <a:cs typeface="Arial" panose="020B0604020202020204" pitchFamily="34" charset="0"/>
              </a:rPr>
              <a:t>1</a:t>
            </a:r>
            <a:r>
              <a:rPr lang="en-US" altLang="en-US" sz="2800" dirty="0">
                <a:cs typeface="Arial" panose="020B0604020202020204" pitchFamily="34" charset="0"/>
              </a:rPr>
              <a:t> </a:t>
            </a:r>
            <a:r>
              <a:rPr lang="en-US" altLang="en-US" sz="2800" dirty="0">
                <a:sym typeface="Symbol" panose="05050102010706020507" pitchFamily="18" charset="2"/>
              </a:rPr>
              <a:t> </a:t>
            </a:r>
            <a:r>
              <a:rPr lang="el-GR" altLang="en-US" sz="2800" dirty="0">
                <a:cs typeface="Arial" panose="020B0604020202020204" pitchFamily="34" charset="0"/>
              </a:rPr>
              <a:t>Σ</a:t>
            </a:r>
            <a:r>
              <a:rPr lang="en-US" altLang="en-US" sz="2800" baseline="-25000" dirty="0">
                <a:cs typeface="Arial" panose="020B0604020202020204" pitchFamily="34" charset="0"/>
              </a:rPr>
              <a:t>2</a:t>
            </a:r>
            <a:r>
              <a:rPr lang="en-US" altLang="en-US" sz="2800" dirty="0">
                <a:cs typeface="Arial" panose="020B0604020202020204" pitchFamily="34" charset="0"/>
              </a:rPr>
              <a:t>. </a:t>
            </a:r>
          </a:p>
          <a:p>
            <a:pPr lvl="2" eaLnBrk="1" hangingPunct="1">
              <a:lnSpc>
                <a:spcPct val="120000"/>
              </a:lnSpc>
            </a:pPr>
            <a:r>
              <a:rPr lang="en-US" altLang="en-US" sz="2600" dirty="0">
                <a:cs typeface="Arial" panose="020B0604020202020204" pitchFamily="34" charset="0"/>
              </a:rPr>
              <a:t>But here, for simplicity, we have considered </a:t>
            </a:r>
            <a:r>
              <a:rPr lang="el-GR" altLang="en-US" sz="2600" dirty="0">
                <a:cs typeface="Arial" panose="020B0604020202020204" pitchFamily="34" charset="0"/>
              </a:rPr>
              <a:t>Σ</a:t>
            </a:r>
            <a:r>
              <a:rPr lang="en-US" altLang="en-US" sz="2600" baseline="-25000" dirty="0">
                <a:cs typeface="Arial" panose="020B0604020202020204" pitchFamily="34" charset="0"/>
              </a:rPr>
              <a:t>1</a:t>
            </a:r>
            <a:r>
              <a:rPr lang="en-US" altLang="en-US" sz="2600" dirty="0">
                <a:cs typeface="Arial" panose="020B0604020202020204" pitchFamily="34" charset="0"/>
              </a:rPr>
              <a:t> = </a:t>
            </a:r>
            <a:r>
              <a:rPr lang="el-GR" altLang="en-US" sz="2600" dirty="0">
                <a:cs typeface="Arial" panose="020B0604020202020204" pitchFamily="34" charset="0"/>
              </a:rPr>
              <a:t>Σ</a:t>
            </a:r>
            <a:r>
              <a:rPr lang="en-US" altLang="en-US" sz="2600" baseline="-25000" dirty="0">
                <a:cs typeface="Arial" panose="020B0604020202020204" pitchFamily="34" charset="0"/>
              </a:rPr>
              <a:t>2</a:t>
            </a:r>
            <a:r>
              <a:rPr lang="en-US" altLang="en-US" sz="2600" dirty="0">
                <a:cs typeface="Arial" panose="020B0604020202020204" pitchFamily="34" charset="0"/>
              </a:rPr>
              <a:t> to be same.</a:t>
            </a:r>
          </a:p>
          <a:p>
            <a:pPr lvl="1" eaLnBrk="1" hangingPunct="1">
              <a:lnSpc>
                <a:spcPct val="120000"/>
              </a:lnSpc>
            </a:pPr>
            <a:r>
              <a:rPr lang="en-US" altLang="en-US" sz="2800" dirty="0">
                <a:cs typeface="Arial" panose="020B0604020202020204" pitchFamily="34" charset="0"/>
              </a:rPr>
              <a:t>For each (</a:t>
            </a:r>
            <a:r>
              <a:rPr lang="en-US" altLang="en-US" sz="2800" i="1" dirty="0">
                <a:cs typeface="Arial" panose="020B0604020202020204" pitchFamily="34" charset="0"/>
              </a:rPr>
              <a:t>r</a:t>
            </a:r>
            <a:r>
              <a:rPr lang="en-US" altLang="en-US" sz="2800" baseline="-25000" dirty="0">
                <a:cs typeface="Arial" panose="020B0604020202020204" pitchFamily="34" charset="0"/>
              </a:rPr>
              <a:t>1</a:t>
            </a:r>
            <a:r>
              <a:rPr lang="en-US" altLang="en-US" sz="2800" dirty="0">
                <a:cs typeface="Arial" panose="020B0604020202020204" pitchFamily="34" charset="0"/>
              </a:rPr>
              <a:t>,</a:t>
            </a:r>
            <a:r>
              <a:rPr lang="en-US" altLang="en-US" sz="2800" i="1" dirty="0">
                <a:cs typeface="Arial" panose="020B0604020202020204" pitchFamily="34" charset="0"/>
              </a:rPr>
              <a:t>r</a:t>
            </a:r>
            <a:r>
              <a:rPr lang="en-US" altLang="en-US" sz="2800" baseline="-25000" dirty="0">
                <a:cs typeface="Arial" panose="020B0604020202020204" pitchFamily="34" charset="0"/>
              </a:rPr>
              <a:t>2</a:t>
            </a:r>
            <a:r>
              <a:rPr lang="en-US" altLang="en-US" sz="2800" dirty="0">
                <a:cs typeface="Arial" panose="020B0604020202020204" pitchFamily="34" charset="0"/>
              </a:rPr>
              <a:t>) </a:t>
            </a:r>
            <a:r>
              <a:rPr lang="en-US" altLang="en-US" sz="2800" dirty="0">
                <a:sym typeface="Symbol" panose="05050102010706020507" pitchFamily="18" charset="2"/>
              </a:rPr>
              <a:t></a:t>
            </a:r>
            <a:r>
              <a:rPr lang="en-US" altLang="en-US" sz="2800" dirty="0">
                <a:cs typeface="Arial" panose="020B0604020202020204" pitchFamily="34" charset="0"/>
              </a:rPr>
              <a:t> </a:t>
            </a:r>
            <a:r>
              <a:rPr lang="en-US" altLang="en-US" sz="2800" i="1" dirty="0">
                <a:cs typeface="Arial" panose="020B0604020202020204" pitchFamily="34" charset="0"/>
              </a:rPr>
              <a:t>Q</a:t>
            </a:r>
            <a:r>
              <a:rPr lang="en-US" altLang="en-US" sz="2800" dirty="0">
                <a:cs typeface="Arial" panose="020B0604020202020204" pitchFamily="34" charset="0"/>
              </a:rPr>
              <a:t> and each </a:t>
            </a:r>
            <a:r>
              <a:rPr lang="en-US" altLang="en-US" sz="2800" i="1" dirty="0">
                <a:cs typeface="Arial" panose="020B0604020202020204" pitchFamily="34" charset="0"/>
              </a:rPr>
              <a:t>a</a:t>
            </a:r>
            <a:r>
              <a:rPr lang="en-US" altLang="en-US" sz="2800" dirty="0">
                <a:cs typeface="Arial" panose="020B0604020202020204" pitchFamily="34" charset="0"/>
              </a:rPr>
              <a:t> </a:t>
            </a:r>
            <a:r>
              <a:rPr lang="en-US" altLang="en-US" sz="2800" dirty="0">
                <a:sym typeface="Symbol" panose="05050102010706020507" pitchFamily="18" charset="2"/>
              </a:rPr>
              <a:t> </a:t>
            </a:r>
            <a:r>
              <a:rPr lang="el-GR" altLang="en-US" sz="2800" dirty="0">
                <a:cs typeface="Arial" panose="020B0604020202020204" pitchFamily="34" charset="0"/>
              </a:rPr>
              <a:t>Σ</a:t>
            </a:r>
            <a:r>
              <a:rPr lang="en-US" altLang="en-US" sz="2800" dirty="0">
                <a:cs typeface="Arial" panose="020B0604020202020204" pitchFamily="34" charset="0"/>
              </a:rPr>
              <a:t>, let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i="1"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i="1"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t>
            </a:r>
          </a:p>
          <a:p>
            <a:pPr lvl="2" eaLnBrk="1" hangingPunct="1">
              <a:lnSpc>
                <a:spcPct val="120000"/>
              </a:lnSpc>
            </a:pPr>
            <a:r>
              <a:rPr lang="en-US" altLang="en-US" sz="2600" dirty="0">
                <a:cs typeface="Arial" panose="020B0604020202020204" pitchFamily="34" charset="0"/>
                <a:sym typeface="Symbol" panose="05050102010706020507" pitchFamily="18" charset="2"/>
              </a:rPr>
              <a:t>Hence </a:t>
            </a:r>
            <a:r>
              <a:rPr lang="en-US" altLang="en-US" sz="2600" i="1" dirty="0">
                <a:cs typeface="Arial" panose="020B0604020202020204" pitchFamily="34" charset="0"/>
                <a:sym typeface="Symbol" panose="05050102010706020507" pitchFamily="18" charset="2"/>
              </a:rPr>
              <a:t></a:t>
            </a:r>
            <a:r>
              <a:rPr lang="en-US" altLang="en-US" sz="2600" dirty="0">
                <a:cs typeface="Arial" panose="020B0604020202020204" pitchFamily="34" charset="0"/>
                <a:sym typeface="Symbol" panose="05050102010706020507" pitchFamily="18" charset="2"/>
              </a:rPr>
              <a:t> gets a state of </a:t>
            </a:r>
            <a:r>
              <a:rPr lang="en-US" altLang="en-US" sz="2600" i="1" dirty="0">
                <a:cs typeface="Arial" panose="020B0604020202020204" pitchFamily="34" charset="0"/>
                <a:sym typeface="Symbol" panose="05050102010706020507" pitchFamily="18" charset="2"/>
              </a:rPr>
              <a:t>M</a:t>
            </a:r>
            <a:r>
              <a:rPr lang="en-US" altLang="en-US" sz="2600" dirty="0">
                <a:cs typeface="Arial" panose="020B0604020202020204" pitchFamily="34" charset="0"/>
                <a:sym typeface="Symbol" panose="05050102010706020507" pitchFamily="18" charset="2"/>
              </a:rPr>
              <a:t> (which actually is a pair of states from </a:t>
            </a:r>
            <a:r>
              <a:rPr lang="en-US" altLang="en-US" sz="2600" i="1" dirty="0">
                <a:cs typeface="Arial" panose="020B0604020202020204" pitchFamily="34" charset="0"/>
                <a:sym typeface="Symbol" panose="05050102010706020507" pitchFamily="18" charset="2"/>
              </a:rPr>
              <a:t>M</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and </a:t>
            </a:r>
            <a:r>
              <a:rPr lang="en-US" altLang="en-US" sz="2600" i="1" dirty="0">
                <a:cs typeface="Arial" panose="020B0604020202020204" pitchFamily="34" charset="0"/>
                <a:sym typeface="Symbol" panose="05050102010706020507" pitchFamily="18" charset="2"/>
              </a:rPr>
              <a:t>M</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 together with an input symbol, and returns </a:t>
            </a:r>
            <a:r>
              <a:rPr lang="en-US" altLang="en-US" sz="2600" i="1" dirty="0">
                <a:cs typeface="Arial" panose="020B0604020202020204" pitchFamily="34" charset="0"/>
                <a:sym typeface="Symbol" panose="05050102010706020507" pitchFamily="18" charset="2"/>
              </a:rPr>
              <a:t>M</a:t>
            </a:r>
            <a:r>
              <a:rPr lang="en-US" altLang="en-US" sz="2600" dirty="0">
                <a:cs typeface="Arial" panose="020B0604020202020204" pitchFamily="34" charset="0"/>
                <a:sym typeface="Symbol" panose="05050102010706020507" pitchFamily="18" charset="2"/>
              </a:rPr>
              <a:t>’s next state.</a:t>
            </a:r>
          </a:p>
          <a:p>
            <a:pPr lvl="1" eaLnBrk="1" hangingPunct="1">
              <a:lnSpc>
                <a:spcPct val="120000"/>
              </a:lnSpc>
            </a:pP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is the pair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1</a:t>
            </a:r>
            <a:r>
              <a:rPr lang="en-US" altLang="en-US" sz="2800" i="1" dirty="0">
                <a:cs typeface="Arial" panose="020B0604020202020204" pitchFamily="34" charset="0"/>
                <a:sym typeface="Symbol" panose="05050102010706020507" pitchFamily="18" charset="2"/>
              </a:rPr>
              <a:t>, q</a:t>
            </a:r>
            <a:r>
              <a:rPr lang="en-US" altLang="en-US" sz="2800" i="1" baseline="-25000" dirty="0">
                <a:cs typeface="Arial" panose="020B0604020202020204" pitchFamily="34" charset="0"/>
                <a:sym typeface="Symbol" panose="05050102010706020507" pitchFamily="18" charset="2"/>
              </a:rPr>
              <a:t>2</a:t>
            </a:r>
            <a:r>
              <a:rPr lang="en-US" altLang="en-US" sz="2800" i="1" dirty="0">
                <a:cs typeface="Arial" panose="020B0604020202020204" pitchFamily="34" charset="0"/>
                <a:sym typeface="Symbol" panose="05050102010706020507" pitchFamily="18" charset="2"/>
              </a:rPr>
              <a:t>).</a:t>
            </a:r>
          </a:p>
          <a:p>
            <a:pPr lvl="1" eaLnBrk="1" hangingPunct="1">
              <a:lnSpc>
                <a:spcPct val="120000"/>
              </a:lnSpc>
            </a:pPr>
            <a:r>
              <a:rPr lang="en-US" altLang="en-US" sz="2800" i="1" dirty="0">
                <a:cs typeface="Arial" panose="020B0604020202020204" pitchFamily="34" charset="0"/>
                <a:sym typeface="Symbol" panose="05050102010706020507" pitchFamily="18" charset="2"/>
              </a:rPr>
              <a:t>F</a:t>
            </a:r>
            <a:r>
              <a:rPr lang="en-US" altLang="en-US" sz="2800" dirty="0">
                <a:cs typeface="Arial" panose="020B0604020202020204" pitchFamily="34" charset="0"/>
                <a:sym typeface="Symbol" panose="05050102010706020507" pitchFamily="18" charset="2"/>
              </a:rPr>
              <a:t> = {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baseline="-25000" dirty="0">
                <a:cs typeface="Arial" panose="020B0604020202020204" pitchFamily="34" charset="0"/>
                <a:sym typeface="Symbol" panose="05050102010706020507" pitchFamily="18" charset="2"/>
              </a:rPr>
              <a:t>1</a:t>
            </a:r>
            <a:r>
              <a:rPr lang="en-US" altLang="en-US" sz="2800" dirty="0">
                <a:cs typeface="Arial" panose="020B0604020202020204" pitchFamily="34" charset="0"/>
                <a:sym typeface="Symbol" panose="05050102010706020507" pitchFamily="18" charset="2"/>
              </a:rPr>
              <a:t> or </a:t>
            </a:r>
            <a:r>
              <a:rPr lang="en-US" altLang="en-US" sz="2800" i="1" dirty="0">
                <a:cs typeface="Arial" panose="020B0604020202020204" pitchFamily="34" charset="0"/>
                <a:sym typeface="Symbol" panose="05050102010706020507" pitchFamily="18" charset="2"/>
              </a:rPr>
              <a:t>r</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baseline="-25000" dirty="0">
                <a:cs typeface="Arial" panose="020B0604020202020204" pitchFamily="34" charset="0"/>
                <a:sym typeface="Symbol" panose="05050102010706020507" pitchFamily="18" charset="2"/>
              </a:rPr>
              <a:t>2</a:t>
            </a:r>
            <a:r>
              <a:rPr lang="en-US" altLang="en-US" sz="2800" dirty="0">
                <a:cs typeface="Arial" panose="020B0604020202020204" pitchFamily="34" charset="0"/>
                <a:sym typeface="Symbol" panose="05050102010706020507" pitchFamily="18" charset="2"/>
              </a:rPr>
              <a:t> }</a:t>
            </a:r>
          </a:p>
          <a:p>
            <a:pPr lvl="2" eaLnBrk="1" hangingPunct="1">
              <a:lnSpc>
                <a:spcPct val="120000"/>
              </a:lnSpc>
            </a:pPr>
            <a:r>
              <a:rPr lang="en-US" altLang="en-US" sz="2600" i="1" dirty="0">
                <a:cs typeface="Arial" panose="020B0604020202020204" pitchFamily="34" charset="0"/>
                <a:sym typeface="Symbol" panose="05050102010706020507" pitchFamily="18" charset="2"/>
              </a:rPr>
              <a:t>F</a:t>
            </a:r>
            <a:r>
              <a:rPr lang="en-US" altLang="en-US" sz="2600" dirty="0">
                <a:cs typeface="Arial" panose="020B0604020202020204" pitchFamily="34" charset="0"/>
                <a:sym typeface="Symbol" panose="05050102010706020507" pitchFamily="18" charset="2"/>
              </a:rPr>
              <a:t> = (</a:t>
            </a:r>
            <a:r>
              <a:rPr lang="en-US" altLang="en-US" sz="2600" i="1" dirty="0">
                <a:cs typeface="Arial" panose="020B0604020202020204" pitchFamily="34" charset="0"/>
                <a:sym typeface="Symbol" panose="05050102010706020507" pitchFamily="18" charset="2"/>
              </a:rPr>
              <a:t>F</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t>
            </a:r>
            <a:r>
              <a:rPr lang="en-US" altLang="en-US" sz="2600" dirty="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 </a:t>
            </a:r>
            <a:r>
              <a:rPr lang="en-US" altLang="en-US" sz="2600" dirty="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1</a:t>
            </a:r>
            <a:r>
              <a:rPr lang="en-US" altLang="en-US" sz="2600" dirty="0">
                <a:cs typeface="Arial" panose="020B0604020202020204" pitchFamily="34" charset="0"/>
                <a:sym typeface="Symbol" panose="05050102010706020507" pitchFamily="18" charset="2"/>
              </a:rPr>
              <a:t> </a:t>
            </a:r>
            <a:r>
              <a:rPr lang="en-US" altLang="en-US" sz="2600" dirty="0">
                <a:sym typeface="Symbol" panose="05050102010706020507" pitchFamily="18" charset="2"/>
              </a:rPr>
              <a: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F</a:t>
            </a:r>
            <a:r>
              <a:rPr lang="en-US" altLang="en-US" sz="2600" baseline="-25000" dirty="0">
                <a:cs typeface="Arial" panose="020B0604020202020204" pitchFamily="34" charset="0"/>
                <a:sym typeface="Symbol" panose="05050102010706020507" pitchFamily="18" charset="2"/>
              </a:rPr>
              <a:t>2</a:t>
            </a:r>
            <a:r>
              <a:rPr lang="en-US" altLang="en-US" sz="2600" dirty="0">
                <a:cs typeface="Arial" panose="020B0604020202020204" pitchFamily="34" charset="0"/>
                <a:sym typeface="Symbol" panose="05050102010706020507" pitchFamily="18" charset="2"/>
              </a:rPr>
              <a:t>)</a:t>
            </a:r>
          </a:p>
          <a:p>
            <a:endParaRPr lang="en-US" dirty="0"/>
          </a:p>
        </p:txBody>
      </p:sp>
    </p:spTree>
    <p:extLst>
      <p:ext uri="{BB962C8B-B14F-4D97-AF65-F5344CB8AC3E}">
        <p14:creationId xmlns:p14="http://schemas.microsoft.com/office/powerpoint/2010/main" val="1101097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4963C3-E99F-4F17-8DA7-952F85BB10A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C464B-9B61-4B15-979A-9CE27FEC7817}"/>
              </a:ext>
            </a:extLst>
          </p:cNvPr>
          <p:cNvSpPr>
            <a:spLocks noGrp="1"/>
          </p:cNvSpPr>
          <p:nvPr>
            <p:ph type="body" sz="quarter" idx="12"/>
          </p:nvPr>
        </p:nvSpPr>
        <p:spPr/>
        <p:txBody>
          <a:bodyPr/>
          <a:lstStyle/>
          <a:p>
            <a:r>
              <a:rPr lang="en-US" altLang="en-US" dirty="0"/>
              <a:t>Closure under Concatenation</a:t>
            </a:r>
            <a:endParaRPr lang="en-US" dirty="0"/>
          </a:p>
        </p:txBody>
      </p:sp>
      <p:sp>
        <p:nvSpPr>
          <p:cNvPr id="4" name="Text Placeholder 3">
            <a:extLst>
              <a:ext uri="{FF2B5EF4-FFF2-40B4-BE49-F238E27FC236}">
                <a16:creationId xmlns:a16="http://schemas.microsoft.com/office/drawing/2014/main" id="{BBE26F96-295B-4B27-80AC-66C63CD4A46D}"/>
              </a:ext>
            </a:extLst>
          </p:cNvPr>
          <p:cNvSpPr>
            <a:spLocks noGrp="1"/>
          </p:cNvSpPr>
          <p:nvPr>
            <p:ph type="body" sz="quarter" idx="13"/>
          </p:nvPr>
        </p:nvSpPr>
        <p:spPr/>
        <p:txBody>
          <a:bodyPr/>
          <a:lstStyle/>
          <a:p>
            <a:pPr algn="just" eaLnBrk="1" hangingPunct="1"/>
            <a:r>
              <a:rPr lang="en-US" altLang="en-US" sz="2400" dirty="0"/>
              <a:t>Let </a:t>
            </a:r>
            <a:r>
              <a:rPr lang="en-US" altLang="en-US" sz="2400" i="1" dirty="0"/>
              <a:t>M</a:t>
            </a:r>
            <a:r>
              <a:rPr lang="en-US" altLang="en-US" sz="2400" baseline="-25000" dirty="0"/>
              <a:t>1</a:t>
            </a:r>
            <a:r>
              <a:rPr lang="en-US" altLang="en-US" sz="2400" dirty="0"/>
              <a:t> recognize </a:t>
            </a:r>
            <a:r>
              <a:rPr lang="en-US" altLang="en-US" sz="2400" i="1" dirty="0"/>
              <a:t>A</a:t>
            </a:r>
            <a:r>
              <a:rPr lang="en-US" altLang="en-US" sz="2400" baseline="-25000" dirty="0"/>
              <a:t>1</a:t>
            </a:r>
            <a:r>
              <a:rPr lang="en-US" altLang="en-US" sz="2400" dirty="0"/>
              <a:t>, where </a:t>
            </a:r>
            <a:r>
              <a:rPr lang="en-US" altLang="en-US" sz="2400" i="1" dirty="0"/>
              <a:t>M</a:t>
            </a:r>
            <a:r>
              <a:rPr lang="en-US" altLang="en-US" sz="2400" baseline="-25000" dirty="0"/>
              <a:t>1</a:t>
            </a:r>
            <a:r>
              <a:rPr lang="en-US" altLang="en-US" sz="2400" dirty="0"/>
              <a:t>= (</a:t>
            </a:r>
            <a:r>
              <a:rPr lang="en-US" altLang="en-US" sz="2400" i="1" dirty="0"/>
              <a:t>Q</a:t>
            </a:r>
            <a:r>
              <a:rPr lang="en-US" altLang="en-US" sz="2400" i="1" baseline="-25000" dirty="0"/>
              <a:t>1</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n-US" altLang="en-US" sz="2400" i="1" dirty="0">
                <a:cs typeface="Arial" panose="020B0604020202020204" pitchFamily="34" charset="0"/>
                <a:sym typeface="Symbol" panose="05050102010706020507" pitchFamily="18" charset="2"/>
              </a:rPr>
              <a:t></a:t>
            </a:r>
            <a:r>
              <a:rPr lang="en-US" altLang="en-US" sz="2400" i="1" baseline="-25000" dirty="0">
                <a:cs typeface="Arial" panose="020B0604020202020204" pitchFamily="34" charset="0"/>
                <a:sym typeface="Symbol" panose="05050102010706020507" pitchFamily="18" charset="2"/>
              </a:rPr>
              <a:t>1</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1</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i="1" baseline="-25000" dirty="0">
                <a:cs typeface="Arial" panose="020B0604020202020204" pitchFamily="34" charset="0"/>
                <a:sym typeface="Symbol" panose="05050102010706020507" pitchFamily="18" charset="2"/>
              </a:rPr>
              <a:t>1</a:t>
            </a:r>
            <a:r>
              <a:rPr lang="en-US" altLang="en-US" sz="2400" dirty="0"/>
              <a:t>), and </a:t>
            </a:r>
            <a:r>
              <a:rPr lang="en-US" altLang="en-US" sz="2400" i="1" dirty="0"/>
              <a:t>M</a:t>
            </a:r>
            <a:r>
              <a:rPr lang="en-US" altLang="en-US" sz="2400" baseline="-25000" dirty="0"/>
              <a:t>2</a:t>
            </a:r>
            <a:r>
              <a:rPr lang="en-US" altLang="en-US" sz="2400" dirty="0"/>
              <a:t> recognize </a:t>
            </a:r>
            <a:r>
              <a:rPr lang="en-US" altLang="en-US" sz="2400" i="1" dirty="0"/>
              <a:t>A</a:t>
            </a:r>
            <a:r>
              <a:rPr lang="en-US" altLang="en-US" sz="2400" baseline="-25000" dirty="0"/>
              <a:t>2</a:t>
            </a:r>
            <a:r>
              <a:rPr lang="en-US" altLang="en-US" sz="2400" dirty="0"/>
              <a:t>, where </a:t>
            </a:r>
            <a:r>
              <a:rPr lang="en-US" altLang="en-US" sz="2400" i="1" dirty="0"/>
              <a:t>M</a:t>
            </a:r>
            <a:r>
              <a:rPr lang="en-US" altLang="en-US" sz="2400" baseline="-25000" dirty="0"/>
              <a:t>2</a:t>
            </a:r>
            <a:r>
              <a:rPr lang="en-US" altLang="en-US" sz="2400" dirty="0"/>
              <a:t>= (</a:t>
            </a:r>
            <a:r>
              <a:rPr lang="en-US" altLang="en-US" sz="2400" i="1" dirty="0"/>
              <a:t>Q</a:t>
            </a:r>
            <a:r>
              <a:rPr lang="en-US" altLang="en-US" sz="2400" i="1" baseline="-25000" dirty="0"/>
              <a:t>2</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n-US" altLang="en-US" sz="2400" i="1" dirty="0">
                <a:cs typeface="Arial" panose="020B0604020202020204" pitchFamily="34" charset="0"/>
                <a:sym typeface="Symbol" panose="05050102010706020507" pitchFamily="18" charset="2"/>
              </a:rPr>
              <a:t></a:t>
            </a:r>
            <a:r>
              <a:rPr lang="en-US" altLang="en-US" sz="2400" i="1" baseline="-25000" dirty="0">
                <a:cs typeface="Arial" panose="020B0604020202020204" pitchFamily="34" charset="0"/>
                <a:sym typeface="Symbol" panose="05050102010706020507" pitchFamily="18" charset="2"/>
              </a:rPr>
              <a:t>2</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2</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i="1" baseline="-25000" dirty="0">
                <a:cs typeface="Arial" panose="020B0604020202020204" pitchFamily="34" charset="0"/>
                <a:sym typeface="Symbol" panose="05050102010706020507" pitchFamily="18" charset="2"/>
              </a:rPr>
              <a:t>2</a:t>
            </a:r>
            <a:r>
              <a:rPr lang="en-US" altLang="en-US" sz="2400" dirty="0"/>
              <a:t>).</a:t>
            </a:r>
          </a:p>
          <a:p>
            <a:pPr eaLnBrk="1" hangingPunct="1"/>
            <a:r>
              <a:rPr lang="en-US" altLang="en-US" sz="2400" dirty="0"/>
              <a:t>Construct </a:t>
            </a:r>
            <a:r>
              <a:rPr lang="en-US" altLang="en-US" sz="2400" i="1" dirty="0"/>
              <a:t>M</a:t>
            </a:r>
            <a:r>
              <a:rPr lang="en-US" altLang="en-US" sz="2400" dirty="0"/>
              <a:t> to recognize </a:t>
            </a:r>
            <a:r>
              <a:rPr lang="en-US" altLang="en-US" sz="2400" i="1" dirty="0"/>
              <a:t>A</a:t>
            </a:r>
            <a:r>
              <a:rPr lang="en-US" altLang="en-US" sz="2400" baseline="-25000" dirty="0"/>
              <a:t>1</a:t>
            </a:r>
            <a:r>
              <a:rPr lang="en-US" altLang="en-US" sz="4400" baseline="-25000" dirty="0">
                <a:sym typeface="Symbol" panose="05050102010706020507" pitchFamily="18" charset="2"/>
              </a:rPr>
              <a:t></a:t>
            </a:r>
            <a:r>
              <a:rPr lang="en-US" altLang="en-US" sz="2400" i="1" dirty="0"/>
              <a:t>A</a:t>
            </a:r>
            <a:r>
              <a:rPr lang="en-US" altLang="en-US" sz="2400" baseline="-25000" dirty="0"/>
              <a:t>2</a:t>
            </a:r>
            <a:r>
              <a:rPr lang="en-US" altLang="en-US" sz="2400" dirty="0"/>
              <a:t>, where </a:t>
            </a:r>
            <a:r>
              <a:rPr lang="en-US" altLang="en-US" sz="2400" i="1" dirty="0"/>
              <a:t>M </a:t>
            </a:r>
            <a:r>
              <a:rPr lang="en-US" altLang="en-US" sz="2400" dirty="0"/>
              <a:t>= (</a:t>
            </a:r>
            <a:r>
              <a:rPr lang="en-US" altLang="en-US" sz="2400" i="1" dirty="0"/>
              <a:t>Q</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n-US" altLang="en-US" sz="2400" i="1"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0</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dirty="0"/>
              <a:t>).</a:t>
            </a:r>
          </a:p>
          <a:p>
            <a:pPr algn="just" eaLnBrk="1" hangingPunct="1"/>
            <a:r>
              <a:rPr lang="en-US" altLang="en-US" sz="2400" i="1" dirty="0"/>
              <a:t>M</a:t>
            </a:r>
            <a:r>
              <a:rPr lang="en-US" altLang="en-US" sz="2400" dirty="0"/>
              <a:t> must accept if its input can be broken into two pieces where </a:t>
            </a:r>
            <a:r>
              <a:rPr lang="en-US" altLang="en-US" sz="2400" i="1" dirty="0"/>
              <a:t>M</a:t>
            </a:r>
            <a:r>
              <a:rPr lang="en-US" altLang="en-US" sz="2400" baseline="-25000" dirty="0"/>
              <a:t>1</a:t>
            </a:r>
            <a:r>
              <a:rPr lang="en-US" altLang="en-US" sz="2400" dirty="0"/>
              <a:t> accepts the first piece and </a:t>
            </a:r>
            <a:r>
              <a:rPr lang="en-US" altLang="en-US" sz="2400" i="1" dirty="0"/>
              <a:t>M</a:t>
            </a:r>
            <a:r>
              <a:rPr lang="en-US" altLang="en-US" sz="2400" baseline="-25000" dirty="0"/>
              <a:t>2</a:t>
            </a:r>
            <a:r>
              <a:rPr lang="en-US" altLang="en-US" sz="2400" dirty="0"/>
              <a:t> accepts the second piece.</a:t>
            </a:r>
          </a:p>
          <a:p>
            <a:pPr algn="just" eaLnBrk="1" hangingPunct="1"/>
            <a:endParaRPr lang="en-US" altLang="en-US" sz="2400" b="1" i="1" dirty="0"/>
          </a:p>
          <a:p>
            <a:pPr algn="just" eaLnBrk="1" hangingPunct="1"/>
            <a:r>
              <a:rPr lang="en-US" altLang="en-US" sz="2400" b="1" i="1" dirty="0"/>
              <a:t>Problem</a:t>
            </a:r>
            <a:r>
              <a:rPr lang="en-US" altLang="en-US" sz="2400" dirty="0"/>
              <a:t>: </a:t>
            </a:r>
            <a:r>
              <a:rPr lang="en-US" altLang="en-US" sz="2400" i="1" dirty="0"/>
              <a:t>M</a:t>
            </a:r>
            <a:r>
              <a:rPr lang="en-US" altLang="en-US" sz="2400" dirty="0"/>
              <a:t> doesn’t know where to break its input. i.e., where the first part ends and the second begins.</a:t>
            </a:r>
          </a:p>
          <a:p>
            <a:pPr algn="just" eaLnBrk="1" hangingPunct="1"/>
            <a:r>
              <a:rPr lang="en-US" altLang="en-US" sz="2400" dirty="0"/>
              <a:t>To solve the problem we will learn a new technique called </a:t>
            </a:r>
            <a:r>
              <a:rPr lang="en-US" altLang="en-US" sz="2400" i="1" dirty="0"/>
              <a:t>nondeterministic automaton</a:t>
            </a:r>
            <a:r>
              <a:rPr lang="en-US" altLang="en-US" sz="2400" dirty="0"/>
              <a:t>. </a:t>
            </a:r>
          </a:p>
          <a:p>
            <a:pPr algn="just"/>
            <a:endParaRPr lang="en-US" dirty="0"/>
          </a:p>
        </p:txBody>
      </p:sp>
    </p:spTree>
    <p:extLst>
      <p:ext uri="{BB962C8B-B14F-4D97-AF65-F5344CB8AC3E}">
        <p14:creationId xmlns:p14="http://schemas.microsoft.com/office/powerpoint/2010/main" val="1341761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7E8CE4-B2E2-4CE6-B2D1-D742738641F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2DA3DC2-BA15-4AA9-9A8B-952B1C294FA2}"/>
              </a:ext>
            </a:extLst>
          </p:cNvPr>
          <p:cNvSpPr>
            <a:spLocks noGrp="1"/>
          </p:cNvSpPr>
          <p:nvPr>
            <p:ph type="body" sz="quarter" idx="12"/>
          </p:nvPr>
        </p:nvSpPr>
        <p:spPr/>
        <p:txBody>
          <a:bodyPr/>
          <a:lstStyle/>
          <a:p>
            <a:r>
              <a:rPr lang="en-US" sz="3200" dirty="0"/>
              <a:t>Closure Under Regular Operations for </a:t>
            </a:r>
            <a:r>
              <a:rPr lang="en-US" sz="3200" dirty="0" err="1"/>
              <a:t>nfa</a:t>
            </a:r>
            <a:endParaRPr lang="en-US" sz="3200" dirty="0"/>
          </a:p>
        </p:txBody>
      </p:sp>
      <p:sp>
        <p:nvSpPr>
          <p:cNvPr id="4" name="Rectangle 3">
            <a:extLst>
              <a:ext uri="{FF2B5EF4-FFF2-40B4-BE49-F238E27FC236}">
                <a16:creationId xmlns:a16="http://schemas.microsoft.com/office/drawing/2014/main" id="{126516FC-EFF4-4986-8E1F-206F1A35966D}"/>
              </a:ext>
            </a:extLst>
          </p:cNvPr>
          <p:cNvSpPr txBox="1">
            <a:spLocks noChangeArrowheads="1"/>
          </p:cNvSpPr>
          <p:nvPr/>
        </p:nvSpPr>
        <p:spPr>
          <a:xfrm>
            <a:off x="152400" y="914400"/>
            <a:ext cx="8991600" cy="3124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dirty="0"/>
              <a:t>Let,</a:t>
            </a:r>
          </a:p>
          <a:p>
            <a:pPr lvl="1"/>
            <a:r>
              <a:rPr lang="en-US" altLang="en-US" i="1" dirty="0"/>
              <a:t>N</a:t>
            </a:r>
            <a:r>
              <a:rPr lang="en-US" altLang="en-US" baseline="-25000" dirty="0"/>
              <a:t>1</a:t>
            </a:r>
            <a:r>
              <a:rPr lang="en-US" altLang="en-US" dirty="0"/>
              <a:t> = (</a:t>
            </a:r>
            <a:r>
              <a:rPr lang="en-US" altLang="en-US" i="1" dirty="0"/>
              <a:t>Q</a:t>
            </a:r>
            <a:r>
              <a:rPr lang="en-US" altLang="en-US" baseline="-25000" dirty="0"/>
              <a:t>1</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1</a:t>
            </a:r>
            <a:r>
              <a:rPr lang="en-US" altLang="en-US" dirty="0"/>
              <a:t>) recognizes </a:t>
            </a:r>
            <a:r>
              <a:rPr lang="en-US" altLang="en-US" i="1" dirty="0"/>
              <a:t>A</a:t>
            </a:r>
            <a:r>
              <a:rPr lang="en-US" altLang="en-US" baseline="-25000" dirty="0"/>
              <a:t>1</a:t>
            </a:r>
            <a:r>
              <a:rPr lang="en-US" altLang="en-US" dirty="0"/>
              <a:t>.</a:t>
            </a:r>
          </a:p>
          <a:p>
            <a:pPr lvl="1"/>
            <a:r>
              <a:rPr lang="en-US" altLang="en-US" i="1" dirty="0"/>
              <a:t>N</a:t>
            </a:r>
            <a:r>
              <a:rPr lang="en-US" altLang="en-US" baseline="-25000" dirty="0"/>
              <a:t>2 </a:t>
            </a:r>
            <a:r>
              <a:rPr lang="en-US" altLang="en-US" dirty="0"/>
              <a:t>= (</a:t>
            </a:r>
            <a:r>
              <a:rPr lang="en-US" altLang="en-US" i="1" dirty="0"/>
              <a:t>Q</a:t>
            </a:r>
            <a:r>
              <a:rPr lang="en-US" altLang="en-US" baseline="-25000" dirty="0"/>
              <a:t>2</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2</a:t>
            </a:r>
            <a:r>
              <a:rPr lang="en-US" altLang="en-US" dirty="0"/>
              <a:t>) recognizes </a:t>
            </a:r>
            <a:r>
              <a:rPr lang="en-US" altLang="en-US" i="1" dirty="0"/>
              <a:t>A</a:t>
            </a:r>
            <a:r>
              <a:rPr lang="en-US" altLang="en-US" baseline="-25000" dirty="0"/>
              <a:t>2</a:t>
            </a:r>
            <a:r>
              <a:rPr lang="en-US" altLang="en-US" dirty="0"/>
              <a:t>.</a:t>
            </a:r>
          </a:p>
          <a:p>
            <a:r>
              <a:rPr lang="en-US" altLang="en-US" b="1" dirty="0"/>
              <a:t>UNION</a:t>
            </a:r>
            <a:r>
              <a:rPr lang="en-US" altLang="en-US" dirty="0"/>
              <a:t>: Construct </a:t>
            </a:r>
            <a:r>
              <a:rPr lang="en-US" altLang="en-US" i="1" dirty="0"/>
              <a:t>N</a:t>
            </a:r>
            <a:r>
              <a:rPr lang="en-US" altLang="en-US" dirty="0"/>
              <a:t> = (</a:t>
            </a:r>
            <a:r>
              <a:rPr lang="en-US" altLang="en-US" i="1" dirty="0"/>
              <a:t>Q</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dirty="0"/>
              <a:t>) to recognize </a:t>
            </a:r>
            <a:r>
              <a:rPr lang="en-US" altLang="en-US" i="1" dirty="0"/>
              <a:t>A</a:t>
            </a:r>
            <a:r>
              <a:rPr lang="en-US" altLang="en-US" baseline="-25000" dirty="0"/>
              <a:t>1</a:t>
            </a:r>
            <a:r>
              <a:rPr lang="en-US" altLang="en-US" dirty="0">
                <a:sym typeface="Symbol" panose="05050102010706020507" pitchFamily="18" charset="2"/>
              </a:rPr>
              <a:t></a:t>
            </a:r>
            <a:r>
              <a:rPr lang="en-US" altLang="en-US" baseline="-25000" dirty="0"/>
              <a:t> </a:t>
            </a:r>
            <a:r>
              <a:rPr lang="en-US" altLang="en-US" i="1" dirty="0"/>
              <a:t>A</a:t>
            </a:r>
            <a:r>
              <a:rPr lang="en-US" altLang="en-US" baseline="-25000" dirty="0"/>
              <a:t>2</a:t>
            </a:r>
            <a:r>
              <a:rPr lang="en-US" altLang="en-US" dirty="0"/>
              <a:t>.</a:t>
            </a:r>
          </a:p>
          <a:p>
            <a:pPr lvl="1"/>
            <a:r>
              <a:rPr lang="en-US" altLang="en-US" dirty="0"/>
              <a:t>Q =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t>} </a:t>
            </a:r>
            <a:r>
              <a:rPr lang="en-US" altLang="en-US" dirty="0">
                <a:sym typeface="Symbol" panose="05050102010706020507" pitchFamily="18" charset="2"/>
              </a:rPr>
              <a:t> Q</a:t>
            </a:r>
            <a:r>
              <a:rPr lang="en-US" altLang="en-US" baseline="-25000" dirty="0">
                <a:sym typeface="Symbol" panose="05050102010706020507" pitchFamily="18" charset="2"/>
              </a:rPr>
              <a:t>1</a:t>
            </a:r>
            <a:r>
              <a:rPr lang="en-US" altLang="en-US" dirty="0">
                <a:sym typeface="Symbol" panose="05050102010706020507" pitchFamily="18" charset="2"/>
              </a:rPr>
              <a:t>  Q</a:t>
            </a:r>
            <a:r>
              <a:rPr lang="en-US" altLang="en-US" baseline="-25000" dirty="0">
                <a:sym typeface="Symbol" panose="05050102010706020507" pitchFamily="18" charset="2"/>
              </a:rPr>
              <a:t>2</a:t>
            </a:r>
            <a:r>
              <a:rPr lang="en-US" altLang="en-US" dirty="0"/>
              <a:t>.</a:t>
            </a:r>
          </a:p>
          <a:p>
            <a:pPr lvl="1"/>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is the starting state.</a:t>
            </a:r>
          </a:p>
          <a:p>
            <a:pPr lvl="1"/>
            <a:r>
              <a:rPr lang="en-US" altLang="en-US" i="1" dirty="0">
                <a:cs typeface="Arial" panose="020B0604020202020204" pitchFamily="34" charset="0"/>
                <a:sym typeface="Symbol" panose="05050102010706020507" pitchFamily="18" charset="2"/>
              </a:rPr>
              <a:t>F</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F</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dirty="0">
                <a:sym typeface="Symbol" panose="05050102010706020507" pitchFamily="18" charset="2"/>
              </a:rPr>
              <a:t> </a:t>
            </a:r>
            <a:r>
              <a:rPr lang="en-US" altLang="en-US" i="1" dirty="0">
                <a:sym typeface="Symbol" panose="05050102010706020507" pitchFamily="18" charset="2"/>
              </a:rPr>
              <a:t>F</a:t>
            </a:r>
            <a:r>
              <a:rPr lang="en-US" altLang="en-US" baseline="-25000" dirty="0">
                <a:sym typeface="Symbol" panose="05050102010706020507" pitchFamily="18" charset="2"/>
              </a:rPr>
              <a:t>2</a:t>
            </a:r>
            <a:r>
              <a:rPr lang="en-US" altLang="en-US" dirty="0">
                <a:sym typeface="Symbol" panose="05050102010706020507" pitchFamily="18" charset="2"/>
              </a:rPr>
              <a:t>.</a:t>
            </a:r>
          </a:p>
          <a:p>
            <a:pPr lvl="1"/>
            <a:r>
              <a:rPr lang="en-US" altLang="en-US" dirty="0">
                <a:sym typeface="Symbol" panose="05050102010706020507" pitchFamily="18" charset="2"/>
              </a:rPr>
              <a:t>For any </a:t>
            </a:r>
            <a:r>
              <a:rPr lang="en-US" altLang="en-US" i="1" dirty="0">
                <a:sym typeface="Symbol" panose="05050102010706020507" pitchFamily="18" charset="2"/>
              </a:rPr>
              <a:t>q</a:t>
            </a:r>
            <a:r>
              <a:rPr lang="en-US" altLang="en-US" dirty="0">
                <a:sym typeface="Symbol" panose="05050102010706020507" pitchFamily="18" charset="2"/>
              </a:rPr>
              <a:t> </a:t>
            </a:r>
            <a:r>
              <a:rPr lang="en-US" altLang="en-US" i="1" dirty="0">
                <a:sym typeface="Symbol" panose="05050102010706020507" pitchFamily="18" charset="2"/>
              </a:rPr>
              <a:t>Q</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 </a:t>
            </a:r>
            <a:r>
              <a:rPr lang="el-GR" altLang="en-US" dirty="0">
                <a:cs typeface="Arial" panose="020B0604020202020204" pitchFamily="34" charset="0"/>
                <a:sym typeface="Symbol" panose="05050102010706020507" pitchFamily="18" charset="2"/>
              </a:rPr>
              <a:t>Σ</a:t>
            </a:r>
            <a:r>
              <a:rPr lang="en-US" altLang="en-US" baseline="-25000" dirty="0">
                <a:sym typeface="Symbol" panose="05050102010706020507" pitchFamily="18" charset="2"/>
              </a:rPr>
              <a:t></a:t>
            </a:r>
            <a:r>
              <a:rPr lang="en-US" altLang="en-US" dirty="0">
                <a:sym typeface="Symbol" panose="05050102010706020507" pitchFamily="18" charset="2"/>
              </a:rPr>
              <a:t>,</a:t>
            </a:r>
            <a:endParaRPr lang="en-US" altLang="en-US" dirty="0"/>
          </a:p>
        </p:txBody>
      </p:sp>
      <p:graphicFrame>
        <p:nvGraphicFramePr>
          <p:cNvPr id="5" name="Object 5">
            <a:extLst>
              <a:ext uri="{FF2B5EF4-FFF2-40B4-BE49-F238E27FC236}">
                <a16:creationId xmlns:a16="http://schemas.microsoft.com/office/drawing/2014/main" id="{39675454-9C8B-447A-91C5-3F90ADE7D7FB}"/>
              </a:ext>
            </a:extLst>
          </p:cNvPr>
          <p:cNvGraphicFramePr>
            <a:graphicFrameLocks noChangeAspect="1"/>
          </p:cNvGraphicFramePr>
          <p:nvPr/>
        </p:nvGraphicFramePr>
        <p:xfrm>
          <a:off x="894344" y="4114800"/>
          <a:ext cx="3733800" cy="1539875"/>
        </p:xfrm>
        <a:graphic>
          <a:graphicData uri="http://schemas.openxmlformats.org/presentationml/2006/ole">
            <mc:AlternateContent xmlns:mc="http://schemas.openxmlformats.org/markup-compatibility/2006">
              <mc:Choice xmlns:v="urn:schemas-microsoft-com:vml" Requires="v">
                <p:oleObj name="Equation" r:id="rId2" imgW="3504960" imgH="1358640" progId="Equation.3">
                  <p:embed/>
                </p:oleObj>
              </mc:Choice>
              <mc:Fallback>
                <p:oleObj name="Equation" r:id="rId2" imgW="3504960" imgH="1358640" progId="Equation.3">
                  <p:embed/>
                  <p:pic>
                    <p:nvPicPr>
                      <p:cNvPr id="5" name="Object 5">
                        <a:extLst>
                          <a:ext uri="{FF2B5EF4-FFF2-40B4-BE49-F238E27FC236}">
                            <a16:creationId xmlns:a16="http://schemas.microsoft.com/office/drawing/2014/main" id="{39675454-9C8B-447A-91C5-3F90ADE7D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344" y="4114800"/>
                        <a:ext cx="3733800" cy="153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17">
            <a:extLst>
              <a:ext uri="{FF2B5EF4-FFF2-40B4-BE49-F238E27FC236}">
                <a16:creationId xmlns:a16="http://schemas.microsoft.com/office/drawing/2014/main" id="{68C54940-1B46-418D-A066-77FF08E6EDC3}"/>
              </a:ext>
            </a:extLst>
          </p:cNvPr>
          <p:cNvGrpSpPr>
            <a:grpSpLocks/>
          </p:cNvGrpSpPr>
          <p:nvPr/>
        </p:nvGrpSpPr>
        <p:grpSpPr bwMode="auto">
          <a:xfrm rot="10800000">
            <a:off x="5334000" y="2794000"/>
            <a:ext cx="1600200" cy="1193800"/>
            <a:chOff x="2488" y="1640"/>
            <a:chExt cx="1008" cy="752"/>
          </a:xfrm>
        </p:grpSpPr>
        <p:sp>
          <p:nvSpPr>
            <p:cNvPr id="7" name="Oval 7">
              <a:extLst>
                <a:ext uri="{FF2B5EF4-FFF2-40B4-BE49-F238E27FC236}">
                  <a16:creationId xmlns:a16="http://schemas.microsoft.com/office/drawing/2014/main" id="{2CF2599B-16D6-4BB7-B069-145DB1739168}"/>
                </a:ext>
              </a:extLst>
            </p:cNvPr>
            <p:cNvSpPr>
              <a:spLocks noChangeArrowheads="1"/>
            </p:cNvSpPr>
            <p:nvPr/>
          </p:nvSpPr>
          <p:spPr bwMode="auto">
            <a:xfrm>
              <a:off x="3120"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 name="Oval 8">
              <a:extLst>
                <a:ext uri="{FF2B5EF4-FFF2-40B4-BE49-F238E27FC236}">
                  <a16:creationId xmlns:a16="http://schemas.microsoft.com/office/drawing/2014/main" id="{3FAD2983-9F50-4670-AE95-7FE59E6B7469}"/>
                </a:ext>
              </a:extLst>
            </p:cNvPr>
            <p:cNvSpPr>
              <a:spLocks noChangeArrowheads="1"/>
            </p:cNvSpPr>
            <p:nvPr/>
          </p:nvSpPr>
          <p:spPr bwMode="auto">
            <a:xfrm>
              <a:off x="2736"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9" name="Oval 9">
              <a:extLst>
                <a:ext uri="{FF2B5EF4-FFF2-40B4-BE49-F238E27FC236}">
                  <a16:creationId xmlns:a16="http://schemas.microsoft.com/office/drawing/2014/main" id="{1FADAEE5-1D76-4D53-9E88-F559B4435052}"/>
                </a:ext>
              </a:extLst>
            </p:cNvPr>
            <p:cNvSpPr>
              <a:spLocks noChangeArrowheads="1"/>
            </p:cNvSpPr>
            <p:nvPr/>
          </p:nvSpPr>
          <p:spPr bwMode="auto">
            <a:xfrm>
              <a:off x="2592" y="201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10" name="Oval 10">
              <a:extLst>
                <a:ext uri="{FF2B5EF4-FFF2-40B4-BE49-F238E27FC236}">
                  <a16:creationId xmlns:a16="http://schemas.microsoft.com/office/drawing/2014/main" id="{33368D2E-A39E-4324-866E-BEE0D7B5C764}"/>
                </a:ext>
              </a:extLst>
            </p:cNvPr>
            <p:cNvSpPr>
              <a:spLocks noChangeArrowheads="1"/>
            </p:cNvSpPr>
            <p:nvPr/>
          </p:nvSpPr>
          <p:spPr bwMode="auto">
            <a:xfrm>
              <a:off x="2976" y="19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1" name="Oval 13">
              <a:extLst>
                <a:ext uri="{FF2B5EF4-FFF2-40B4-BE49-F238E27FC236}">
                  <a16:creationId xmlns:a16="http://schemas.microsoft.com/office/drawing/2014/main" id="{FC229EDD-3946-45C0-A5CF-1A7B763E94AA}"/>
                </a:ext>
              </a:extLst>
            </p:cNvPr>
            <p:cNvSpPr>
              <a:spLocks noChangeArrowheads="1"/>
            </p:cNvSpPr>
            <p:nvPr/>
          </p:nvSpPr>
          <p:spPr bwMode="auto">
            <a:xfrm>
              <a:off x="316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2" name="Oval 14">
              <a:extLst>
                <a:ext uri="{FF2B5EF4-FFF2-40B4-BE49-F238E27FC236}">
                  <a16:creationId xmlns:a16="http://schemas.microsoft.com/office/drawing/2014/main" id="{1A5FBDAA-75AB-4EC4-B7E1-5800A89EF01D}"/>
                </a:ext>
              </a:extLst>
            </p:cNvPr>
            <p:cNvSpPr>
              <a:spLocks noChangeArrowheads="1"/>
            </p:cNvSpPr>
            <p:nvPr/>
          </p:nvSpPr>
          <p:spPr bwMode="auto">
            <a:xfrm>
              <a:off x="2976" y="2112"/>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3" name="AutoShape 15">
              <a:extLst>
                <a:ext uri="{FF2B5EF4-FFF2-40B4-BE49-F238E27FC236}">
                  <a16:creationId xmlns:a16="http://schemas.microsoft.com/office/drawing/2014/main" id="{5827579A-4F79-439C-892E-9905C33C1A0B}"/>
                </a:ext>
              </a:extLst>
            </p:cNvPr>
            <p:cNvSpPr>
              <a:spLocks noChangeArrowheads="1"/>
            </p:cNvSpPr>
            <p:nvPr/>
          </p:nvSpPr>
          <p:spPr bwMode="auto">
            <a:xfrm>
              <a:off x="2488" y="1640"/>
              <a:ext cx="1008"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4" name="Line 16">
              <a:extLst>
                <a:ext uri="{FF2B5EF4-FFF2-40B4-BE49-F238E27FC236}">
                  <a16:creationId xmlns:a16="http://schemas.microsoft.com/office/drawing/2014/main" id="{685BFEF2-F08A-4CFD-BD16-B11A8FCE3023}"/>
                </a:ext>
              </a:extLst>
            </p:cNvPr>
            <p:cNvSpPr>
              <a:spLocks noChangeShapeType="1"/>
            </p:cNvSpPr>
            <p:nvPr/>
          </p:nvSpPr>
          <p:spPr bwMode="auto">
            <a:xfrm flipV="1">
              <a:off x="2688" y="225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29">
            <a:extLst>
              <a:ext uri="{FF2B5EF4-FFF2-40B4-BE49-F238E27FC236}">
                <a16:creationId xmlns:a16="http://schemas.microsoft.com/office/drawing/2014/main" id="{13D01E0A-174A-4368-B523-F07A9946B67D}"/>
              </a:ext>
            </a:extLst>
          </p:cNvPr>
          <p:cNvGrpSpPr>
            <a:grpSpLocks/>
          </p:cNvGrpSpPr>
          <p:nvPr/>
        </p:nvGrpSpPr>
        <p:grpSpPr bwMode="auto">
          <a:xfrm rot="10800000">
            <a:off x="7264400" y="2794000"/>
            <a:ext cx="1752600" cy="1193800"/>
            <a:chOff x="4224" y="1680"/>
            <a:chExt cx="1104" cy="752"/>
          </a:xfrm>
        </p:grpSpPr>
        <p:sp>
          <p:nvSpPr>
            <p:cNvPr id="16" name="Oval 19">
              <a:extLst>
                <a:ext uri="{FF2B5EF4-FFF2-40B4-BE49-F238E27FC236}">
                  <a16:creationId xmlns:a16="http://schemas.microsoft.com/office/drawing/2014/main" id="{34355E52-CE68-47F6-B3AF-F46332760183}"/>
                </a:ext>
              </a:extLst>
            </p:cNvPr>
            <p:cNvSpPr>
              <a:spLocks noChangeArrowheads="1"/>
            </p:cNvSpPr>
            <p:nvPr/>
          </p:nvSpPr>
          <p:spPr bwMode="auto">
            <a:xfrm>
              <a:off x="4704"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7" name="Oval 20">
              <a:extLst>
                <a:ext uri="{FF2B5EF4-FFF2-40B4-BE49-F238E27FC236}">
                  <a16:creationId xmlns:a16="http://schemas.microsoft.com/office/drawing/2014/main" id="{45082CA5-73A1-428E-B17A-4CA2EB31F998}"/>
                </a:ext>
              </a:extLst>
            </p:cNvPr>
            <p:cNvSpPr>
              <a:spLocks noChangeArrowheads="1"/>
            </p:cNvSpPr>
            <p:nvPr/>
          </p:nvSpPr>
          <p:spPr bwMode="auto">
            <a:xfrm>
              <a:off x="4416"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8" name="Oval 21">
              <a:extLst>
                <a:ext uri="{FF2B5EF4-FFF2-40B4-BE49-F238E27FC236}">
                  <a16:creationId xmlns:a16="http://schemas.microsoft.com/office/drawing/2014/main" id="{2D7FE6A1-5096-4E3F-8708-972C1A1E30A3}"/>
                </a:ext>
              </a:extLst>
            </p:cNvPr>
            <p:cNvSpPr>
              <a:spLocks noChangeArrowheads="1"/>
            </p:cNvSpPr>
            <p:nvPr/>
          </p:nvSpPr>
          <p:spPr bwMode="auto">
            <a:xfrm>
              <a:off x="4328" y="205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sp>
          <p:nvSpPr>
            <p:cNvPr id="19" name="Oval 22">
              <a:extLst>
                <a:ext uri="{FF2B5EF4-FFF2-40B4-BE49-F238E27FC236}">
                  <a16:creationId xmlns:a16="http://schemas.microsoft.com/office/drawing/2014/main" id="{E265DB90-6867-4F40-BF0B-A910D5E3BA27}"/>
                </a:ext>
              </a:extLst>
            </p:cNvPr>
            <p:cNvSpPr>
              <a:spLocks noChangeArrowheads="1"/>
            </p:cNvSpPr>
            <p:nvPr/>
          </p:nvSpPr>
          <p:spPr bwMode="auto">
            <a:xfrm>
              <a:off x="508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0" name="Oval 23">
              <a:extLst>
                <a:ext uri="{FF2B5EF4-FFF2-40B4-BE49-F238E27FC236}">
                  <a16:creationId xmlns:a16="http://schemas.microsoft.com/office/drawing/2014/main" id="{6CB3D427-2099-4C6C-9879-55C7E65822E4}"/>
                </a:ext>
              </a:extLst>
            </p:cNvPr>
            <p:cNvSpPr>
              <a:spLocks noChangeArrowheads="1"/>
            </p:cNvSpPr>
            <p:nvPr/>
          </p:nvSpPr>
          <p:spPr bwMode="auto">
            <a:xfrm>
              <a:off x="4912" y="21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1" name="Oval 24">
              <a:extLst>
                <a:ext uri="{FF2B5EF4-FFF2-40B4-BE49-F238E27FC236}">
                  <a16:creationId xmlns:a16="http://schemas.microsoft.com/office/drawing/2014/main" id="{88786746-8B3A-4429-881A-B0CCF05BD477}"/>
                </a:ext>
              </a:extLst>
            </p:cNvPr>
            <p:cNvSpPr>
              <a:spLocks noChangeArrowheads="1"/>
            </p:cNvSpPr>
            <p:nvPr/>
          </p:nvSpPr>
          <p:spPr bwMode="auto">
            <a:xfrm>
              <a:off x="4752" y="2208"/>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2" name="AutoShape 25">
              <a:extLst>
                <a:ext uri="{FF2B5EF4-FFF2-40B4-BE49-F238E27FC236}">
                  <a16:creationId xmlns:a16="http://schemas.microsoft.com/office/drawing/2014/main" id="{F1AD71C5-4486-46C4-A592-95DDD9DB75A2}"/>
                </a:ext>
              </a:extLst>
            </p:cNvPr>
            <p:cNvSpPr>
              <a:spLocks noChangeArrowheads="1"/>
            </p:cNvSpPr>
            <p:nvPr/>
          </p:nvSpPr>
          <p:spPr bwMode="auto">
            <a:xfrm>
              <a:off x="4224" y="1680"/>
              <a:ext cx="1104"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3" name="Line 26">
              <a:extLst>
                <a:ext uri="{FF2B5EF4-FFF2-40B4-BE49-F238E27FC236}">
                  <a16:creationId xmlns:a16="http://schemas.microsoft.com/office/drawing/2014/main" id="{59639795-29B1-46CE-89E4-87379546DF72}"/>
                </a:ext>
              </a:extLst>
            </p:cNvPr>
            <p:cNvSpPr>
              <a:spLocks noChangeShapeType="1"/>
            </p:cNvSpPr>
            <p:nvPr/>
          </p:nvSpPr>
          <p:spPr bwMode="auto">
            <a:xfrm flipV="1">
              <a:off x="4424" y="229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Oval 27">
              <a:extLst>
                <a:ext uri="{FF2B5EF4-FFF2-40B4-BE49-F238E27FC236}">
                  <a16:creationId xmlns:a16="http://schemas.microsoft.com/office/drawing/2014/main" id="{6AF6C706-8D25-470D-A278-936C3590C9C3}"/>
                </a:ext>
              </a:extLst>
            </p:cNvPr>
            <p:cNvSpPr>
              <a:spLocks noChangeArrowheads="1"/>
            </p:cNvSpPr>
            <p:nvPr/>
          </p:nvSpPr>
          <p:spPr bwMode="auto">
            <a:xfrm>
              <a:off x="4992" y="1728"/>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grpSp>
      <p:sp>
        <p:nvSpPr>
          <p:cNvPr id="25" name="Oval 31">
            <a:extLst>
              <a:ext uri="{FF2B5EF4-FFF2-40B4-BE49-F238E27FC236}">
                <a16:creationId xmlns:a16="http://schemas.microsoft.com/office/drawing/2014/main" id="{140F81F5-0696-4489-8128-4D673CADEE94}"/>
              </a:ext>
            </a:extLst>
          </p:cNvPr>
          <p:cNvSpPr>
            <a:spLocks noChangeArrowheads="1"/>
          </p:cNvSpPr>
          <p:nvPr/>
        </p:nvSpPr>
        <p:spPr bwMode="auto">
          <a:xfrm rot="10800000">
            <a:off x="5472113"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6" name="Oval 32">
            <a:extLst>
              <a:ext uri="{FF2B5EF4-FFF2-40B4-BE49-F238E27FC236}">
                <a16:creationId xmlns:a16="http://schemas.microsoft.com/office/drawing/2014/main" id="{559803C9-6389-4ED8-9226-F079764E0072}"/>
              </a:ext>
            </a:extLst>
          </p:cNvPr>
          <p:cNvSpPr>
            <a:spLocks noChangeArrowheads="1"/>
          </p:cNvSpPr>
          <p:nvPr/>
        </p:nvSpPr>
        <p:spPr bwMode="auto">
          <a:xfrm rot="10800000">
            <a:off x="6081713"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7" name="Oval 34">
            <a:extLst>
              <a:ext uri="{FF2B5EF4-FFF2-40B4-BE49-F238E27FC236}">
                <a16:creationId xmlns:a16="http://schemas.microsoft.com/office/drawing/2014/main" id="{87C029D0-4697-43B1-ACFA-9A65FC61E2E4}"/>
              </a:ext>
            </a:extLst>
          </p:cNvPr>
          <p:cNvSpPr>
            <a:spLocks noChangeArrowheads="1"/>
          </p:cNvSpPr>
          <p:nvPr/>
        </p:nvSpPr>
        <p:spPr bwMode="auto">
          <a:xfrm rot="10800000">
            <a:off x="5853113" y="56769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8" name="Oval 35">
            <a:extLst>
              <a:ext uri="{FF2B5EF4-FFF2-40B4-BE49-F238E27FC236}">
                <a16:creationId xmlns:a16="http://schemas.microsoft.com/office/drawing/2014/main" id="{6C65B2B9-3B90-47D8-9229-4917FA1DF510}"/>
              </a:ext>
            </a:extLst>
          </p:cNvPr>
          <p:cNvSpPr>
            <a:spLocks noChangeArrowheads="1"/>
          </p:cNvSpPr>
          <p:nvPr/>
        </p:nvSpPr>
        <p:spPr bwMode="auto">
          <a:xfrm rot="10800000">
            <a:off x="5548313" y="55245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9" name="Oval 36">
            <a:extLst>
              <a:ext uri="{FF2B5EF4-FFF2-40B4-BE49-F238E27FC236}">
                <a16:creationId xmlns:a16="http://schemas.microsoft.com/office/drawing/2014/main" id="{4BB3D0EC-A96A-4A1C-96BA-9B3DB7A06094}"/>
              </a:ext>
            </a:extLst>
          </p:cNvPr>
          <p:cNvSpPr>
            <a:spLocks noChangeArrowheads="1"/>
          </p:cNvSpPr>
          <p:nvPr/>
        </p:nvSpPr>
        <p:spPr bwMode="auto">
          <a:xfrm rot="10800000">
            <a:off x="5853113" y="53721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0" name="AutoShape 37">
            <a:extLst>
              <a:ext uri="{FF2B5EF4-FFF2-40B4-BE49-F238E27FC236}">
                <a16:creationId xmlns:a16="http://schemas.microsoft.com/office/drawing/2014/main" id="{697C9764-4416-4B74-A7B2-2346C28B747F}"/>
              </a:ext>
            </a:extLst>
          </p:cNvPr>
          <p:cNvSpPr>
            <a:spLocks noChangeArrowheads="1"/>
          </p:cNvSpPr>
          <p:nvPr/>
        </p:nvSpPr>
        <p:spPr bwMode="auto">
          <a:xfrm rot="10800000">
            <a:off x="5257800" y="5156200"/>
            <a:ext cx="16002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1" name="Oval 40">
            <a:extLst>
              <a:ext uri="{FF2B5EF4-FFF2-40B4-BE49-F238E27FC236}">
                <a16:creationId xmlns:a16="http://schemas.microsoft.com/office/drawing/2014/main" id="{B50BDDA2-9E78-4480-918A-93B5A58E2B07}"/>
              </a:ext>
            </a:extLst>
          </p:cNvPr>
          <p:cNvSpPr>
            <a:spLocks noChangeArrowheads="1"/>
          </p:cNvSpPr>
          <p:nvPr/>
        </p:nvSpPr>
        <p:spPr bwMode="auto">
          <a:xfrm rot="10800000">
            <a:off x="7696200"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2" name="Oval 41">
            <a:extLst>
              <a:ext uri="{FF2B5EF4-FFF2-40B4-BE49-F238E27FC236}">
                <a16:creationId xmlns:a16="http://schemas.microsoft.com/office/drawing/2014/main" id="{2D344C18-F272-4E25-BBA4-0C1D276350C8}"/>
              </a:ext>
            </a:extLst>
          </p:cNvPr>
          <p:cNvSpPr>
            <a:spLocks noChangeArrowheads="1"/>
          </p:cNvSpPr>
          <p:nvPr/>
        </p:nvSpPr>
        <p:spPr bwMode="auto">
          <a:xfrm rot="10800000">
            <a:off x="8153400"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3" name="Oval 43">
            <a:extLst>
              <a:ext uri="{FF2B5EF4-FFF2-40B4-BE49-F238E27FC236}">
                <a16:creationId xmlns:a16="http://schemas.microsoft.com/office/drawing/2014/main" id="{B940C4D8-D827-425F-8BF3-90A587961C8A}"/>
              </a:ext>
            </a:extLst>
          </p:cNvPr>
          <p:cNvSpPr>
            <a:spLocks noChangeArrowheads="1"/>
          </p:cNvSpPr>
          <p:nvPr/>
        </p:nvSpPr>
        <p:spPr bwMode="auto">
          <a:xfrm rot="10800000">
            <a:off x="7239000" y="55880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4" name="Oval 44">
            <a:extLst>
              <a:ext uri="{FF2B5EF4-FFF2-40B4-BE49-F238E27FC236}">
                <a16:creationId xmlns:a16="http://schemas.microsoft.com/office/drawing/2014/main" id="{46EF29DA-5435-4C5C-B3CD-652890FD4BC8}"/>
              </a:ext>
            </a:extLst>
          </p:cNvPr>
          <p:cNvSpPr>
            <a:spLocks noChangeArrowheads="1"/>
          </p:cNvSpPr>
          <p:nvPr/>
        </p:nvSpPr>
        <p:spPr bwMode="auto">
          <a:xfrm rot="10800000">
            <a:off x="7518400" y="54229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5" name="Oval 45">
            <a:extLst>
              <a:ext uri="{FF2B5EF4-FFF2-40B4-BE49-F238E27FC236}">
                <a16:creationId xmlns:a16="http://schemas.microsoft.com/office/drawing/2014/main" id="{BF22DEEB-3DA6-4797-8047-4E23DA63EF12}"/>
              </a:ext>
            </a:extLst>
          </p:cNvPr>
          <p:cNvSpPr>
            <a:spLocks noChangeArrowheads="1"/>
          </p:cNvSpPr>
          <p:nvPr/>
        </p:nvSpPr>
        <p:spPr bwMode="auto">
          <a:xfrm rot="10800000">
            <a:off x="7770813" y="52832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6" name="AutoShape 46">
            <a:extLst>
              <a:ext uri="{FF2B5EF4-FFF2-40B4-BE49-F238E27FC236}">
                <a16:creationId xmlns:a16="http://schemas.microsoft.com/office/drawing/2014/main" id="{F39866AF-A26C-4BCD-9D2B-005C2773D6B5}"/>
              </a:ext>
            </a:extLst>
          </p:cNvPr>
          <p:cNvSpPr>
            <a:spLocks noChangeArrowheads="1"/>
          </p:cNvSpPr>
          <p:nvPr/>
        </p:nvSpPr>
        <p:spPr bwMode="auto">
          <a:xfrm rot="10800000">
            <a:off x="7086600" y="5156200"/>
            <a:ext cx="17526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7" name="Oval 48">
            <a:extLst>
              <a:ext uri="{FF2B5EF4-FFF2-40B4-BE49-F238E27FC236}">
                <a16:creationId xmlns:a16="http://schemas.microsoft.com/office/drawing/2014/main" id="{935E1388-8703-47AC-B252-06735F25459C}"/>
              </a:ext>
            </a:extLst>
          </p:cNvPr>
          <p:cNvSpPr>
            <a:spLocks noChangeArrowheads="1"/>
          </p:cNvSpPr>
          <p:nvPr/>
        </p:nvSpPr>
        <p:spPr bwMode="auto">
          <a:xfrm rot="10800000">
            <a:off x="7239000" y="58928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8" name="AutoShape 50">
            <a:extLst>
              <a:ext uri="{FF2B5EF4-FFF2-40B4-BE49-F238E27FC236}">
                <a16:creationId xmlns:a16="http://schemas.microsoft.com/office/drawing/2014/main" id="{19BE6C63-0F1D-454A-8780-37FD091BA3DB}"/>
              </a:ext>
            </a:extLst>
          </p:cNvPr>
          <p:cNvSpPr>
            <a:spLocks noChangeArrowheads="1"/>
          </p:cNvSpPr>
          <p:nvPr/>
        </p:nvSpPr>
        <p:spPr bwMode="auto">
          <a:xfrm>
            <a:off x="5105400" y="4191000"/>
            <a:ext cx="3886200" cy="22860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9" name="Oval 51">
            <a:extLst>
              <a:ext uri="{FF2B5EF4-FFF2-40B4-BE49-F238E27FC236}">
                <a16:creationId xmlns:a16="http://schemas.microsoft.com/office/drawing/2014/main" id="{8F36AEAA-ACB5-4F48-8C6E-D63C74FE2EEC}"/>
              </a:ext>
            </a:extLst>
          </p:cNvPr>
          <p:cNvSpPr>
            <a:spLocks noChangeArrowheads="1"/>
          </p:cNvSpPr>
          <p:nvPr/>
        </p:nvSpPr>
        <p:spPr bwMode="auto">
          <a:xfrm>
            <a:off x="7277100" y="4470400"/>
            <a:ext cx="431800" cy="4064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q</a:t>
            </a:r>
            <a:r>
              <a:rPr lang="en-US" altLang="en-US" sz="2000" baseline="-25000"/>
              <a:t>0</a:t>
            </a:r>
          </a:p>
        </p:txBody>
      </p:sp>
      <p:sp>
        <p:nvSpPr>
          <p:cNvPr id="40" name="Oval 33">
            <a:extLst>
              <a:ext uri="{FF2B5EF4-FFF2-40B4-BE49-F238E27FC236}">
                <a16:creationId xmlns:a16="http://schemas.microsoft.com/office/drawing/2014/main" id="{AB47D022-8CC6-4285-B310-46A9EB4A7953}"/>
              </a:ext>
            </a:extLst>
          </p:cNvPr>
          <p:cNvSpPr>
            <a:spLocks noChangeArrowheads="1"/>
          </p:cNvSpPr>
          <p:nvPr/>
        </p:nvSpPr>
        <p:spPr bwMode="auto">
          <a:xfrm rot="10800000">
            <a:off x="6310313" y="53721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cxnSp>
        <p:nvCxnSpPr>
          <p:cNvPr id="41" name="AutoShape 53">
            <a:extLst>
              <a:ext uri="{FF2B5EF4-FFF2-40B4-BE49-F238E27FC236}">
                <a16:creationId xmlns:a16="http://schemas.microsoft.com/office/drawing/2014/main" id="{FCD61F1E-CCDB-491E-8E66-97EC82DED0AB}"/>
              </a:ext>
            </a:extLst>
          </p:cNvPr>
          <p:cNvCxnSpPr>
            <a:cxnSpLocks noChangeShapeType="1"/>
            <a:stCxn id="39" idx="2"/>
            <a:endCxn id="40" idx="4"/>
          </p:cNvCxnSpPr>
          <p:nvPr/>
        </p:nvCxnSpPr>
        <p:spPr bwMode="auto">
          <a:xfrm rot="10800000" flipV="1">
            <a:off x="6500813" y="4673600"/>
            <a:ext cx="762000" cy="688975"/>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2" name="Oval 42">
            <a:extLst>
              <a:ext uri="{FF2B5EF4-FFF2-40B4-BE49-F238E27FC236}">
                <a16:creationId xmlns:a16="http://schemas.microsoft.com/office/drawing/2014/main" id="{2F02E31B-36C1-4154-BCF0-9194BDFE34AC}"/>
              </a:ext>
            </a:extLst>
          </p:cNvPr>
          <p:cNvSpPr>
            <a:spLocks noChangeArrowheads="1"/>
          </p:cNvSpPr>
          <p:nvPr/>
        </p:nvSpPr>
        <p:spPr bwMode="auto">
          <a:xfrm rot="10800000">
            <a:off x="8293100" y="53721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cxnSp>
        <p:nvCxnSpPr>
          <p:cNvPr id="43" name="AutoShape 54">
            <a:extLst>
              <a:ext uri="{FF2B5EF4-FFF2-40B4-BE49-F238E27FC236}">
                <a16:creationId xmlns:a16="http://schemas.microsoft.com/office/drawing/2014/main" id="{4CDDF4E5-BC43-4843-873D-7EF884800AEC}"/>
              </a:ext>
            </a:extLst>
          </p:cNvPr>
          <p:cNvCxnSpPr>
            <a:cxnSpLocks noChangeShapeType="1"/>
            <a:stCxn id="39" idx="6"/>
            <a:endCxn id="42" idx="4"/>
          </p:cNvCxnSpPr>
          <p:nvPr/>
        </p:nvCxnSpPr>
        <p:spPr bwMode="auto">
          <a:xfrm>
            <a:off x="7723188" y="4673600"/>
            <a:ext cx="760412" cy="688975"/>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4" name="Text Box 55">
            <a:extLst>
              <a:ext uri="{FF2B5EF4-FFF2-40B4-BE49-F238E27FC236}">
                <a16:creationId xmlns:a16="http://schemas.microsoft.com/office/drawing/2014/main" id="{213E8088-1AD9-4A5C-AD40-94C61CE3787A}"/>
              </a:ext>
            </a:extLst>
          </p:cNvPr>
          <p:cNvSpPr txBox="1">
            <a:spLocks noChangeArrowheads="1"/>
          </p:cNvSpPr>
          <p:nvPr/>
        </p:nvSpPr>
        <p:spPr bwMode="auto">
          <a:xfrm>
            <a:off x="6477000" y="4500563"/>
            <a:ext cx="4572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45" name="Text Box 56">
            <a:extLst>
              <a:ext uri="{FF2B5EF4-FFF2-40B4-BE49-F238E27FC236}">
                <a16:creationId xmlns:a16="http://schemas.microsoft.com/office/drawing/2014/main" id="{C2C316CE-B09C-4DF2-B689-05A98A6A9409}"/>
              </a:ext>
            </a:extLst>
          </p:cNvPr>
          <p:cNvSpPr txBox="1">
            <a:spLocks noChangeArrowheads="1"/>
          </p:cNvSpPr>
          <p:nvPr/>
        </p:nvSpPr>
        <p:spPr bwMode="auto">
          <a:xfrm>
            <a:off x="8064500" y="45212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46" name="Line 58">
            <a:extLst>
              <a:ext uri="{FF2B5EF4-FFF2-40B4-BE49-F238E27FC236}">
                <a16:creationId xmlns:a16="http://schemas.microsoft.com/office/drawing/2014/main" id="{27335026-35C1-4BDC-995A-ACF4E805DB09}"/>
              </a:ext>
            </a:extLst>
          </p:cNvPr>
          <p:cNvSpPr>
            <a:spLocks noChangeShapeType="1"/>
          </p:cNvSpPr>
          <p:nvPr/>
        </p:nvSpPr>
        <p:spPr bwMode="auto">
          <a:xfrm>
            <a:off x="7493000" y="4241800"/>
            <a:ext cx="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Text Box 59">
            <a:extLst>
              <a:ext uri="{FF2B5EF4-FFF2-40B4-BE49-F238E27FC236}">
                <a16:creationId xmlns:a16="http://schemas.microsoft.com/office/drawing/2014/main" id="{09F7E381-E8E8-4C89-872A-B0E9ED2AF0C2}"/>
              </a:ext>
            </a:extLst>
          </p:cNvPr>
          <p:cNvSpPr txBox="1">
            <a:spLocks noChangeArrowheads="1"/>
          </p:cNvSpPr>
          <p:nvPr/>
        </p:nvSpPr>
        <p:spPr bwMode="auto">
          <a:xfrm>
            <a:off x="4991100" y="25669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1</a:t>
            </a:r>
          </a:p>
        </p:txBody>
      </p:sp>
      <p:sp>
        <p:nvSpPr>
          <p:cNvPr id="48" name="Text Box 60">
            <a:extLst>
              <a:ext uri="{FF2B5EF4-FFF2-40B4-BE49-F238E27FC236}">
                <a16:creationId xmlns:a16="http://schemas.microsoft.com/office/drawing/2014/main" id="{3CA6A8A8-E57B-4921-BD9A-A76F4583FA1F}"/>
              </a:ext>
            </a:extLst>
          </p:cNvPr>
          <p:cNvSpPr txBox="1">
            <a:spLocks noChangeArrowheads="1"/>
          </p:cNvSpPr>
          <p:nvPr/>
        </p:nvSpPr>
        <p:spPr bwMode="auto">
          <a:xfrm>
            <a:off x="6934200" y="25415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2</a:t>
            </a:r>
          </a:p>
        </p:txBody>
      </p:sp>
      <p:sp>
        <p:nvSpPr>
          <p:cNvPr id="49" name="Text Box 61">
            <a:extLst>
              <a:ext uri="{FF2B5EF4-FFF2-40B4-BE49-F238E27FC236}">
                <a16:creationId xmlns:a16="http://schemas.microsoft.com/office/drawing/2014/main" id="{DD7A2E87-9813-4874-AE5B-542E55773E58}"/>
              </a:ext>
            </a:extLst>
          </p:cNvPr>
          <p:cNvSpPr txBox="1">
            <a:spLocks noChangeArrowheads="1"/>
          </p:cNvSpPr>
          <p:nvPr/>
        </p:nvSpPr>
        <p:spPr bwMode="auto">
          <a:xfrm>
            <a:off x="4864100" y="40386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endParaRPr lang="en-US" altLang="en-US" sz="1800" b="1" baseline="-25000"/>
          </a:p>
        </p:txBody>
      </p:sp>
    </p:spTree>
    <p:extLst>
      <p:ext uri="{BB962C8B-B14F-4D97-AF65-F5344CB8AC3E}">
        <p14:creationId xmlns:p14="http://schemas.microsoft.com/office/powerpoint/2010/main" val="306057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1"/>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animBg="1"/>
      <p:bldP spid="44" grpId="0"/>
      <p:bldP spid="45" grpId="0"/>
      <p:bldP spid="46" grpId="0" animBg="1"/>
      <p:bldP spid="4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D84F88-77AF-43B2-8244-FBD59082366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2843509-0AC7-423A-BB83-275A9622B2E0}"/>
              </a:ext>
            </a:extLst>
          </p:cNvPr>
          <p:cNvSpPr>
            <a:spLocks noGrp="1"/>
          </p:cNvSpPr>
          <p:nvPr>
            <p:ph type="body" sz="quarter" idx="12"/>
          </p:nvPr>
        </p:nvSpPr>
        <p:spPr/>
        <p:txBody>
          <a:bodyPr/>
          <a:lstStyle/>
          <a:p>
            <a:r>
              <a:rPr lang="en-US" dirty="0"/>
              <a:t>Closure Under Regular Operations</a:t>
            </a:r>
          </a:p>
        </p:txBody>
      </p:sp>
      <p:sp>
        <p:nvSpPr>
          <p:cNvPr id="4" name="Rectangle 3">
            <a:extLst>
              <a:ext uri="{FF2B5EF4-FFF2-40B4-BE49-F238E27FC236}">
                <a16:creationId xmlns:a16="http://schemas.microsoft.com/office/drawing/2014/main" id="{45E99ADA-9E87-4ACE-A081-FE3D9FCA4B9E}"/>
              </a:ext>
            </a:extLst>
          </p:cNvPr>
          <p:cNvSpPr txBox="1">
            <a:spLocks noChangeArrowheads="1"/>
          </p:cNvSpPr>
          <p:nvPr/>
        </p:nvSpPr>
        <p:spPr>
          <a:xfrm>
            <a:off x="152400" y="914400"/>
            <a:ext cx="8991600" cy="3124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dirty="0"/>
              <a:t>Let,</a:t>
            </a:r>
          </a:p>
          <a:p>
            <a:pPr lvl="1"/>
            <a:r>
              <a:rPr lang="en-US" altLang="en-US" i="1" dirty="0"/>
              <a:t>N</a:t>
            </a:r>
            <a:r>
              <a:rPr lang="en-US" altLang="en-US" baseline="-25000" dirty="0"/>
              <a:t>1</a:t>
            </a:r>
            <a:r>
              <a:rPr lang="en-US" altLang="en-US" dirty="0"/>
              <a:t> = (</a:t>
            </a:r>
            <a:r>
              <a:rPr lang="en-US" altLang="en-US" i="1" dirty="0"/>
              <a:t>Q</a:t>
            </a:r>
            <a:r>
              <a:rPr lang="en-US" altLang="en-US" baseline="-25000" dirty="0"/>
              <a:t>1</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1</a:t>
            </a:r>
            <a:r>
              <a:rPr lang="en-US" altLang="en-US" dirty="0"/>
              <a:t>) recognizes </a:t>
            </a:r>
            <a:r>
              <a:rPr lang="en-US" altLang="en-US" i="1" dirty="0"/>
              <a:t>A</a:t>
            </a:r>
            <a:r>
              <a:rPr lang="en-US" altLang="en-US" baseline="-25000" dirty="0"/>
              <a:t>1</a:t>
            </a:r>
            <a:r>
              <a:rPr lang="en-US" altLang="en-US" dirty="0"/>
              <a:t>.</a:t>
            </a:r>
          </a:p>
          <a:p>
            <a:pPr lvl="1"/>
            <a:r>
              <a:rPr lang="en-US" altLang="en-US" i="1" dirty="0"/>
              <a:t>N</a:t>
            </a:r>
            <a:r>
              <a:rPr lang="en-US" altLang="en-US" baseline="-25000" dirty="0"/>
              <a:t>2 </a:t>
            </a:r>
            <a:r>
              <a:rPr lang="en-US" altLang="en-US" dirty="0"/>
              <a:t>= (</a:t>
            </a:r>
            <a:r>
              <a:rPr lang="en-US" altLang="en-US" i="1" dirty="0"/>
              <a:t>Q</a:t>
            </a:r>
            <a:r>
              <a:rPr lang="en-US" altLang="en-US" baseline="-25000" dirty="0"/>
              <a:t>2</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2</a:t>
            </a:r>
            <a:r>
              <a:rPr lang="en-US" altLang="en-US" dirty="0"/>
              <a:t>) recognizes </a:t>
            </a:r>
            <a:r>
              <a:rPr lang="en-US" altLang="en-US" i="1" dirty="0"/>
              <a:t>A</a:t>
            </a:r>
            <a:r>
              <a:rPr lang="en-US" altLang="en-US" baseline="-25000" dirty="0"/>
              <a:t>2</a:t>
            </a:r>
            <a:r>
              <a:rPr lang="en-US" altLang="en-US" dirty="0"/>
              <a:t>.</a:t>
            </a:r>
          </a:p>
          <a:p>
            <a:r>
              <a:rPr lang="en-US" altLang="en-US" b="1" dirty="0"/>
              <a:t>CONCATENATION</a:t>
            </a:r>
            <a:r>
              <a:rPr lang="en-US" altLang="en-US" dirty="0"/>
              <a:t>: Construct </a:t>
            </a:r>
            <a:r>
              <a:rPr lang="en-US" altLang="en-US" i="1" dirty="0"/>
              <a:t>N</a:t>
            </a:r>
            <a:r>
              <a:rPr lang="en-US" altLang="en-US" dirty="0"/>
              <a:t> = (</a:t>
            </a:r>
            <a:r>
              <a:rPr lang="en-US" altLang="en-US" i="1" dirty="0"/>
              <a:t>Q</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dirty="0"/>
              <a:t>) to recognize </a:t>
            </a:r>
            <a:r>
              <a:rPr lang="en-US" altLang="en-US" i="1" dirty="0"/>
              <a:t>A</a:t>
            </a:r>
            <a:r>
              <a:rPr lang="en-US" altLang="en-US" baseline="-25000" dirty="0"/>
              <a:t>1</a:t>
            </a:r>
            <a:r>
              <a:rPr lang="en-US" altLang="en-US" dirty="0">
                <a:sym typeface="Symbol" panose="05050102010706020507" pitchFamily="18" charset="2"/>
              </a:rPr>
              <a:t></a:t>
            </a:r>
            <a:r>
              <a:rPr lang="en-US" altLang="en-US" baseline="-25000" dirty="0"/>
              <a:t> </a:t>
            </a:r>
            <a:r>
              <a:rPr lang="en-US" altLang="en-US" i="1" dirty="0"/>
              <a:t>A</a:t>
            </a:r>
            <a:r>
              <a:rPr lang="en-US" altLang="en-US" baseline="-25000" dirty="0"/>
              <a:t>2</a:t>
            </a:r>
            <a:r>
              <a:rPr lang="en-US" altLang="en-US" dirty="0"/>
              <a:t>.</a:t>
            </a:r>
          </a:p>
          <a:p>
            <a:pPr lvl="1"/>
            <a:r>
              <a:rPr lang="en-US" altLang="en-US" dirty="0"/>
              <a:t>Q = </a:t>
            </a:r>
            <a:r>
              <a:rPr lang="en-US" altLang="en-US" dirty="0">
                <a:sym typeface="Symbol" panose="05050102010706020507" pitchFamily="18" charset="2"/>
              </a:rPr>
              <a:t>Q</a:t>
            </a:r>
            <a:r>
              <a:rPr lang="en-US" altLang="en-US" baseline="-25000" dirty="0">
                <a:sym typeface="Symbol" panose="05050102010706020507" pitchFamily="18" charset="2"/>
              </a:rPr>
              <a:t>1</a:t>
            </a:r>
            <a:r>
              <a:rPr lang="en-US" altLang="en-US" dirty="0">
                <a:sym typeface="Symbol" panose="05050102010706020507" pitchFamily="18" charset="2"/>
              </a:rPr>
              <a:t>  Q</a:t>
            </a:r>
            <a:r>
              <a:rPr lang="en-US" altLang="en-US" baseline="-25000" dirty="0">
                <a:sym typeface="Symbol" panose="05050102010706020507" pitchFamily="18" charset="2"/>
              </a:rPr>
              <a:t>2</a:t>
            </a:r>
            <a:r>
              <a:rPr lang="en-US" altLang="en-US" dirty="0"/>
              <a:t>.</a:t>
            </a:r>
          </a:p>
          <a:p>
            <a:pPr lvl="1"/>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a:t>
            </a:r>
          </a:p>
          <a:p>
            <a:pPr lvl="1"/>
            <a:r>
              <a:rPr lang="en-US" altLang="en-US" i="1" dirty="0">
                <a:cs typeface="Arial" panose="020B0604020202020204" pitchFamily="34" charset="0"/>
                <a:sym typeface="Symbol" panose="05050102010706020507" pitchFamily="18" charset="2"/>
              </a:rPr>
              <a:t>F</a:t>
            </a:r>
            <a:r>
              <a:rPr lang="en-US" altLang="en-US" dirty="0">
                <a:cs typeface="Arial" panose="020B0604020202020204" pitchFamily="34" charset="0"/>
                <a:sym typeface="Symbol" panose="05050102010706020507" pitchFamily="18" charset="2"/>
              </a:rPr>
              <a:t> = </a:t>
            </a:r>
            <a:r>
              <a:rPr lang="en-US" altLang="en-US" i="1" dirty="0">
                <a:sym typeface="Symbol" panose="05050102010706020507" pitchFamily="18" charset="2"/>
              </a:rPr>
              <a:t>F</a:t>
            </a:r>
            <a:r>
              <a:rPr lang="en-US" altLang="en-US" baseline="-25000" dirty="0">
                <a:sym typeface="Symbol" panose="05050102010706020507" pitchFamily="18" charset="2"/>
              </a:rPr>
              <a:t>2</a:t>
            </a:r>
            <a:r>
              <a:rPr lang="en-US" altLang="en-US" dirty="0">
                <a:sym typeface="Symbol" panose="05050102010706020507" pitchFamily="18" charset="2"/>
              </a:rPr>
              <a:t>.</a:t>
            </a:r>
          </a:p>
          <a:p>
            <a:pPr lvl="1"/>
            <a:r>
              <a:rPr lang="en-US" altLang="en-US" dirty="0">
                <a:sym typeface="Symbol" panose="05050102010706020507" pitchFamily="18" charset="2"/>
              </a:rPr>
              <a:t>For any </a:t>
            </a:r>
            <a:r>
              <a:rPr lang="en-US" altLang="en-US" i="1" dirty="0">
                <a:sym typeface="Symbol" panose="05050102010706020507" pitchFamily="18" charset="2"/>
              </a:rPr>
              <a:t>q</a:t>
            </a:r>
            <a:r>
              <a:rPr lang="en-US" altLang="en-US" dirty="0">
                <a:sym typeface="Symbol" panose="05050102010706020507" pitchFamily="18" charset="2"/>
              </a:rPr>
              <a:t> </a:t>
            </a:r>
            <a:r>
              <a:rPr lang="en-US" altLang="en-US" i="1" dirty="0">
                <a:sym typeface="Symbol" panose="05050102010706020507" pitchFamily="18" charset="2"/>
              </a:rPr>
              <a:t>Q</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 </a:t>
            </a:r>
            <a:r>
              <a:rPr lang="el-GR" altLang="en-US" dirty="0">
                <a:cs typeface="Arial" panose="020B0604020202020204" pitchFamily="34" charset="0"/>
                <a:sym typeface="Symbol" panose="05050102010706020507" pitchFamily="18" charset="2"/>
              </a:rPr>
              <a:t>Σ</a:t>
            </a:r>
            <a:r>
              <a:rPr lang="en-US" altLang="en-US" baseline="-25000" dirty="0">
                <a:sym typeface="Symbol" panose="05050102010706020507" pitchFamily="18" charset="2"/>
              </a:rPr>
              <a:t></a:t>
            </a:r>
            <a:r>
              <a:rPr lang="en-US" altLang="en-US" dirty="0">
                <a:sym typeface="Symbol" panose="05050102010706020507" pitchFamily="18" charset="2"/>
              </a:rPr>
              <a:t>,</a:t>
            </a:r>
          </a:p>
        </p:txBody>
      </p:sp>
      <p:graphicFrame>
        <p:nvGraphicFramePr>
          <p:cNvPr id="5" name="Object 4">
            <a:extLst>
              <a:ext uri="{FF2B5EF4-FFF2-40B4-BE49-F238E27FC236}">
                <a16:creationId xmlns:a16="http://schemas.microsoft.com/office/drawing/2014/main" id="{506EEED1-A487-4870-936B-984937C15A94}"/>
              </a:ext>
            </a:extLst>
          </p:cNvPr>
          <p:cNvGraphicFramePr>
            <a:graphicFrameLocks noChangeAspect="1"/>
          </p:cNvGraphicFramePr>
          <p:nvPr/>
        </p:nvGraphicFramePr>
        <p:xfrm>
          <a:off x="445162" y="4446588"/>
          <a:ext cx="4267200" cy="1497012"/>
        </p:xfrm>
        <a:graphic>
          <a:graphicData uri="http://schemas.openxmlformats.org/presentationml/2006/ole">
            <mc:AlternateContent xmlns:mc="http://schemas.openxmlformats.org/markup-compatibility/2006">
              <mc:Choice xmlns:v="urn:schemas-microsoft-com:vml" Requires="v">
                <p:oleObj name="Equation" r:id="rId2" imgW="4114800" imgH="1358640" progId="Equation.3">
                  <p:embed/>
                </p:oleObj>
              </mc:Choice>
              <mc:Fallback>
                <p:oleObj name="Equation" r:id="rId2" imgW="4114800" imgH="1358640" progId="Equation.3">
                  <p:embed/>
                  <p:pic>
                    <p:nvPicPr>
                      <p:cNvPr id="5" name="Object 4">
                        <a:extLst>
                          <a:ext uri="{FF2B5EF4-FFF2-40B4-BE49-F238E27FC236}">
                            <a16:creationId xmlns:a16="http://schemas.microsoft.com/office/drawing/2014/main" id="{506EEED1-A487-4870-936B-984937C15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62" y="4446588"/>
                        <a:ext cx="4267200" cy="149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5">
            <a:extLst>
              <a:ext uri="{FF2B5EF4-FFF2-40B4-BE49-F238E27FC236}">
                <a16:creationId xmlns:a16="http://schemas.microsoft.com/office/drawing/2014/main" id="{33EFBA59-99A3-4D55-9F1B-3EE5495BB41E}"/>
              </a:ext>
            </a:extLst>
          </p:cNvPr>
          <p:cNvGrpSpPr>
            <a:grpSpLocks/>
          </p:cNvGrpSpPr>
          <p:nvPr/>
        </p:nvGrpSpPr>
        <p:grpSpPr bwMode="auto">
          <a:xfrm rot="5400000">
            <a:off x="5334000" y="2794000"/>
            <a:ext cx="1600200" cy="1193800"/>
            <a:chOff x="2488" y="1640"/>
            <a:chExt cx="1008" cy="752"/>
          </a:xfrm>
        </p:grpSpPr>
        <p:sp>
          <p:nvSpPr>
            <p:cNvPr id="7" name="Oval 6">
              <a:extLst>
                <a:ext uri="{FF2B5EF4-FFF2-40B4-BE49-F238E27FC236}">
                  <a16:creationId xmlns:a16="http://schemas.microsoft.com/office/drawing/2014/main" id="{999059E8-C66E-41F9-AED4-4FD04C70D5FB}"/>
                </a:ext>
              </a:extLst>
            </p:cNvPr>
            <p:cNvSpPr>
              <a:spLocks noChangeArrowheads="1"/>
            </p:cNvSpPr>
            <p:nvPr/>
          </p:nvSpPr>
          <p:spPr bwMode="auto">
            <a:xfrm>
              <a:off x="3120"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 name="Oval 7">
              <a:extLst>
                <a:ext uri="{FF2B5EF4-FFF2-40B4-BE49-F238E27FC236}">
                  <a16:creationId xmlns:a16="http://schemas.microsoft.com/office/drawing/2014/main" id="{1E4A1B76-74D0-4B7A-8F9B-2BA4C2247E49}"/>
                </a:ext>
              </a:extLst>
            </p:cNvPr>
            <p:cNvSpPr>
              <a:spLocks noChangeArrowheads="1"/>
            </p:cNvSpPr>
            <p:nvPr/>
          </p:nvSpPr>
          <p:spPr bwMode="auto">
            <a:xfrm>
              <a:off x="2736"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9" name="Oval 8">
              <a:extLst>
                <a:ext uri="{FF2B5EF4-FFF2-40B4-BE49-F238E27FC236}">
                  <a16:creationId xmlns:a16="http://schemas.microsoft.com/office/drawing/2014/main" id="{C49B1937-5949-4601-880A-B03818EC490E}"/>
                </a:ext>
              </a:extLst>
            </p:cNvPr>
            <p:cNvSpPr>
              <a:spLocks noChangeArrowheads="1"/>
            </p:cNvSpPr>
            <p:nvPr/>
          </p:nvSpPr>
          <p:spPr bwMode="auto">
            <a:xfrm>
              <a:off x="2592" y="201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10" name="Oval 9">
              <a:extLst>
                <a:ext uri="{FF2B5EF4-FFF2-40B4-BE49-F238E27FC236}">
                  <a16:creationId xmlns:a16="http://schemas.microsoft.com/office/drawing/2014/main" id="{FE4873D2-0012-4BC6-9F7B-A79BBE5BA6E6}"/>
                </a:ext>
              </a:extLst>
            </p:cNvPr>
            <p:cNvSpPr>
              <a:spLocks noChangeArrowheads="1"/>
            </p:cNvSpPr>
            <p:nvPr/>
          </p:nvSpPr>
          <p:spPr bwMode="auto">
            <a:xfrm>
              <a:off x="2976" y="19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1" name="Oval 10">
              <a:extLst>
                <a:ext uri="{FF2B5EF4-FFF2-40B4-BE49-F238E27FC236}">
                  <a16:creationId xmlns:a16="http://schemas.microsoft.com/office/drawing/2014/main" id="{B0315E40-7C35-4717-98CF-6C0B0F6735F0}"/>
                </a:ext>
              </a:extLst>
            </p:cNvPr>
            <p:cNvSpPr>
              <a:spLocks noChangeArrowheads="1"/>
            </p:cNvSpPr>
            <p:nvPr/>
          </p:nvSpPr>
          <p:spPr bwMode="auto">
            <a:xfrm>
              <a:off x="316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2" name="Oval 11">
              <a:extLst>
                <a:ext uri="{FF2B5EF4-FFF2-40B4-BE49-F238E27FC236}">
                  <a16:creationId xmlns:a16="http://schemas.microsoft.com/office/drawing/2014/main" id="{1AF1AA6D-5267-4E73-92AB-3D90DE52D291}"/>
                </a:ext>
              </a:extLst>
            </p:cNvPr>
            <p:cNvSpPr>
              <a:spLocks noChangeArrowheads="1"/>
            </p:cNvSpPr>
            <p:nvPr/>
          </p:nvSpPr>
          <p:spPr bwMode="auto">
            <a:xfrm>
              <a:off x="2976" y="2112"/>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3" name="AutoShape 12">
              <a:extLst>
                <a:ext uri="{FF2B5EF4-FFF2-40B4-BE49-F238E27FC236}">
                  <a16:creationId xmlns:a16="http://schemas.microsoft.com/office/drawing/2014/main" id="{ED0D12E8-3ED7-4661-ADE7-7868BD887369}"/>
                </a:ext>
              </a:extLst>
            </p:cNvPr>
            <p:cNvSpPr>
              <a:spLocks noChangeArrowheads="1"/>
            </p:cNvSpPr>
            <p:nvPr/>
          </p:nvSpPr>
          <p:spPr bwMode="auto">
            <a:xfrm>
              <a:off x="2488" y="1640"/>
              <a:ext cx="1008"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4" name="Line 13">
              <a:extLst>
                <a:ext uri="{FF2B5EF4-FFF2-40B4-BE49-F238E27FC236}">
                  <a16:creationId xmlns:a16="http://schemas.microsoft.com/office/drawing/2014/main" id="{FC46BA03-31CC-4F15-ADCB-BEC84D950BB9}"/>
                </a:ext>
              </a:extLst>
            </p:cNvPr>
            <p:cNvSpPr>
              <a:spLocks noChangeShapeType="1"/>
            </p:cNvSpPr>
            <p:nvPr/>
          </p:nvSpPr>
          <p:spPr bwMode="auto">
            <a:xfrm flipV="1">
              <a:off x="2688" y="225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14">
            <a:extLst>
              <a:ext uri="{FF2B5EF4-FFF2-40B4-BE49-F238E27FC236}">
                <a16:creationId xmlns:a16="http://schemas.microsoft.com/office/drawing/2014/main" id="{0D1D8718-7E01-472E-A592-A777E37A9ABD}"/>
              </a:ext>
            </a:extLst>
          </p:cNvPr>
          <p:cNvGrpSpPr>
            <a:grpSpLocks/>
          </p:cNvGrpSpPr>
          <p:nvPr/>
        </p:nvGrpSpPr>
        <p:grpSpPr bwMode="auto">
          <a:xfrm rot="5400000">
            <a:off x="7264400" y="2794000"/>
            <a:ext cx="1752600" cy="1193800"/>
            <a:chOff x="4224" y="1680"/>
            <a:chExt cx="1104" cy="752"/>
          </a:xfrm>
        </p:grpSpPr>
        <p:sp>
          <p:nvSpPr>
            <p:cNvPr id="16" name="Oval 15">
              <a:extLst>
                <a:ext uri="{FF2B5EF4-FFF2-40B4-BE49-F238E27FC236}">
                  <a16:creationId xmlns:a16="http://schemas.microsoft.com/office/drawing/2014/main" id="{5FFE01F5-926A-4B0E-AE50-DE5249B0139E}"/>
                </a:ext>
              </a:extLst>
            </p:cNvPr>
            <p:cNvSpPr>
              <a:spLocks noChangeArrowheads="1"/>
            </p:cNvSpPr>
            <p:nvPr/>
          </p:nvSpPr>
          <p:spPr bwMode="auto">
            <a:xfrm>
              <a:off x="4704"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7" name="Oval 16">
              <a:extLst>
                <a:ext uri="{FF2B5EF4-FFF2-40B4-BE49-F238E27FC236}">
                  <a16:creationId xmlns:a16="http://schemas.microsoft.com/office/drawing/2014/main" id="{E6E57E16-205A-4AFA-8E16-947C0DE5B5D6}"/>
                </a:ext>
              </a:extLst>
            </p:cNvPr>
            <p:cNvSpPr>
              <a:spLocks noChangeArrowheads="1"/>
            </p:cNvSpPr>
            <p:nvPr/>
          </p:nvSpPr>
          <p:spPr bwMode="auto">
            <a:xfrm>
              <a:off x="4416"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8" name="Oval 17">
              <a:extLst>
                <a:ext uri="{FF2B5EF4-FFF2-40B4-BE49-F238E27FC236}">
                  <a16:creationId xmlns:a16="http://schemas.microsoft.com/office/drawing/2014/main" id="{3375EC35-49B9-4E39-971D-48A1FBA4A1BC}"/>
                </a:ext>
              </a:extLst>
            </p:cNvPr>
            <p:cNvSpPr>
              <a:spLocks noChangeArrowheads="1"/>
            </p:cNvSpPr>
            <p:nvPr/>
          </p:nvSpPr>
          <p:spPr bwMode="auto">
            <a:xfrm>
              <a:off x="4328" y="205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sp>
          <p:nvSpPr>
            <p:cNvPr id="19" name="Oval 18">
              <a:extLst>
                <a:ext uri="{FF2B5EF4-FFF2-40B4-BE49-F238E27FC236}">
                  <a16:creationId xmlns:a16="http://schemas.microsoft.com/office/drawing/2014/main" id="{4E9396EB-18C0-421E-AB89-D649938E3B56}"/>
                </a:ext>
              </a:extLst>
            </p:cNvPr>
            <p:cNvSpPr>
              <a:spLocks noChangeArrowheads="1"/>
            </p:cNvSpPr>
            <p:nvPr/>
          </p:nvSpPr>
          <p:spPr bwMode="auto">
            <a:xfrm>
              <a:off x="508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0" name="Oval 19">
              <a:extLst>
                <a:ext uri="{FF2B5EF4-FFF2-40B4-BE49-F238E27FC236}">
                  <a16:creationId xmlns:a16="http://schemas.microsoft.com/office/drawing/2014/main" id="{22B22137-336A-42D6-89DA-7B6714BD7269}"/>
                </a:ext>
              </a:extLst>
            </p:cNvPr>
            <p:cNvSpPr>
              <a:spLocks noChangeArrowheads="1"/>
            </p:cNvSpPr>
            <p:nvPr/>
          </p:nvSpPr>
          <p:spPr bwMode="auto">
            <a:xfrm>
              <a:off x="4912" y="21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1" name="Oval 20">
              <a:extLst>
                <a:ext uri="{FF2B5EF4-FFF2-40B4-BE49-F238E27FC236}">
                  <a16:creationId xmlns:a16="http://schemas.microsoft.com/office/drawing/2014/main" id="{5DB49A3E-4825-426B-8F59-99A5513FB199}"/>
                </a:ext>
              </a:extLst>
            </p:cNvPr>
            <p:cNvSpPr>
              <a:spLocks noChangeArrowheads="1"/>
            </p:cNvSpPr>
            <p:nvPr/>
          </p:nvSpPr>
          <p:spPr bwMode="auto">
            <a:xfrm>
              <a:off x="4752" y="2208"/>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2" name="AutoShape 21">
              <a:extLst>
                <a:ext uri="{FF2B5EF4-FFF2-40B4-BE49-F238E27FC236}">
                  <a16:creationId xmlns:a16="http://schemas.microsoft.com/office/drawing/2014/main" id="{2CC72767-0529-4814-9C0B-DB6148379C09}"/>
                </a:ext>
              </a:extLst>
            </p:cNvPr>
            <p:cNvSpPr>
              <a:spLocks noChangeArrowheads="1"/>
            </p:cNvSpPr>
            <p:nvPr/>
          </p:nvSpPr>
          <p:spPr bwMode="auto">
            <a:xfrm>
              <a:off x="4224" y="1680"/>
              <a:ext cx="1104"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3" name="Line 22">
              <a:extLst>
                <a:ext uri="{FF2B5EF4-FFF2-40B4-BE49-F238E27FC236}">
                  <a16:creationId xmlns:a16="http://schemas.microsoft.com/office/drawing/2014/main" id="{2A10DF9B-BC05-43D1-9BCE-2EFF485A24F6}"/>
                </a:ext>
              </a:extLst>
            </p:cNvPr>
            <p:cNvSpPr>
              <a:spLocks noChangeShapeType="1"/>
            </p:cNvSpPr>
            <p:nvPr/>
          </p:nvSpPr>
          <p:spPr bwMode="auto">
            <a:xfrm flipV="1">
              <a:off x="4424" y="229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Oval 23">
              <a:extLst>
                <a:ext uri="{FF2B5EF4-FFF2-40B4-BE49-F238E27FC236}">
                  <a16:creationId xmlns:a16="http://schemas.microsoft.com/office/drawing/2014/main" id="{661863A0-9E21-4737-8E3E-D932C79B27F6}"/>
                </a:ext>
              </a:extLst>
            </p:cNvPr>
            <p:cNvSpPr>
              <a:spLocks noChangeArrowheads="1"/>
            </p:cNvSpPr>
            <p:nvPr/>
          </p:nvSpPr>
          <p:spPr bwMode="auto">
            <a:xfrm>
              <a:off x="4992" y="1728"/>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grpSp>
      <p:sp>
        <p:nvSpPr>
          <p:cNvPr id="25" name="AutoShape 37">
            <a:extLst>
              <a:ext uri="{FF2B5EF4-FFF2-40B4-BE49-F238E27FC236}">
                <a16:creationId xmlns:a16="http://schemas.microsoft.com/office/drawing/2014/main" id="{4A134C6A-FBBE-4272-9036-99D6B8DD5DF4}"/>
              </a:ext>
            </a:extLst>
          </p:cNvPr>
          <p:cNvSpPr>
            <a:spLocks noChangeArrowheads="1"/>
          </p:cNvSpPr>
          <p:nvPr/>
        </p:nvSpPr>
        <p:spPr bwMode="auto">
          <a:xfrm>
            <a:off x="5105400" y="4419600"/>
            <a:ext cx="3886200" cy="20320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6" name="Oval 26">
            <a:extLst>
              <a:ext uri="{FF2B5EF4-FFF2-40B4-BE49-F238E27FC236}">
                <a16:creationId xmlns:a16="http://schemas.microsoft.com/office/drawing/2014/main" id="{D4E710E7-FF8E-4444-A0FB-35A25C28C3FC}"/>
              </a:ext>
            </a:extLst>
          </p:cNvPr>
          <p:cNvSpPr>
            <a:spLocks noChangeArrowheads="1"/>
          </p:cNvSpPr>
          <p:nvPr/>
        </p:nvSpPr>
        <p:spPr bwMode="auto">
          <a:xfrm rot="5400000">
            <a:off x="5791200" y="54991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7" name="Oval 27">
            <a:extLst>
              <a:ext uri="{FF2B5EF4-FFF2-40B4-BE49-F238E27FC236}">
                <a16:creationId xmlns:a16="http://schemas.microsoft.com/office/drawing/2014/main" id="{9DF64EBC-EB0B-4427-8BEC-DDA3C025CF52}"/>
              </a:ext>
            </a:extLst>
          </p:cNvPr>
          <p:cNvSpPr>
            <a:spLocks noChangeArrowheads="1"/>
          </p:cNvSpPr>
          <p:nvPr/>
        </p:nvSpPr>
        <p:spPr bwMode="auto">
          <a:xfrm rot="5400000">
            <a:off x="5638800" y="58039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8" name="Oval 28">
            <a:extLst>
              <a:ext uri="{FF2B5EF4-FFF2-40B4-BE49-F238E27FC236}">
                <a16:creationId xmlns:a16="http://schemas.microsoft.com/office/drawing/2014/main" id="{1594B4B0-F016-4330-8599-BAB71ABE166F}"/>
              </a:ext>
            </a:extLst>
          </p:cNvPr>
          <p:cNvSpPr>
            <a:spLocks noChangeArrowheads="1"/>
          </p:cNvSpPr>
          <p:nvPr/>
        </p:nvSpPr>
        <p:spPr bwMode="auto">
          <a:xfrm rot="5400000">
            <a:off x="5486400" y="54991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9" name="AutoShape 29">
            <a:extLst>
              <a:ext uri="{FF2B5EF4-FFF2-40B4-BE49-F238E27FC236}">
                <a16:creationId xmlns:a16="http://schemas.microsoft.com/office/drawing/2014/main" id="{AD51C3EC-ACC8-4E35-97B3-71C96E5C8ACE}"/>
              </a:ext>
            </a:extLst>
          </p:cNvPr>
          <p:cNvSpPr>
            <a:spLocks noChangeArrowheads="1"/>
          </p:cNvSpPr>
          <p:nvPr/>
        </p:nvSpPr>
        <p:spPr bwMode="auto">
          <a:xfrm rot="5400000">
            <a:off x="5067300" y="4927600"/>
            <a:ext cx="16002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0" name="Oval 39">
            <a:extLst>
              <a:ext uri="{FF2B5EF4-FFF2-40B4-BE49-F238E27FC236}">
                <a16:creationId xmlns:a16="http://schemas.microsoft.com/office/drawing/2014/main" id="{9453F532-E5E4-43BA-A438-2B2E92780E79}"/>
              </a:ext>
            </a:extLst>
          </p:cNvPr>
          <p:cNvSpPr>
            <a:spLocks noChangeArrowheads="1"/>
          </p:cNvSpPr>
          <p:nvPr/>
        </p:nvSpPr>
        <p:spPr bwMode="auto">
          <a:xfrm rot="5400000">
            <a:off x="5484813" y="48895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31" name="Oval 30">
            <a:extLst>
              <a:ext uri="{FF2B5EF4-FFF2-40B4-BE49-F238E27FC236}">
                <a16:creationId xmlns:a16="http://schemas.microsoft.com/office/drawing/2014/main" id="{6DFF2B85-271D-416C-A32A-0BDA2E12024F}"/>
              </a:ext>
            </a:extLst>
          </p:cNvPr>
          <p:cNvSpPr>
            <a:spLocks noChangeArrowheads="1"/>
          </p:cNvSpPr>
          <p:nvPr/>
        </p:nvSpPr>
        <p:spPr bwMode="auto">
          <a:xfrm rot="5400000">
            <a:off x="8394700" y="5332413"/>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2" name="Oval 31">
            <a:extLst>
              <a:ext uri="{FF2B5EF4-FFF2-40B4-BE49-F238E27FC236}">
                <a16:creationId xmlns:a16="http://schemas.microsoft.com/office/drawing/2014/main" id="{497F37AB-0BF8-4EE4-9CFF-EF6E7B148D19}"/>
              </a:ext>
            </a:extLst>
          </p:cNvPr>
          <p:cNvSpPr>
            <a:spLocks noChangeArrowheads="1"/>
          </p:cNvSpPr>
          <p:nvPr/>
        </p:nvSpPr>
        <p:spPr bwMode="auto">
          <a:xfrm rot="5400000">
            <a:off x="8394700" y="4875213"/>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3" name="Oval 32">
            <a:extLst>
              <a:ext uri="{FF2B5EF4-FFF2-40B4-BE49-F238E27FC236}">
                <a16:creationId xmlns:a16="http://schemas.microsoft.com/office/drawing/2014/main" id="{310182F7-C306-4E80-9A20-E3B8E2EA19DF}"/>
              </a:ext>
            </a:extLst>
          </p:cNvPr>
          <p:cNvSpPr>
            <a:spLocks noChangeArrowheads="1"/>
          </p:cNvSpPr>
          <p:nvPr/>
        </p:nvSpPr>
        <p:spPr bwMode="auto">
          <a:xfrm rot="5400000">
            <a:off x="8077200" y="5942013"/>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4" name="Oval 33">
            <a:extLst>
              <a:ext uri="{FF2B5EF4-FFF2-40B4-BE49-F238E27FC236}">
                <a16:creationId xmlns:a16="http://schemas.microsoft.com/office/drawing/2014/main" id="{1EA979EF-ADD3-4AC3-92F8-E596F042F99F}"/>
              </a:ext>
            </a:extLst>
          </p:cNvPr>
          <p:cNvSpPr>
            <a:spLocks noChangeArrowheads="1"/>
          </p:cNvSpPr>
          <p:nvPr/>
        </p:nvSpPr>
        <p:spPr bwMode="auto">
          <a:xfrm rot="5400000">
            <a:off x="7912100" y="5662613"/>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5" name="Oval 34">
            <a:extLst>
              <a:ext uri="{FF2B5EF4-FFF2-40B4-BE49-F238E27FC236}">
                <a16:creationId xmlns:a16="http://schemas.microsoft.com/office/drawing/2014/main" id="{AAADEE73-EF31-4D37-BA7D-F05CCE564C13}"/>
              </a:ext>
            </a:extLst>
          </p:cNvPr>
          <p:cNvSpPr>
            <a:spLocks noChangeArrowheads="1"/>
          </p:cNvSpPr>
          <p:nvPr/>
        </p:nvSpPr>
        <p:spPr bwMode="auto">
          <a:xfrm rot="5400000">
            <a:off x="7772400" y="54102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6" name="AutoShape 35">
            <a:extLst>
              <a:ext uri="{FF2B5EF4-FFF2-40B4-BE49-F238E27FC236}">
                <a16:creationId xmlns:a16="http://schemas.microsoft.com/office/drawing/2014/main" id="{670F4528-17B1-413F-A634-66D1CBB0A7E5}"/>
              </a:ext>
            </a:extLst>
          </p:cNvPr>
          <p:cNvSpPr>
            <a:spLocks noChangeArrowheads="1"/>
          </p:cNvSpPr>
          <p:nvPr/>
        </p:nvSpPr>
        <p:spPr bwMode="auto">
          <a:xfrm rot="5400000">
            <a:off x="7366000" y="4851400"/>
            <a:ext cx="17526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7" name="Oval 36">
            <a:extLst>
              <a:ext uri="{FF2B5EF4-FFF2-40B4-BE49-F238E27FC236}">
                <a16:creationId xmlns:a16="http://schemas.microsoft.com/office/drawing/2014/main" id="{EDFF0157-B3F6-4FF2-8493-931A038D1EA4}"/>
              </a:ext>
            </a:extLst>
          </p:cNvPr>
          <p:cNvSpPr>
            <a:spLocks noChangeArrowheads="1"/>
          </p:cNvSpPr>
          <p:nvPr/>
        </p:nvSpPr>
        <p:spPr bwMode="auto">
          <a:xfrm rot="5400000">
            <a:off x="8382000" y="5789613"/>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8" name="Text Box 43">
            <a:extLst>
              <a:ext uri="{FF2B5EF4-FFF2-40B4-BE49-F238E27FC236}">
                <a16:creationId xmlns:a16="http://schemas.microsoft.com/office/drawing/2014/main" id="{7CA66751-6348-4588-850F-2F3266CC366F}"/>
              </a:ext>
            </a:extLst>
          </p:cNvPr>
          <p:cNvSpPr txBox="1">
            <a:spLocks noChangeArrowheads="1"/>
          </p:cNvSpPr>
          <p:nvPr/>
        </p:nvSpPr>
        <p:spPr bwMode="auto">
          <a:xfrm>
            <a:off x="6858000" y="54102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39" name="Text Box 44">
            <a:extLst>
              <a:ext uri="{FF2B5EF4-FFF2-40B4-BE49-F238E27FC236}">
                <a16:creationId xmlns:a16="http://schemas.microsoft.com/office/drawing/2014/main" id="{282CD113-E6AA-47EB-912F-67F79F6108FD}"/>
              </a:ext>
            </a:extLst>
          </p:cNvPr>
          <p:cNvSpPr txBox="1">
            <a:spLocks noChangeArrowheads="1"/>
          </p:cNvSpPr>
          <p:nvPr/>
        </p:nvSpPr>
        <p:spPr bwMode="auto">
          <a:xfrm>
            <a:off x="6781800" y="48006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40" name="Line 45">
            <a:extLst>
              <a:ext uri="{FF2B5EF4-FFF2-40B4-BE49-F238E27FC236}">
                <a16:creationId xmlns:a16="http://schemas.microsoft.com/office/drawing/2014/main" id="{88746D29-44F3-44F4-B832-4534BE03E33E}"/>
              </a:ext>
            </a:extLst>
          </p:cNvPr>
          <p:cNvSpPr>
            <a:spLocks noChangeShapeType="1"/>
          </p:cNvSpPr>
          <p:nvPr/>
        </p:nvSpPr>
        <p:spPr bwMode="auto">
          <a:xfrm>
            <a:off x="5181600" y="5105400"/>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 name="Text Box 46">
            <a:extLst>
              <a:ext uri="{FF2B5EF4-FFF2-40B4-BE49-F238E27FC236}">
                <a16:creationId xmlns:a16="http://schemas.microsoft.com/office/drawing/2014/main" id="{677EBA59-725A-4F80-B273-C4E79A5B4842}"/>
              </a:ext>
            </a:extLst>
          </p:cNvPr>
          <p:cNvSpPr txBox="1">
            <a:spLocks noChangeArrowheads="1"/>
          </p:cNvSpPr>
          <p:nvPr/>
        </p:nvSpPr>
        <p:spPr bwMode="auto">
          <a:xfrm>
            <a:off x="5105400" y="25669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1</a:t>
            </a:r>
          </a:p>
        </p:txBody>
      </p:sp>
      <p:sp>
        <p:nvSpPr>
          <p:cNvPr id="42" name="Text Box 47">
            <a:extLst>
              <a:ext uri="{FF2B5EF4-FFF2-40B4-BE49-F238E27FC236}">
                <a16:creationId xmlns:a16="http://schemas.microsoft.com/office/drawing/2014/main" id="{BFF980E2-356D-4068-8388-31B2B34A38E9}"/>
              </a:ext>
            </a:extLst>
          </p:cNvPr>
          <p:cNvSpPr txBox="1">
            <a:spLocks noChangeArrowheads="1"/>
          </p:cNvSpPr>
          <p:nvPr/>
        </p:nvSpPr>
        <p:spPr bwMode="auto">
          <a:xfrm>
            <a:off x="7162800" y="25415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2</a:t>
            </a:r>
          </a:p>
        </p:txBody>
      </p:sp>
      <p:sp>
        <p:nvSpPr>
          <p:cNvPr id="43" name="Text Box 48">
            <a:extLst>
              <a:ext uri="{FF2B5EF4-FFF2-40B4-BE49-F238E27FC236}">
                <a16:creationId xmlns:a16="http://schemas.microsoft.com/office/drawing/2014/main" id="{655F904A-9B23-4735-B6CC-3E0ABED2D5AB}"/>
              </a:ext>
            </a:extLst>
          </p:cNvPr>
          <p:cNvSpPr txBox="1">
            <a:spLocks noChangeArrowheads="1"/>
          </p:cNvSpPr>
          <p:nvPr/>
        </p:nvSpPr>
        <p:spPr bwMode="auto">
          <a:xfrm>
            <a:off x="4864100" y="40386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endParaRPr lang="en-US" altLang="en-US" sz="1800" b="1" baseline="-25000"/>
          </a:p>
        </p:txBody>
      </p:sp>
      <p:sp>
        <p:nvSpPr>
          <p:cNvPr id="44" name="Oval 24">
            <a:extLst>
              <a:ext uri="{FF2B5EF4-FFF2-40B4-BE49-F238E27FC236}">
                <a16:creationId xmlns:a16="http://schemas.microsoft.com/office/drawing/2014/main" id="{617BA502-452A-4BDE-ABDC-BA2A6B82C5DB}"/>
              </a:ext>
            </a:extLst>
          </p:cNvPr>
          <p:cNvSpPr>
            <a:spLocks noChangeArrowheads="1"/>
          </p:cNvSpPr>
          <p:nvPr/>
        </p:nvSpPr>
        <p:spPr bwMode="auto">
          <a:xfrm rot="5400000">
            <a:off x="6019800" y="57277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45" name="Oval 25">
            <a:extLst>
              <a:ext uri="{FF2B5EF4-FFF2-40B4-BE49-F238E27FC236}">
                <a16:creationId xmlns:a16="http://schemas.microsoft.com/office/drawing/2014/main" id="{5C83F720-71CB-41E3-BF99-0ED8967E03FC}"/>
              </a:ext>
            </a:extLst>
          </p:cNvPr>
          <p:cNvSpPr>
            <a:spLocks noChangeArrowheads="1"/>
          </p:cNvSpPr>
          <p:nvPr/>
        </p:nvSpPr>
        <p:spPr bwMode="auto">
          <a:xfrm rot="5400000">
            <a:off x="6018213" y="51181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46" name="Oval 41">
            <a:extLst>
              <a:ext uri="{FF2B5EF4-FFF2-40B4-BE49-F238E27FC236}">
                <a16:creationId xmlns:a16="http://schemas.microsoft.com/office/drawing/2014/main" id="{4FE4A1D1-C86B-4D94-993B-D06A9F6DD84B}"/>
              </a:ext>
            </a:extLst>
          </p:cNvPr>
          <p:cNvSpPr>
            <a:spLocks noChangeArrowheads="1"/>
          </p:cNvSpPr>
          <p:nvPr/>
        </p:nvSpPr>
        <p:spPr bwMode="auto">
          <a:xfrm rot="5400000">
            <a:off x="7861300" y="4735513"/>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cxnSp>
        <p:nvCxnSpPr>
          <p:cNvPr id="47" name="AutoShape 51">
            <a:extLst>
              <a:ext uri="{FF2B5EF4-FFF2-40B4-BE49-F238E27FC236}">
                <a16:creationId xmlns:a16="http://schemas.microsoft.com/office/drawing/2014/main" id="{EDB31AEE-AED1-4690-B18C-256EE67309F9}"/>
              </a:ext>
            </a:extLst>
          </p:cNvPr>
          <p:cNvCxnSpPr>
            <a:cxnSpLocks noChangeShapeType="1"/>
            <a:stCxn id="45" idx="0"/>
            <a:endCxn id="46" idx="4"/>
          </p:cNvCxnSpPr>
          <p:nvPr/>
        </p:nvCxnSpPr>
        <p:spPr bwMode="auto">
          <a:xfrm flipV="1">
            <a:off x="6418263" y="4926013"/>
            <a:ext cx="1433512" cy="382587"/>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8" name="AutoShape 52">
            <a:extLst>
              <a:ext uri="{FF2B5EF4-FFF2-40B4-BE49-F238E27FC236}">
                <a16:creationId xmlns:a16="http://schemas.microsoft.com/office/drawing/2014/main" id="{74C16254-923F-424E-ACDA-D56035992354}"/>
              </a:ext>
            </a:extLst>
          </p:cNvPr>
          <p:cNvCxnSpPr>
            <a:cxnSpLocks noChangeShapeType="1"/>
            <a:stCxn id="44" idx="0"/>
            <a:endCxn id="46" idx="5"/>
          </p:cNvCxnSpPr>
          <p:nvPr/>
        </p:nvCxnSpPr>
        <p:spPr bwMode="auto">
          <a:xfrm flipV="1">
            <a:off x="6419850" y="5059363"/>
            <a:ext cx="1487488" cy="858837"/>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9" name="Oval 54">
            <a:extLst>
              <a:ext uri="{FF2B5EF4-FFF2-40B4-BE49-F238E27FC236}">
                <a16:creationId xmlns:a16="http://schemas.microsoft.com/office/drawing/2014/main" id="{C2F49986-8B97-40BB-A3B7-6BB8615EBD33}"/>
              </a:ext>
            </a:extLst>
          </p:cNvPr>
          <p:cNvSpPr>
            <a:spLocks noChangeArrowheads="1"/>
          </p:cNvSpPr>
          <p:nvPr/>
        </p:nvSpPr>
        <p:spPr bwMode="auto">
          <a:xfrm rot="5400000">
            <a:off x="6021388" y="5715000"/>
            <a:ext cx="381000" cy="381000"/>
          </a:xfrm>
          <a:prstGeom prst="ellipse">
            <a:avLst/>
          </a:prstGeom>
          <a:noFill/>
          <a:ln w="952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50" name="Oval 55">
            <a:extLst>
              <a:ext uri="{FF2B5EF4-FFF2-40B4-BE49-F238E27FC236}">
                <a16:creationId xmlns:a16="http://schemas.microsoft.com/office/drawing/2014/main" id="{30704589-FDCD-4785-B18B-ADC1A4192107}"/>
              </a:ext>
            </a:extLst>
          </p:cNvPr>
          <p:cNvSpPr>
            <a:spLocks noChangeArrowheads="1"/>
          </p:cNvSpPr>
          <p:nvPr/>
        </p:nvSpPr>
        <p:spPr bwMode="auto">
          <a:xfrm rot="5400000">
            <a:off x="6019800" y="5105400"/>
            <a:ext cx="381000" cy="381000"/>
          </a:xfrm>
          <a:prstGeom prst="ellipse">
            <a:avLst/>
          </a:prstGeom>
          <a:noFill/>
          <a:ln w="952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Tree>
    <p:extLst>
      <p:ext uri="{BB962C8B-B14F-4D97-AF65-F5344CB8AC3E}">
        <p14:creationId xmlns:p14="http://schemas.microsoft.com/office/powerpoint/2010/main" val="269651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44"/>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3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childTnLst>
                          </p:cTn>
                        </p:par>
                        <p:par>
                          <p:cTn id="62" fill="hold">
                            <p:stCondLst>
                              <p:cond delay="0"/>
                            </p:stCondLst>
                            <p:childTnLst>
                              <p:par>
                                <p:cTn id="63" presetID="1" presetClass="entr" presetSubtype="0" fill="hold" grpId="0" nodeType="after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p:bldP spid="39" grpId="0"/>
      <p:bldP spid="40" grpId="0" animBg="1"/>
      <p:bldP spid="43" grpId="0"/>
      <p:bldP spid="44" grpId="0" animBg="1"/>
      <p:bldP spid="44" grpId="1" animBg="1"/>
      <p:bldP spid="45" grpId="0" animBg="1"/>
      <p:bldP spid="45" grpId="1" animBg="1"/>
      <p:bldP spid="46" grpId="0" animBg="1"/>
      <p:bldP spid="49" grpId="0" animBg="1"/>
      <p:bldP spid="5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7097F2-3C38-4AFB-A0DB-748B7C89B5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2B7445B-A6A7-4DF6-B398-3D893869D362}"/>
              </a:ext>
            </a:extLst>
          </p:cNvPr>
          <p:cNvSpPr>
            <a:spLocks noGrp="1"/>
          </p:cNvSpPr>
          <p:nvPr>
            <p:ph type="body" sz="quarter" idx="12"/>
          </p:nvPr>
        </p:nvSpPr>
        <p:spPr/>
        <p:txBody>
          <a:bodyPr/>
          <a:lstStyle/>
          <a:p>
            <a:r>
              <a:rPr lang="en-US" dirty="0"/>
              <a:t>Closure Under Regular Operations</a:t>
            </a:r>
          </a:p>
        </p:txBody>
      </p:sp>
      <p:sp>
        <p:nvSpPr>
          <p:cNvPr id="4" name="Rectangle 3">
            <a:extLst>
              <a:ext uri="{FF2B5EF4-FFF2-40B4-BE49-F238E27FC236}">
                <a16:creationId xmlns:a16="http://schemas.microsoft.com/office/drawing/2014/main" id="{645C7C37-E323-42FA-8837-D7FA27AF5BA1}"/>
              </a:ext>
            </a:extLst>
          </p:cNvPr>
          <p:cNvSpPr txBox="1">
            <a:spLocks noChangeArrowheads="1"/>
          </p:cNvSpPr>
          <p:nvPr/>
        </p:nvSpPr>
        <p:spPr>
          <a:xfrm>
            <a:off x="152400" y="914400"/>
            <a:ext cx="8991600" cy="3124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sz="2400" dirty="0"/>
              <a:t>Let,</a:t>
            </a:r>
          </a:p>
          <a:p>
            <a:pPr lvl="1"/>
            <a:r>
              <a:rPr lang="en-US" altLang="en-US" sz="2200" i="1" dirty="0"/>
              <a:t>N</a:t>
            </a:r>
            <a:r>
              <a:rPr lang="en-US" altLang="en-US" sz="2200" baseline="-25000" dirty="0"/>
              <a:t>1</a:t>
            </a:r>
            <a:r>
              <a:rPr lang="en-US" altLang="en-US" sz="2200" dirty="0"/>
              <a:t> = (</a:t>
            </a:r>
            <a:r>
              <a:rPr lang="en-US" altLang="en-US" sz="2200" i="1" dirty="0"/>
              <a:t>Q</a:t>
            </a:r>
            <a:r>
              <a:rPr lang="en-US" altLang="en-US" sz="2200" baseline="-25000" dirty="0"/>
              <a:t>1</a:t>
            </a:r>
            <a:r>
              <a:rPr lang="en-US" altLang="en-US" sz="2200" dirty="0"/>
              <a:t>, </a:t>
            </a:r>
            <a:r>
              <a:rPr lang="el-GR" altLang="en-US" sz="2200" dirty="0">
                <a:cs typeface="Arial" panose="020B0604020202020204" pitchFamily="34" charset="0"/>
              </a:rPr>
              <a:t>Σ</a:t>
            </a:r>
            <a:r>
              <a:rPr lang="en-US" altLang="en-US" sz="2200" dirty="0">
                <a:cs typeface="Arial" panose="020B0604020202020204" pitchFamily="34" charset="0"/>
              </a:rPr>
              <a:t>, </a:t>
            </a:r>
            <a:r>
              <a:rPr lang="el-GR" altLang="en-US" sz="2200" i="1" dirty="0">
                <a:cs typeface="Arial" panose="020B0604020202020204" pitchFamily="34" charset="0"/>
                <a:sym typeface="Symbol" panose="05050102010706020507" pitchFamily="18" charset="2"/>
              </a:rPr>
              <a:t></a:t>
            </a:r>
            <a:r>
              <a:rPr lang="en-US" altLang="en-US" sz="2200" baseline="-25000" dirty="0"/>
              <a:t>1</a:t>
            </a:r>
            <a:r>
              <a:rPr lang="en-US" altLang="en-US" sz="2200" dirty="0">
                <a:cs typeface="Arial" panose="020B0604020202020204" pitchFamily="34" charset="0"/>
                <a:sym typeface="Symbol" panose="05050102010706020507" pitchFamily="18" charset="2"/>
              </a:rPr>
              <a:t>, </a:t>
            </a:r>
            <a:r>
              <a:rPr lang="en-US" altLang="en-US" sz="2200" i="1" dirty="0">
                <a:cs typeface="Arial" panose="020B0604020202020204" pitchFamily="34" charset="0"/>
                <a:sym typeface="Symbol" panose="05050102010706020507" pitchFamily="18" charset="2"/>
              </a:rPr>
              <a:t>a</a:t>
            </a:r>
            <a:r>
              <a:rPr lang="en-US" altLang="en-US" sz="2200" baseline="-25000" dirty="0">
                <a:cs typeface="Arial" panose="020B0604020202020204" pitchFamily="34" charset="0"/>
                <a:sym typeface="Symbol" panose="05050102010706020507" pitchFamily="18" charset="2"/>
              </a:rPr>
              <a:t>1</a:t>
            </a:r>
            <a:r>
              <a:rPr lang="en-US" altLang="en-US" sz="2200" dirty="0">
                <a:cs typeface="Arial" panose="020B0604020202020204" pitchFamily="34" charset="0"/>
                <a:sym typeface="Symbol" panose="05050102010706020507" pitchFamily="18" charset="2"/>
              </a:rPr>
              <a:t>, </a:t>
            </a:r>
            <a:r>
              <a:rPr lang="en-US" altLang="en-US" sz="2200" i="1" dirty="0">
                <a:cs typeface="Arial" panose="020B0604020202020204" pitchFamily="34" charset="0"/>
                <a:sym typeface="Symbol" panose="05050102010706020507" pitchFamily="18" charset="2"/>
              </a:rPr>
              <a:t>F</a:t>
            </a:r>
            <a:r>
              <a:rPr lang="en-US" altLang="en-US" sz="2200" baseline="-25000" dirty="0"/>
              <a:t>1</a:t>
            </a:r>
            <a:r>
              <a:rPr lang="en-US" altLang="en-US" sz="2200" dirty="0"/>
              <a:t>) </a:t>
            </a:r>
            <a:r>
              <a:rPr lang="en-US" altLang="en-US" sz="2200"/>
              <a:t>recognizes </a:t>
            </a:r>
            <a:r>
              <a:rPr lang="en-US" altLang="en-US" sz="2200" i="1"/>
              <a:t>A</a:t>
            </a:r>
            <a:r>
              <a:rPr lang="en-US" altLang="en-US" sz="2200" baseline="-25000"/>
              <a:t>1</a:t>
            </a:r>
            <a:r>
              <a:rPr lang="en-US" altLang="en-US" sz="2200"/>
              <a:t>.</a:t>
            </a:r>
            <a:endParaRPr lang="en-US" altLang="en-US" sz="2200" dirty="0"/>
          </a:p>
          <a:p>
            <a:r>
              <a:rPr lang="en-US" altLang="en-US" sz="2400" b="1" dirty="0"/>
              <a:t>STAR</a:t>
            </a:r>
            <a:r>
              <a:rPr lang="en-US" altLang="en-US" sz="2400" dirty="0"/>
              <a:t>: Construct </a:t>
            </a:r>
            <a:r>
              <a:rPr lang="en-US" altLang="en-US" sz="2400" i="1" dirty="0"/>
              <a:t>N</a:t>
            </a:r>
            <a:r>
              <a:rPr lang="en-US" altLang="en-US" sz="2400" dirty="0"/>
              <a:t> = (</a:t>
            </a:r>
            <a:r>
              <a:rPr lang="en-US" altLang="en-US" sz="2400" i="1" dirty="0"/>
              <a:t>Q</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l-GR" altLang="en-US" sz="2400" i="1"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0</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dirty="0"/>
              <a:t>) to recognize </a:t>
            </a:r>
            <a:r>
              <a:rPr lang="en-US" altLang="en-US" sz="2400" i="1" dirty="0"/>
              <a:t>A</a:t>
            </a:r>
            <a:r>
              <a:rPr lang="en-US" altLang="en-US" sz="2400" baseline="-25000" dirty="0"/>
              <a:t>1</a:t>
            </a:r>
            <a:r>
              <a:rPr lang="en-US" altLang="en-US" sz="2400" i="1" dirty="0"/>
              <a:t>*</a:t>
            </a:r>
            <a:r>
              <a:rPr lang="en-US" altLang="en-US" sz="2400" dirty="0"/>
              <a:t>.</a:t>
            </a:r>
          </a:p>
          <a:p>
            <a:pPr lvl="1"/>
            <a:r>
              <a:rPr lang="en-US" altLang="en-US" sz="2200" dirty="0"/>
              <a:t>Q = </a:t>
            </a:r>
            <a:r>
              <a:rPr lang="en-US" altLang="en-US" sz="2200" dirty="0">
                <a:sym typeface="Symbol" panose="05050102010706020507" pitchFamily="18" charset="2"/>
              </a:rPr>
              <a:t>{</a:t>
            </a:r>
            <a:r>
              <a:rPr lang="en-US" altLang="en-US" sz="2200" i="1" dirty="0">
                <a:cs typeface="Arial" panose="020B0604020202020204" pitchFamily="34" charset="0"/>
                <a:sym typeface="Symbol" panose="05050102010706020507" pitchFamily="18" charset="2"/>
              </a:rPr>
              <a:t>q</a:t>
            </a:r>
            <a:r>
              <a:rPr lang="en-US" altLang="en-US" sz="2200" baseline="-25000" dirty="0">
                <a:cs typeface="Arial" panose="020B0604020202020204" pitchFamily="34" charset="0"/>
                <a:sym typeface="Symbol" panose="05050102010706020507" pitchFamily="18" charset="2"/>
              </a:rPr>
              <a:t>0</a:t>
            </a:r>
            <a:r>
              <a:rPr lang="en-US" altLang="en-US" sz="2200" dirty="0">
                <a:sym typeface="Symbol" panose="05050102010706020507" pitchFamily="18" charset="2"/>
              </a:rPr>
              <a:t>}  Q</a:t>
            </a:r>
            <a:r>
              <a:rPr lang="en-US" altLang="en-US" sz="2200" baseline="-25000" dirty="0">
                <a:sym typeface="Symbol" panose="05050102010706020507" pitchFamily="18" charset="2"/>
              </a:rPr>
              <a:t>1</a:t>
            </a:r>
            <a:r>
              <a:rPr lang="en-US" altLang="en-US" sz="2200" dirty="0"/>
              <a:t>.</a:t>
            </a:r>
          </a:p>
          <a:p>
            <a:pPr lvl="1"/>
            <a:r>
              <a:rPr lang="en-US" altLang="en-US" sz="2200" i="1" dirty="0">
                <a:cs typeface="Arial" panose="020B0604020202020204" pitchFamily="34" charset="0"/>
                <a:sym typeface="Symbol" panose="05050102010706020507" pitchFamily="18" charset="2"/>
              </a:rPr>
              <a:t>q</a:t>
            </a:r>
            <a:r>
              <a:rPr lang="en-US" altLang="en-US" sz="2200" baseline="-25000" dirty="0">
                <a:cs typeface="Arial" panose="020B0604020202020204" pitchFamily="34" charset="0"/>
                <a:sym typeface="Symbol" panose="05050102010706020507" pitchFamily="18" charset="2"/>
              </a:rPr>
              <a:t>0</a:t>
            </a:r>
            <a:r>
              <a:rPr lang="en-US" altLang="en-US" sz="2200" dirty="0">
                <a:cs typeface="Arial" panose="020B0604020202020204" pitchFamily="34" charset="0"/>
                <a:sym typeface="Symbol" panose="05050102010706020507" pitchFamily="18" charset="2"/>
              </a:rPr>
              <a:t> is the new start state.</a:t>
            </a:r>
          </a:p>
          <a:p>
            <a:pPr lvl="1"/>
            <a:r>
              <a:rPr lang="en-US" altLang="en-US" sz="2200" i="1" dirty="0">
                <a:cs typeface="Arial" panose="020B0604020202020204" pitchFamily="34" charset="0"/>
                <a:sym typeface="Symbol" panose="05050102010706020507" pitchFamily="18" charset="2"/>
              </a:rPr>
              <a:t>F</a:t>
            </a:r>
            <a:r>
              <a:rPr lang="en-US" altLang="en-US" sz="2200" dirty="0">
                <a:cs typeface="Arial" panose="020B0604020202020204" pitchFamily="34" charset="0"/>
                <a:sym typeface="Symbol" panose="05050102010706020507" pitchFamily="18" charset="2"/>
              </a:rPr>
              <a:t> = </a:t>
            </a:r>
            <a:r>
              <a:rPr lang="en-US" altLang="en-US" sz="2200" dirty="0">
                <a:sym typeface="Symbol" panose="05050102010706020507" pitchFamily="18" charset="2"/>
              </a:rPr>
              <a:t>{</a:t>
            </a:r>
            <a:r>
              <a:rPr lang="en-US" altLang="en-US" sz="2200" i="1" dirty="0">
                <a:cs typeface="Arial" panose="020B0604020202020204" pitchFamily="34" charset="0"/>
                <a:sym typeface="Symbol" panose="05050102010706020507" pitchFamily="18" charset="2"/>
              </a:rPr>
              <a:t>q</a:t>
            </a:r>
            <a:r>
              <a:rPr lang="en-US" altLang="en-US" sz="2200" baseline="-25000" dirty="0">
                <a:cs typeface="Arial" panose="020B0604020202020204" pitchFamily="34" charset="0"/>
                <a:sym typeface="Symbol" panose="05050102010706020507" pitchFamily="18" charset="2"/>
              </a:rPr>
              <a:t>0</a:t>
            </a:r>
            <a:r>
              <a:rPr lang="en-US" altLang="en-US" sz="2200" dirty="0">
                <a:sym typeface="Symbol" panose="05050102010706020507" pitchFamily="18" charset="2"/>
              </a:rPr>
              <a:t>}  </a:t>
            </a:r>
            <a:r>
              <a:rPr lang="en-US" altLang="en-US" sz="2200" i="1" dirty="0">
                <a:sym typeface="Symbol" panose="05050102010706020507" pitchFamily="18" charset="2"/>
              </a:rPr>
              <a:t>F</a:t>
            </a:r>
            <a:r>
              <a:rPr lang="en-US" altLang="en-US" sz="2200" baseline="-25000" dirty="0">
                <a:sym typeface="Symbol" panose="05050102010706020507" pitchFamily="18" charset="2"/>
              </a:rPr>
              <a:t>1</a:t>
            </a:r>
            <a:r>
              <a:rPr lang="en-US" altLang="en-US" sz="2200" dirty="0">
                <a:sym typeface="Symbol" panose="05050102010706020507" pitchFamily="18" charset="2"/>
              </a:rPr>
              <a:t>.</a:t>
            </a:r>
          </a:p>
          <a:p>
            <a:pPr lvl="1"/>
            <a:r>
              <a:rPr lang="en-US" altLang="en-US" sz="2200" dirty="0">
                <a:sym typeface="Symbol" panose="05050102010706020507" pitchFamily="18" charset="2"/>
              </a:rPr>
              <a:t>For any </a:t>
            </a:r>
            <a:r>
              <a:rPr lang="en-US" altLang="en-US" sz="2200" i="1" dirty="0">
                <a:sym typeface="Symbol" panose="05050102010706020507" pitchFamily="18" charset="2"/>
              </a:rPr>
              <a:t>q</a:t>
            </a:r>
            <a:r>
              <a:rPr lang="en-US" altLang="en-US" sz="2200" dirty="0">
                <a:sym typeface="Symbol" panose="05050102010706020507" pitchFamily="18" charset="2"/>
              </a:rPr>
              <a:t> </a:t>
            </a:r>
            <a:r>
              <a:rPr lang="en-US" altLang="en-US" sz="2200" i="1" dirty="0">
                <a:sym typeface="Symbol" panose="05050102010706020507" pitchFamily="18" charset="2"/>
              </a:rPr>
              <a:t>Q</a:t>
            </a:r>
            <a:r>
              <a:rPr lang="en-US" altLang="en-US" sz="2200" dirty="0">
                <a:sym typeface="Symbol" panose="05050102010706020507" pitchFamily="18" charset="2"/>
              </a:rPr>
              <a:t> and </a:t>
            </a:r>
            <a:r>
              <a:rPr lang="en-US" altLang="en-US" sz="2200" i="1" dirty="0">
                <a:sym typeface="Symbol" panose="05050102010706020507" pitchFamily="18" charset="2"/>
              </a:rPr>
              <a:t>a</a:t>
            </a:r>
            <a:r>
              <a:rPr lang="en-US" altLang="en-US" sz="2200" dirty="0">
                <a:sym typeface="Symbol" panose="05050102010706020507" pitchFamily="18" charset="2"/>
              </a:rPr>
              <a:t> </a:t>
            </a:r>
            <a:r>
              <a:rPr lang="el-GR" altLang="en-US" sz="2200" dirty="0">
                <a:cs typeface="Arial" panose="020B0604020202020204" pitchFamily="34" charset="0"/>
                <a:sym typeface="Symbol" panose="05050102010706020507" pitchFamily="18" charset="2"/>
              </a:rPr>
              <a:t>Σ</a:t>
            </a:r>
            <a:r>
              <a:rPr lang="en-US" altLang="en-US" sz="2200" baseline="-25000" dirty="0">
                <a:sym typeface="Symbol" panose="05050102010706020507" pitchFamily="18" charset="2"/>
              </a:rPr>
              <a:t></a:t>
            </a:r>
            <a:r>
              <a:rPr lang="en-US" altLang="en-US" sz="2200" dirty="0">
                <a:sym typeface="Symbol" panose="05050102010706020507" pitchFamily="18" charset="2"/>
              </a:rPr>
              <a:t>,</a:t>
            </a:r>
          </a:p>
        </p:txBody>
      </p:sp>
      <p:graphicFrame>
        <p:nvGraphicFramePr>
          <p:cNvPr id="5" name="Object 4">
            <a:extLst>
              <a:ext uri="{FF2B5EF4-FFF2-40B4-BE49-F238E27FC236}">
                <a16:creationId xmlns:a16="http://schemas.microsoft.com/office/drawing/2014/main" id="{323B4D01-A7E8-47F5-8381-CE392FCCDB5D}"/>
              </a:ext>
            </a:extLst>
          </p:cNvPr>
          <p:cNvGraphicFramePr>
            <a:graphicFrameLocks noChangeAspect="1"/>
          </p:cNvGraphicFramePr>
          <p:nvPr/>
        </p:nvGraphicFramePr>
        <p:xfrm>
          <a:off x="549432" y="4143375"/>
          <a:ext cx="4343400" cy="1846263"/>
        </p:xfrm>
        <a:graphic>
          <a:graphicData uri="http://schemas.openxmlformats.org/presentationml/2006/ole">
            <mc:AlternateContent xmlns:mc="http://schemas.openxmlformats.org/markup-compatibility/2006">
              <mc:Choice xmlns:v="urn:schemas-microsoft-com:vml" Requires="v">
                <p:oleObj name="Equation" r:id="rId2" imgW="3974760" imgH="1688760" progId="Equation.3">
                  <p:embed/>
                </p:oleObj>
              </mc:Choice>
              <mc:Fallback>
                <p:oleObj name="Equation" r:id="rId2" imgW="3974760" imgH="1688760" progId="Equation.3">
                  <p:embed/>
                  <p:pic>
                    <p:nvPicPr>
                      <p:cNvPr id="5" name="Object 4">
                        <a:extLst>
                          <a:ext uri="{FF2B5EF4-FFF2-40B4-BE49-F238E27FC236}">
                            <a16:creationId xmlns:a16="http://schemas.microsoft.com/office/drawing/2014/main" id="{323B4D01-A7E8-47F5-8381-CE392FCCD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432" y="4143375"/>
                        <a:ext cx="4343400" cy="184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13">
            <a:extLst>
              <a:ext uri="{FF2B5EF4-FFF2-40B4-BE49-F238E27FC236}">
                <a16:creationId xmlns:a16="http://schemas.microsoft.com/office/drawing/2014/main" id="{ED3778B5-2872-4AC7-8B9C-68F9F4202D1F}"/>
              </a:ext>
            </a:extLst>
          </p:cNvPr>
          <p:cNvSpPr>
            <a:spLocks noChangeShapeType="1"/>
          </p:cNvSpPr>
          <p:nvPr/>
        </p:nvSpPr>
        <p:spPr bwMode="auto">
          <a:xfrm rot="5400000" flipV="1">
            <a:off x="7086600" y="2844800"/>
            <a:ext cx="0" cy="152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 name="AutoShape 24">
            <a:extLst>
              <a:ext uri="{FF2B5EF4-FFF2-40B4-BE49-F238E27FC236}">
                <a16:creationId xmlns:a16="http://schemas.microsoft.com/office/drawing/2014/main" id="{5D0578FD-3A9F-4BA1-88C5-25014646BDAC}"/>
              </a:ext>
            </a:extLst>
          </p:cNvPr>
          <p:cNvSpPr>
            <a:spLocks noChangeArrowheads="1"/>
          </p:cNvSpPr>
          <p:nvPr/>
        </p:nvSpPr>
        <p:spPr bwMode="auto">
          <a:xfrm>
            <a:off x="5638800" y="4724400"/>
            <a:ext cx="3352800" cy="17272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 name="Text Box 37">
            <a:extLst>
              <a:ext uri="{FF2B5EF4-FFF2-40B4-BE49-F238E27FC236}">
                <a16:creationId xmlns:a16="http://schemas.microsoft.com/office/drawing/2014/main" id="{FC807DDA-FEB0-4255-BBAB-29DD102F9B7E}"/>
              </a:ext>
            </a:extLst>
          </p:cNvPr>
          <p:cNvSpPr txBox="1">
            <a:spLocks noChangeArrowheads="1"/>
          </p:cNvSpPr>
          <p:nvPr/>
        </p:nvSpPr>
        <p:spPr bwMode="auto">
          <a:xfrm>
            <a:off x="7543800" y="57404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9" name="Text Box 38">
            <a:extLst>
              <a:ext uri="{FF2B5EF4-FFF2-40B4-BE49-F238E27FC236}">
                <a16:creationId xmlns:a16="http://schemas.microsoft.com/office/drawing/2014/main" id="{DF4CA5EA-CF6D-40C6-BBC5-06A42E5CBE9F}"/>
              </a:ext>
            </a:extLst>
          </p:cNvPr>
          <p:cNvSpPr txBox="1">
            <a:spLocks noChangeArrowheads="1"/>
          </p:cNvSpPr>
          <p:nvPr/>
        </p:nvSpPr>
        <p:spPr bwMode="auto">
          <a:xfrm>
            <a:off x="8077200" y="5478463"/>
            <a:ext cx="4572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10" name="Text Box 42">
            <a:extLst>
              <a:ext uri="{FF2B5EF4-FFF2-40B4-BE49-F238E27FC236}">
                <a16:creationId xmlns:a16="http://schemas.microsoft.com/office/drawing/2014/main" id="{5A55C7E0-569B-4384-974B-3EDD4CFB3881}"/>
              </a:ext>
            </a:extLst>
          </p:cNvPr>
          <p:cNvSpPr txBox="1">
            <a:spLocks noChangeArrowheads="1"/>
          </p:cNvSpPr>
          <p:nvPr/>
        </p:nvSpPr>
        <p:spPr bwMode="auto">
          <a:xfrm>
            <a:off x="5867400" y="43942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endParaRPr lang="en-US" altLang="en-US" sz="1800" b="1" baseline="-25000"/>
          </a:p>
        </p:txBody>
      </p:sp>
      <p:sp>
        <p:nvSpPr>
          <p:cNvPr id="11" name="Oval 25">
            <a:extLst>
              <a:ext uri="{FF2B5EF4-FFF2-40B4-BE49-F238E27FC236}">
                <a16:creationId xmlns:a16="http://schemas.microsoft.com/office/drawing/2014/main" id="{FE4A9CA8-48D7-4FC7-B74A-5C83DB98E4A6}"/>
              </a:ext>
            </a:extLst>
          </p:cNvPr>
          <p:cNvSpPr>
            <a:spLocks noChangeArrowheads="1"/>
          </p:cNvSpPr>
          <p:nvPr/>
        </p:nvSpPr>
        <p:spPr bwMode="auto">
          <a:xfrm rot="5400000">
            <a:off x="7010400" y="60325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2" name="Oval 26">
            <a:extLst>
              <a:ext uri="{FF2B5EF4-FFF2-40B4-BE49-F238E27FC236}">
                <a16:creationId xmlns:a16="http://schemas.microsoft.com/office/drawing/2014/main" id="{4C9BFA92-41B3-441A-8676-93664C7EE32D}"/>
              </a:ext>
            </a:extLst>
          </p:cNvPr>
          <p:cNvSpPr>
            <a:spLocks noChangeArrowheads="1"/>
          </p:cNvSpPr>
          <p:nvPr/>
        </p:nvSpPr>
        <p:spPr bwMode="auto">
          <a:xfrm rot="5400000">
            <a:off x="7302500" y="57277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3" name="Oval 27">
            <a:extLst>
              <a:ext uri="{FF2B5EF4-FFF2-40B4-BE49-F238E27FC236}">
                <a16:creationId xmlns:a16="http://schemas.microsoft.com/office/drawing/2014/main" id="{B495AF2D-730E-424B-9122-8E9EEE2106D0}"/>
              </a:ext>
            </a:extLst>
          </p:cNvPr>
          <p:cNvSpPr>
            <a:spLocks noChangeArrowheads="1"/>
          </p:cNvSpPr>
          <p:nvPr/>
        </p:nvSpPr>
        <p:spPr bwMode="auto">
          <a:xfrm rot="5400000">
            <a:off x="8077200" y="48006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4" name="AutoShape 28">
            <a:extLst>
              <a:ext uri="{FF2B5EF4-FFF2-40B4-BE49-F238E27FC236}">
                <a16:creationId xmlns:a16="http://schemas.microsoft.com/office/drawing/2014/main" id="{E9C7A1B5-44A1-4ED4-91BB-DE884278B70D}"/>
              </a:ext>
            </a:extLst>
          </p:cNvPr>
          <p:cNvSpPr>
            <a:spLocks noChangeArrowheads="1"/>
          </p:cNvSpPr>
          <p:nvPr/>
        </p:nvSpPr>
        <p:spPr bwMode="auto">
          <a:xfrm rot="5400000">
            <a:off x="7123113" y="4608512"/>
            <a:ext cx="1600200" cy="1984375"/>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5" name="Oval 29">
            <a:extLst>
              <a:ext uri="{FF2B5EF4-FFF2-40B4-BE49-F238E27FC236}">
                <a16:creationId xmlns:a16="http://schemas.microsoft.com/office/drawing/2014/main" id="{8B06BE00-BB21-4C41-9DF2-A35A218F8913}"/>
              </a:ext>
            </a:extLst>
          </p:cNvPr>
          <p:cNvSpPr>
            <a:spLocks noChangeArrowheads="1"/>
          </p:cNvSpPr>
          <p:nvPr/>
        </p:nvSpPr>
        <p:spPr bwMode="auto">
          <a:xfrm rot="5400000">
            <a:off x="7086600" y="49657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16" name="Line 39">
            <a:extLst>
              <a:ext uri="{FF2B5EF4-FFF2-40B4-BE49-F238E27FC236}">
                <a16:creationId xmlns:a16="http://schemas.microsoft.com/office/drawing/2014/main" id="{FB830039-D620-4A98-879D-7F0F10B0F5F7}"/>
              </a:ext>
            </a:extLst>
          </p:cNvPr>
          <p:cNvSpPr>
            <a:spLocks noChangeShapeType="1"/>
          </p:cNvSpPr>
          <p:nvPr/>
        </p:nvSpPr>
        <p:spPr bwMode="auto">
          <a:xfrm>
            <a:off x="5765800" y="5143500"/>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Oval 43">
            <a:extLst>
              <a:ext uri="{FF2B5EF4-FFF2-40B4-BE49-F238E27FC236}">
                <a16:creationId xmlns:a16="http://schemas.microsoft.com/office/drawing/2014/main" id="{88569A5B-05CB-408B-9110-EC12C2CC1679}"/>
              </a:ext>
            </a:extLst>
          </p:cNvPr>
          <p:cNvSpPr>
            <a:spLocks noChangeArrowheads="1"/>
          </p:cNvSpPr>
          <p:nvPr/>
        </p:nvSpPr>
        <p:spPr bwMode="auto">
          <a:xfrm rot="5400000">
            <a:off x="7924800" y="59436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8" name="Oval 44">
            <a:extLst>
              <a:ext uri="{FF2B5EF4-FFF2-40B4-BE49-F238E27FC236}">
                <a16:creationId xmlns:a16="http://schemas.microsoft.com/office/drawing/2014/main" id="{BF0B872B-FD03-4A16-B047-F99EDD8A1FFA}"/>
              </a:ext>
            </a:extLst>
          </p:cNvPr>
          <p:cNvSpPr>
            <a:spLocks noChangeArrowheads="1"/>
          </p:cNvSpPr>
          <p:nvPr/>
        </p:nvSpPr>
        <p:spPr bwMode="auto">
          <a:xfrm rot="5400000">
            <a:off x="8458200" y="56388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cxnSp>
        <p:nvCxnSpPr>
          <p:cNvPr id="19" name="AutoShape 46">
            <a:extLst>
              <a:ext uri="{FF2B5EF4-FFF2-40B4-BE49-F238E27FC236}">
                <a16:creationId xmlns:a16="http://schemas.microsoft.com/office/drawing/2014/main" id="{B1110536-3B57-4BCC-B57C-6D6F3B6AD0E6}"/>
              </a:ext>
            </a:extLst>
          </p:cNvPr>
          <p:cNvCxnSpPr>
            <a:cxnSpLocks noChangeShapeType="1"/>
            <a:stCxn id="18" idx="3"/>
            <a:endCxn id="15" idx="0"/>
          </p:cNvCxnSpPr>
          <p:nvPr/>
        </p:nvCxnSpPr>
        <p:spPr bwMode="auto">
          <a:xfrm flipH="1" flipV="1">
            <a:off x="7477125" y="5156200"/>
            <a:ext cx="1017588" cy="53816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0" name="AutoShape 47">
            <a:extLst>
              <a:ext uri="{FF2B5EF4-FFF2-40B4-BE49-F238E27FC236}">
                <a16:creationId xmlns:a16="http://schemas.microsoft.com/office/drawing/2014/main" id="{9B4BEAF1-26E9-45E9-BD40-29C64EB757F2}"/>
              </a:ext>
            </a:extLst>
          </p:cNvPr>
          <p:cNvCxnSpPr>
            <a:cxnSpLocks noChangeShapeType="1"/>
            <a:stCxn id="17" idx="3"/>
            <a:endCxn id="15" idx="6"/>
          </p:cNvCxnSpPr>
          <p:nvPr/>
        </p:nvCxnSpPr>
        <p:spPr bwMode="auto">
          <a:xfrm flipH="1" flipV="1">
            <a:off x="7277100" y="5356225"/>
            <a:ext cx="684213" cy="64293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Oval 49">
            <a:extLst>
              <a:ext uri="{FF2B5EF4-FFF2-40B4-BE49-F238E27FC236}">
                <a16:creationId xmlns:a16="http://schemas.microsoft.com/office/drawing/2014/main" id="{A996BB6E-1A9C-48E5-815E-0B85F2287437}"/>
              </a:ext>
            </a:extLst>
          </p:cNvPr>
          <p:cNvSpPr>
            <a:spLocks noChangeArrowheads="1"/>
          </p:cNvSpPr>
          <p:nvPr/>
        </p:nvSpPr>
        <p:spPr bwMode="auto">
          <a:xfrm>
            <a:off x="6096000" y="4914900"/>
            <a:ext cx="457200" cy="4572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q</a:t>
            </a:r>
            <a:r>
              <a:rPr lang="en-US" altLang="en-US" sz="2000" baseline="-25000"/>
              <a:t>0</a:t>
            </a:r>
          </a:p>
        </p:txBody>
      </p:sp>
      <p:cxnSp>
        <p:nvCxnSpPr>
          <p:cNvPr id="22" name="AutoShape 50">
            <a:extLst>
              <a:ext uri="{FF2B5EF4-FFF2-40B4-BE49-F238E27FC236}">
                <a16:creationId xmlns:a16="http://schemas.microsoft.com/office/drawing/2014/main" id="{B67D72ED-F3FC-427E-8505-22BE860E9E6B}"/>
              </a:ext>
            </a:extLst>
          </p:cNvPr>
          <p:cNvCxnSpPr>
            <a:cxnSpLocks noChangeShapeType="1"/>
            <a:stCxn id="21" idx="6"/>
            <a:endCxn id="15" idx="4"/>
          </p:cNvCxnSpPr>
          <p:nvPr/>
        </p:nvCxnSpPr>
        <p:spPr bwMode="auto">
          <a:xfrm>
            <a:off x="6572250" y="5143500"/>
            <a:ext cx="504825" cy="127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3" name="Text Box 51">
            <a:extLst>
              <a:ext uri="{FF2B5EF4-FFF2-40B4-BE49-F238E27FC236}">
                <a16:creationId xmlns:a16="http://schemas.microsoft.com/office/drawing/2014/main" id="{C5E007ED-9A82-4815-A390-B37BA4F4A429}"/>
              </a:ext>
            </a:extLst>
          </p:cNvPr>
          <p:cNvSpPr txBox="1">
            <a:spLocks noChangeArrowheads="1"/>
          </p:cNvSpPr>
          <p:nvPr/>
        </p:nvSpPr>
        <p:spPr bwMode="auto">
          <a:xfrm>
            <a:off x="6553200" y="47879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grpSp>
        <p:nvGrpSpPr>
          <p:cNvPr id="24" name="Group 54">
            <a:extLst>
              <a:ext uri="{FF2B5EF4-FFF2-40B4-BE49-F238E27FC236}">
                <a16:creationId xmlns:a16="http://schemas.microsoft.com/office/drawing/2014/main" id="{25D03DE4-205D-40E1-A37F-0F26B08DF645}"/>
              </a:ext>
            </a:extLst>
          </p:cNvPr>
          <p:cNvGrpSpPr>
            <a:grpSpLocks/>
          </p:cNvGrpSpPr>
          <p:nvPr/>
        </p:nvGrpSpPr>
        <p:grpSpPr bwMode="auto">
          <a:xfrm>
            <a:off x="6553200" y="2590800"/>
            <a:ext cx="2362200" cy="1600200"/>
            <a:chOff x="3264" y="1440"/>
            <a:chExt cx="1488" cy="1008"/>
          </a:xfrm>
        </p:grpSpPr>
        <p:sp>
          <p:nvSpPr>
            <p:cNvPr id="25" name="Oval 6">
              <a:extLst>
                <a:ext uri="{FF2B5EF4-FFF2-40B4-BE49-F238E27FC236}">
                  <a16:creationId xmlns:a16="http://schemas.microsoft.com/office/drawing/2014/main" id="{BDE861DD-CF4F-4B5C-9B67-8EFF9836F671}"/>
                </a:ext>
              </a:extLst>
            </p:cNvPr>
            <p:cNvSpPr>
              <a:spLocks noChangeArrowheads="1"/>
            </p:cNvSpPr>
            <p:nvPr/>
          </p:nvSpPr>
          <p:spPr bwMode="auto">
            <a:xfrm rot="5400000">
              <a:off x="3976" y="216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6" name="Oval 7">
              <a:extLst>
                <a:ext uri="{FF2B5EF4-FFF2-40B4-BE49-F238E27FC236}">
                  <a16:creationId xmlns:a16="http://schemas.microsoft.com/office/drawing/2014/main" id="{8821AB75-1B42-4BB9-A62D-04054AB748A9}"/>
                </a:ext>
              </a:extLst>
            </p:cNvPr>
            <p:cNvSpPr>
              <a:spLocks noChangeArrowheads="1"/>
            </p:cNvSpPr>
            <p:nvPr/>
          </p:nvSpPr>
          <p:spPr bwMode="auto">
            <a:xfrm rot="5400000">
              <a:off x="4464" y="1968"/>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7" name="Oval 8">
              <a:extLst>
                <a:ext uri="{FF2B5EF4-FFF2-40B4-BE49-F238E27FC236}">
                  <a16:creationId xmlns:a16="http://schemas.microsoft.com/office/drawing/2014/main" id="{4E753CD4-10CF-4409-A327-BF7F4DCDA95D}"/>
                </a:ext>
              </a:extLst>
            </p:cNvPr>
            <p:cNvSpPr>
              <a:spLocks noChangeArrowheads="1"/>
            </p:cNvSpPr>
            <p:nvPr/>
          </p:nvSpPr>
          <p:spPr bwMode="auto">
            <a:xfrm rot="5400000">
              <a:off x="3640" y="1544"/>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28" name="Oval 9">
              <a:extLst>
                <a:ext uri="{FF2B5EF4-FFF2-40B4-BE49-F238E27FC236}">
                  <a16:creationId xmlns:a16="http://schemas.microsoft.com/office/drawing/2014/main" id="{46B155CE-E24C-4B73-8A97-29981CAEC0E2}"/>
                </a:ext>
              </a:extLst>
            </p:cNvPr>
            <p:cNvSpPr>
              <a:spLocks noChangeArrowheads="1"/>
            </p:cNvSpPr>
            <p:nvPr/>
          </p:nvSpPr>
          <p:spPr bwMode="auto">
            <a:xfrm rot="5400000">
              <a:off x="4512" y="168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9" name="Oval 10">
              <a:extLst>
                <a:ext uri="{FF2B5EF4-FFF2-40B4-BE49-F238E27FC236}">
                  <a16:creationId xmlns:a16="http://schemas.microsoft.com/office/drawing/2014/main" id="{80E2D53C-19F2-41E7-BDF5-86A6B838227E}"/>
                </a:ext>
              </a:extLst>
            </p:cNvPr>
            <p:cNvSpPr>
              <a:spLocks noChangeArrowheads="1"/>
            </p:cNvSpPr>
            <p:nvPr/>
          </p:nvSpPr>
          <p:spPr bwMode="auto">
            <a:xfrm rot="5400000">
              <a:off x="3736" y="21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0" name="Oval 11">
              <a:extLst>
                <a:ext uri="{FF2B5EF4-FFF2-40B4-BE49-F238E27FC236}">
                  <a16:creationId xmlns:a16="http://schemas.microsoft.com/office/drawing/2014/main" id="{6BEFACB7-38E9-46D2-98A2-0F6676C9F698}"/>
                </a:ext>
              </a:extLst>
            </p:cNvPr>
            <p:cNvSpPr>
              <a:spLocks noChangeArrowheads="1"/>
            </p:cNvSpPr>
            <p:nvPr/>
          </p:nvSpPr>
          <p:spPr bwMode="auto">
            <a:xfrm rot="5400000">
              <a:off x="3552" y="2208"/>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1" name="AutoShape 12">
              <a:extLst>
                <a:ext uri="{FF2B5EF4-FFF2-40B4-BE49-F238E27FC236}">
                  <a16:creationId xmlns:a16="http://schemas.microsoft.com/office/drawing/2014/main" id="{D6CF80B2-A887-4E63-BC58-9EA87EF18358}"/>
                </a:ext>
              </a:extLst>
            </p:cNvPr>
            <p:cNvSpPr>
              <a:spLocks noChangeArrowheads="1"/>
            </p:cNvSpPr>
            <p:nvPr/>
          </p:nvSpPr>
          <p:spPr bwMode="auto">
            <a:xfrm rot="5400000">
              <a:off x="3624" y="1320"/>
              <a:ext cx="1008" cy="1248"/>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2" name="Text Box 40">
              <a:extLst>
                <a:ext uri="{FF2B5EF4-FFF2-40B4-BE49-F238E27FC236}">
                  <a16:creationId xmlns:a16="http://schemas.microsoft.com/office/drawing/2014/main" id="{DAED6522-4214-45EE-A49C-BC8F8F88F625}"/>
                </a:ext>
              </a:extLst>
            </p:cNvPr>
            <p:cNvSpPr txBox="1">
              <a:spLocks noChangeArrowheads="1"/>
            </p:cNvSpPr>
            <p:nvPr/>
          </p:nvSpPr>
          <p:spPr bwMode="auto">
            <a:xfrm>
              <a:off x="3264" y="148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1</a:t>
              </a:r>
            </a:p>
          </p:txBody>
        </p:sp>
        <p:sp>
          <p:nvSpPr>
            <p:cNvPr id="33" name="Oval 52">
              <a:extLst>
                <a:ext uri="{FF2B5EF4-FFF2-40B4-BE49-F238E27FC236}">
                  <a16:creationId xmlns:a16="http://schemas.microsoft.com/office/drawing/2014/main" id="{EBDEEE3F-8BBC-47F8-B77E-F860E912A994}"/>
                </a:ext>
              </a:extLst>
            </p:cNvPr>
            <p:cNvSpPr>
              <a:spLocks noChangeArrowheads="1"/>
            </p:cNvSpPr>
            <p:nvPr/>
          </p:nvSpPr>
          <p:spPr bwMode="auto">
            <a:xfrm rot="5400000">
              <a:off x="4176" y="144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grpSp>
      <p:sp>
        <p:nvSpPr>
          <p:cNvPr id="34" name="Oval 53">
            <a:extLst>
              <a:ext uri="{FF2B5EF4-FFF2-40B4-BE49-F238E27FC236}">
                <a16:creationId xmlns:a16="http://schemas.microsoft.com/office/drawing/2014/main" id="{5F270024-D385-4863-8BBB-00ED5908C334}"/>
              </a:ext>
            </a:extLst>
          </p:cNvPr>
          <p:cNvSpPr>
            <a:spLocks noChangeArrowheads="1"/>
          </p:cNvSpPr>
          <p:nvPr/>
        </p:nvSpPr>
        <p:spPr bwMode="auto">
          <a:xfrm rot="5400000">
            <a:off x="8534400" y="51816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Tree>
    <p:extLst>
      <p:ext uri="{BB962C8B-B14F-4D97-AF65-F5344CB8AC3E}">
        <p14:creationId xmlns:p14="http://schemas.microsoft.com/office/powerpoint/2010/main" val="7289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animBg="1"/>
      <p:bldP spid="12" grpId="0" animBg="1"/>
      <p:bldP spid="13" grpId="0" animBg="1"/>
      <p:bldP spid="14" grpId="0" animBg="1"/>
      <p:bldP spid="15" grpId="0" animBg="1"/>
      <p:bldP spid="16" grpId="0" animBg="1"/>
      <p:bldP spid="17" grpId="0" animBg="1"/>
      <p:bldP spid="18" grpId="0" animBg="1"/>
      <p:bldP spid="21" grpId="0" animBg="1"/>
      <p:bldP spid="23" grpId="0"/>
      <p:bldP spid="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7010400" y="22432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4099560" y="4099498"/>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68" name="Oval 67">
            <a:extLst>
              <a:ext uri="{FF2B5EF4-FFF2-40B4-BE49-F238E27FC236}">
                <a16:creationId xmlns:a16="http://schemas.microsoft.com/office/drawing/2014/main" id="{0E56F860-438E-45AF-8188-6755A5C5F52F}"/>
              </a:ext>
            </a:extLst>
          </p:cNvPr>
          <p:cNvSpPr/>
          <p:nvPr/>
        </p:nvSpPr>
        <p:spPr>
          <a:xfrm>
            <a:off x="5554980" y="4099498"/>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5</a:t>
            </a:r>
          </a:p>
        </p:txBody>
      </p:sp>
      <p:sp>
        <p:nvSpPr>
          <p:cNvPr id="70" name="Oval 69">
            <a:extLst>
              <a:ext uri="{FF2B5EF4-FFF2-40B4-BE49-F238E27FC236}">
                <a16:creationId xmlns:a16="http://schemas.microsoft.com/office/drawing/2014/main" id="{1926C18E-3963-4E9C-B80D-1A0DD6EC1068}"/>
              </a:ext>
            </a:extLst>
          </p:cNvPr>
          <p:cNvSpPr/>
          <p:nvPr/>
        </p:nvSpPr>
        <p:spPr>
          <a:xfrm>
            <a:off x="7010400" y="4099498"/>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6</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1"/>
            <a:ext cx="8324850" cy="1687935"/>
          </a:xfrm>
        </p:spPr>
        <p:txBody>
          <a:bodyPr/>
          <a:lstStyle/>
          <a:p>
            <a:pPr>
              <a:spcBef>
                <a:spcPts val="0"/>
              </a:spcBef>
            </a:pPr>
            <a:r>
              <a:rPr lang="en-US" sz="2400" cap="none" dirty="0"/>
              <a:t>B</a:t>
            </a:r>
            <a:r>
              <a:rPr lang="en-US" sz="3200" cap="none" baseline="-25000" dirty="0"/>
              <a:t>6</a:t>
            </a:r>
            <a:r>
              <a:rPr lang="en-US" sz="2400" cap="none" dirty="0"/>
              <a:t> ={w| w has at least two 1s}.</a:t>
            </a:r>
          </a:p>
          <a:p>
            <a:pPr>
              <a:spcBef>
                <a:spcPts val="0"/>
              </a:spcBef>
            </a:pPr>
            <a:r>
              <a:rPr lang="en-US" sz="2400" cap="none" dirty="0"/>
              <a:t>B7 ={w| w has at most two 1s}.</a:t>
            </a:r>
          </a:p>
          <a:p>
            <a:pPr>
              <a:spcBef>
                <a:spcPts val="0"/>
              </a:spcBef>
            </a:pPr>
            <a:r>
              <a:rPr lang="en-US" sz="2400" cap="none" dirty="0"/>
              <a:t>B11 ={w| w has at least two 1s or w has at most two 1s}.</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4099560" y="22432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5554980" y="22432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578414" y="2214838"/>
            <a:ext cx="65345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400" b="1" baseline="-25000" dirty="0">
                <a:solidFill>
                  <a:sysClr val="windowText" lastClr="000000"/>
                </a:solidFill>
                <a:latin typeface="+mj-lt"/>
              </a:rPr>
              <a:t>6</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578414" y="4055869"/>
            <a:ext cx="65345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B7</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3489960" y="2548027"/>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4785360" y="2548027"/>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6240780" y="2548027"/>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3489960" y="4389058"/>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4785360" y="4404298"/>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6240780" y="4404298"/>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7063763" y="2298231"/>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4152923" y="4154501"/>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5615940" y="4151492"/>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7063763" y="416077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4442460" y="2090034"/>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5897880" y="2090034"/>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7353300" y="2090034"/>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3"/>
            <a:endCxn id="66" idx="5"/>
          </p:cNvCxnSpPr>
          <p:nvPr/>
        </p:nvCxnSpPr>
        <p:spPr>
          <a:xfrm rot="16200000" flipH="1">
            <a:off x="4442460" y="437735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5897880" y="3946305"/>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7353300" y="3946305"/>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4145280" y="148423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4785360" y="210698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5654091" y="151539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6294142" y="209190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7038190" y="152995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4122443" y="496174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4846320" y="393486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5595677" y="3298114"/>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6294143" y="397609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7056143" y="3282874"/>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37" name="Rectangle: Rounded Corners 36">
            <a:extLst>
              <a:ext uri="{FF2B5EF4-FFF2-40B4-BE49-F238E27FC236}">
                <a16:creationId xmlns:a16="http://schemas.microsoft.com/office/drawing/2014/main" id="{267A6071-6841-4093-9FAA-8D8D3BF226E6}"/>
              </a:ext>
            </a:extLst>
          </p:cNvPr>
          <p:cNvSpPr/>
          <p:nvPr/>
        </p:nvSpPr>
        <p:spPr>
          <a:xfrm>
            <a:off x="1064367" y="3117041"/>
            <a:ext cx="65345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B11</a:t>
            </a:r>
          </a:p>
        </p:txBody>
      </p:sp>
      <p:sp>
        <p:nvSpPr>
          <p:cNvPr id="38" name="Oval 37">
            <a:extLst>
              <a:ext uri="{FF2B5EF4-FFF2-40B4-BE49-F238E27FC236}">
                <a16:creationId xmlns:a16="http://schemas.microsoft.com/office/drawing/2014/main" id="{7927295E-EE71-4D08-A207-12B822DE0A8C}"/>
              </a:ext>
            </a:extLst>
          </p:cNvPr>
          <p:cNvSpPr/>
          <p:nvPr/>
        </p:nvSpPr>
        <p:spPr>
          <a:xfrm>
            <a:off x="2381662" y="311704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7</a:t>
            </a:r>
          </a:p>
        </p:txBody>
      </p:sp>
      <p:cxnSp>
        <p:nvCxnSpPr>
          <p:cNvPr id="4" name="Straight Arrow Connector 3">
            <a:extLst>
              <a:ext uri="{FF2B5EF4-FFF2-40B4-BE49-F238E27FC236}">
                <a16:creationId xmlns:a16="http://schemas.microsoft.com/office/drawing/2014/main" id="{647B7EF4-D09F-4C56-8D9D-280A7994C195}"/>
              </a:ext>
            </a:extLst>
          </p:cNvPr>
          <p:cNvCxnSpPr>
            <a:cxnSpLocks/>
            <a:stCxn id="38" idx="7"/>
            <a:endCxn id="10" idx="2"/>
          </p:cNvCxnSpPr>
          <p:nvPr/>
        </p:nvCxnSpPr>
        <p:spPr>
          <a:xfrm flipV="1">
            <a:off x="2967029" y="2548027"/>
            <a:ext cx="1132531" cy="65828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9A67D13-538C-4E71-88CD-A531DDCFF912}"/>
              </a:ext>
            </a:extLst>
          </p:cNvPr>
          <p:cNvCxnSpPr>
            <a:stCxn id="38" idx="5"/>
            <a:endCxn id="66" idx="2"/>
          </p:cNvCxnSpPr>
          <p:nvPr/>
        </p:nvCxnSpPr>
        <p:spPr>
          <a:xfrm>
            <a:off x="2967029" y="3637367"/>
            <a:ext cx="1132531" cy="76693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DF947B4-8E5A-431D-931B-00157DC1F598}"/>
              </a:ext>
            </a:extLst>
          </p:cNvPr>
          <p:cNvCxnSpPr>
            <a:endCxn id="38" idx="2"/>
          </p:cNvCxnSpPr>
          <p:nvPr/>
        </p:nvCxnSpPr>
        <p:spPr>
          <a:xfrm flipV="1">
            <a:off x="1824149" y="3421841"/>
            <a:ext cx="557513" cy="715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96169BC5-3B12-41F9-9869-A14AEA1D77AB}"/>
              </a:ext>
            </a:extLst>
          </p:cNvPr>
          <p:cNvSpPr/>
          <p:nvPr/>
        </p:nvSpPr>
        <p:spPr>
          <a:xfrm>
            <a:off x="2895497" y="264253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ysClr val="windowText" lastClr="000000"/>
                </a:solidFill>
                <a:sym typeface="Symbol" panose="05050102010706020507" pitchFamily="18" charset="2"/>
              </a:rPr>
              <a:t></a:t>
            </a:r>
            <a:endParaRPr lang="en-US" b="1" dirty="0">
              <a:solidFill>
                <a:sysClr val="windowText" lastClr="000000"/>
              </a:solidFill>
            </a:endParaRPr>
          </a:p>
        </p:txBody>
      </p:sp>
      <p:sp>
        <p:nvSpPr>
          <p:cNvPr id="49" name="Rectangle 48">
            <a:extLst>
              <a:ext uri="{FF2B5EF4-FFF2-40B4-BE49-F238E27FC236}">
                <a16:creationId xmlns:a16="http://schemas.microsoft.com/office/drawing/2014/main" id="{588A864B-9877-4052-B364-B0D8F64D466D}"/>
              </a:ext>
            </a:extLst>
          </p:cNvPr>
          <p:cNvSpPr/>
          <p:nvPr/>
        </p:nvSpPr>
        <p:spPr>
          <a:xfrm>
            <a:off x="2923906" y="377071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ysClr val="windowText" lastClr="000000"/>
                </a:solidFill>
                <a:sym typeface="Symbol" panose="05050102010706020507" pitchFamily="18" charset="2"/>
              </a:rPr>
              <a:t></a:t>
            </a:r>
            <a:endParaRPr lang="en-US" b="1" dirty="0">
              <a:solidFill>
                <a:sysClr val="windowText" lastClr="000000"/>
              </a:solidFill>
            </a:endParaRPr>
          </a:p>
        </p:txBody>
      </p:sp>
    </p:spTree>
    <p:extLst>
      <p:ext uri="{BB962C8B-B14F-4D97-AF65-F5344CB8AC3E}">
        <p14:creationId xmlns:p14="http://schemas.microsoft.com/office/powerpoint/2010/main" val="388839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down)">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par>
                          <p:cTn id="21" fill="hold">
                            <p:stCondLst>
                              <p:cond delay="0"/>
                            </p:stCondLst>
                            <p:childTnLst>
                              <p:par>
                                <p:cTn id="22" presetID="21"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heel(8)">
                                      <p:cBhvr>
                                        <p:cTn id="24" dur="1000"/>
                                        <p:tgtEl>
                                          <p:spTgt spid="4"/>
                                        </p:tgtEl>
                                      </p:cBhvr>
                                    </p:animEffect>
                                  </p:childTnLst>
                                </p:cTn>
                              </p:par>
                            </p:childTnLst>
                          </p:cTn>
                        </p:par>
                        <p:par>
                          <p:cTn id="25" fill="hold">
                            <p:stCondLst>
                              <p:cond delay="1000"/>
                            </p:stCondLst>
                            <p:childTnLst>
                              <p:par>
                                <p:cTn id="26" presetID="1" presetClass="entr" presetSubtype="0" fill="hold" grpId="0" nodeType="afterEffect">
                                  <p:stCondLst>
                                    <p:cond delay="0"/>
                                  </p:stCondLst>
                                  <p:childTnLst>
                                    <p:set>
                                      <p:cBhvr>
                                        <p:cTn id="27" dur="1" fill="hold">
                                          <p:stCondLst>
                                            <p:cond delay="0"/>
                                          </p:stCondLst>
                                        </p:cTn>
                                        <p:tgtEl>
                                          <p:spTgt spid="48"/>
                                        </p:tgtEl>
                                        <p:attrNameLst>
                                          <p:attrName>style.visibility</p:attrName>
                                        </p:attrNameLst>
                                      </p:cBhvr>
                                      <p:to>
                                        <p:strVal val="visible"/>
                                      </p:to>
                                    </p:set>
                                  </p:childTnLst>
                                </p:cTn>
                              </p:par>
                            </p:childTnLst>
                          </p:cTn>
                        </p:par>
                        <p:par>
                          <p:cTn id="28" fill="hold">
                            <p:stCondLst>
                              <p:cond delay="1000"/>
                            </p:stCondLst>
                            <p:childTnLst>
                              <p:par>
                                <p:cTn id="29" presetID="1" presetClass="exit"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2"/>
                                        </p:tgtEl>
                                        <p:attrNameLst>
                                          <p:attrName>style.visibility</p:attrName>
                                        </p:attrNameLst>
                                      </p:cBhvr>
                                      <p:to>
                                        <p:strVal val="hidden"/>
                                      </p:to>
                                    </p:set>
                                  </p:childTnLst>
                                </p:cTn>
                              </p:par>
                            </p:childTnLst>
                          </p:cTn>
                        </p:par>
                        <p:par>
                          <p:cTn id="35" fill="hold">
                            <p:stCondLst>
                              <p:cond delay="0"/>
                            </p:stCondLst>
                            <p:childTnLst>
                              <p:par>
                                <p:cTn id="36" presetID="21" presetClass="entr" presetSubtype="8"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heel(8)">
                                      <p:cBhvr>
                                        <p:cTn id="38" dur="1000"/>
                                        <p:tgtEl>
                                          <p:spTgt spid="7"/>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childTnLst>
                                </p:cTn>
                              </p:par>
                            </p:childTnLst>
                          </p:cTn>
                        </p:par>
                        <p:par>
                          <p:cTn id="42" fill="hold">
                            <p:stCondLst>
                              <p:cond delay="1000"/>
                            </p:stCondLst>
                            <p:childTnLst>
                              <p:par>
                                <p:cTn id="43" presetID="1" presetClass="exit" presetSubtype="0" fill="hold" grpId="0" nodeType="afterEffect">
                                  <p:stCondLst>
                                    <p:cond delay="0"/>
                                  </p:stCondLst>
                                  <p:childTnLst>
                                    <p:set>
                                      <p:cBhvr>
                                        <p:cTn id="44" dur="1" fill="hold">
                                          <p:stCondLst>
                                            <p:cond delay="0"/>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75" grpId="0" animBg="1"/>
      <p:bldP spid="37" grpId="0" animBg="1"/>
      <p:bldP spid="38" grpId="0" animBg="1"/>
      <p:bldP spid="48" grpId="0"/>
      <p:bldP spid="4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7010400" y="22432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4099560" y="4099498"/>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68" name="Oval 67">
            <a:extLst>
              <a:ext uri="{FF2B5EF4-FFF2-40B4-BE49-F238E27FC236}">
                <a16:creationId xmlns:a16="http://schemas.microsoft.com/office/drawing/2014/main" id="{0E56F860-438E-45AF-8188-6755A5C5F52F}"/>
              </a:ext>
            </a:extLst>
          </p:cNvPr>
          <p:cNvSpPr/>
          <p:nvPr/>
        </p:nvSpPr>
        <p:spPr>
          <a:xfrm>
            <a:off x="5554980" y="4099498"/>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5</a:t>
            </a:r>
          </a:p>
        </p:txBody>
      </p:sp>
      <p:sp>
        <p:nvSpPr>
          <p:cNvPr id="70" name="Oval 69">
            <a:extLst>
              <a:ext uri="{FF2B5EF4-FFF2-40B4-BE49-F238E27FC236}">
                <a16:creationId xmlns:a16="http://schemas.microsoft.com/office/drawing/2014/main" id="{1926C18E-3963-4E9C-B80D-1A0DD6EC1068}"/>
              </a:ext>
            </a:extLst>
          </p:cNvPr>
          <p:cNvSpPr/>
          <p:nvPr/>
        </p:nvSpPr>
        <p:spPr>
          <a:xfrm>
            <a:off x="7010400" y="4099498"/>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6</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1"/>
            <a:ext cx="9144000" cy="1910039"/>
          </a:xfrm>
        </p:spPr>
        <p:txBody>
          <a:bodyPr/>
          <a:lstStyle/>
          <a:p>
            <a:pPr>
              <a:spcBef>
                <a:spcPts val="0"/>
              </a:spcBef>
            </a:pPr>
            <a:r>
              <a:rPr lang="en-US" sz="2400" cap="none" dirty="0"/>
              <a:t>B</a:t>
            </a:r>
            <a:r>
              <a:rPr lang="en-US" sz="3200" cap="none" baseline="-25000" dirty="0"/>
              <a:t>6</a:t>
            </a:r>
            <a:r>
              <a:rPr lang="en-US" sz="2400" cap="none" dirty="0"/>
              <a:t> ={w| w has at least two 1s}.</a:t>
            </a:r>
          </a:p>
          <a:p>
            <a:pPr>
              <a:spcBef>
                <a:spcPts val="0"/>
              </a:spcBef>
            </a:pPr>
            <a:r>
              <a:rPr lang="en-US" sz="2400" cap="none" dirty="0"/>
              <a:t>B7 ={w| w has at most two 1s}.</a:t>
            </a:r>
          </a:p>
          <a:p>
            <a:pPr>
              <a:spcBef>
                <a:spcPts val="0"/>
              </a:spcBef>
            </a:pPr>
            <a:r>
              <a:rPr lang="en-US" sz="2400" cap="none" dirty="0"/>
              <a:t>B12 ={w| w has at least two 1s followed by w has at most two 1s}.</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4099560" y="22432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5554980" y="22432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659667" y="2214838"/>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400" b="1" baseline="-25000" dirty="0">
                <a:solidFill>
                  <a:sysClr val="windowText" lastClr="000000"/>
                </a:solidFill>
                <a:latin typeface="+mj-lt"/>
              </a:rPr>
              <a:t>6</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659667" y="4055869"/>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B7</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3489960" y="2548027"/>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4785360" y="2548027"/>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6240780" y="2548027"/>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3489960" y="4389058"/>
            <a:ext cx="609600" cy="152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4785360" y="4404298"/>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6240780" y="4404298"/>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7063763" y="2298231"/>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4152923" y="4154501"/>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5615940" y="4151492"/>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7063763" y="416077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4442460" y="2090034"/>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5897880" y="2090034"/>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7353300" y="2090034"/>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3"/>
            <a:endCxn id="66" idx="5"/>
          </p:cNvCxnSpPr>
          <p:nvPr/>
        </p:nvCxnSpPr>
        <p:spPr>
          <a:xfrm rot="16200000" flipH="1">
            <a:off x="4442460" y="437735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5897880" y="3946305"/>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7353300" y="3946305"/>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4145280" y="148423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4785360" y="210698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5654091" y="151539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6294142" y="209190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7038190" y="152995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4122443" y="496174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4846320" y="393486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5850838" y="34214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6294143" y="397609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7228892" y="339620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37" name="Rectangle: Rounded Corners 36">
            <a:extLst>
              <a:ext uri="{FF2B5EF4-FFF2-40B4-BE49-F238E27FC236}">
                <a16:creationId xmlns:a16="http://schemas.microsoft.com/office/drawing/2014/main" id="{267A6071-6841-4093-9FAA-8D8D3BF226E6}"/>
              </a:ext>
            </a:extLst>
          </p:cNvPr>
          <p:cNvSpPr/>
          <p:nvPr/>
        </p:nvSpPr>
        <p:spPr>
          <a:xfrm>
            <a:off x="1064367" y="3117041"/>
            <a:ext cx="65345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B12</a:t>
            </a:r>
          </a:p>
        </p:txBody>
      </p:sp>
      <p:sp>
        <p:nvSpPr>
          <p:cNvPr id="49" name="Rectangle 48">
            <a:extLst>
              <a:ext uri="{FF2B5EF4-FFF2-40B4-BE49-F238E27FC236}">
                <a16:creationId xmlns:a16="http://schemas.microsoft.com/office/drawing/2014/main" id="{588A864B-9877-4052-B364-B0D8F64D466D}"/>
              </a:ext>
            </a:extLst>
          </p:cNvPr>
          <p:cNvSpPr/>
          <p:nvPr/>
        </p:nvSpPr>
        <p:spPr>
          <a:xfrm>
            <a:off x="5170193" y="314557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ysClr val="windowText" lastClr="000000"/>
                </a:solidFill>
                <a:sym typeface="Symbol" panose="05050102010706020507" pitchFamily="18" charset="2"/>
              </a:rPr>
              <a:t></a:t>
            </a:r>
            <a:endParaRPr lang="en-US" b="1" dirty="0">
              <a:solidFill>
                <a:sysClr val="windowText" lastClr="000000"/>
              </a:solidFill>
            </a:endParaRPr>
          </a:p>
        </p:txBody>
      </p:sp>
      <p:cxnSp>
        <p:nvCxnSpPr>
          <p:cNvPr id="5" name="Straight Arrow Connector 4">
            <a:extLst>
              <a:ext uri="{FF2B5EF4-FFF2-40B4-BE49-F238E27FC236}">
                <a16:creationId xmlns:a16="http://schemas.microsoft.com/office/drawing/2014/main" id="{9CB4BE97-C526-421E-BC05-341BDA535355}"/>
              </a:ext>
            </a:extLst>
          </p:cNvPr>
          <p:cNvCxnSpPr>
            <a:stCxn id="65" idx="4"/>
            <a:endCxn id="66" idx="0"/>
          </p:cNvCxnSpPr>
          <p:nvPr/>
        </p:nvCxnSpPr>
        <p:spPr>
          <a:xfrm flipH="1">
            <a:off x="4442460" y="2852827"/>
            <a:ext cx="2910840" cy="124667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534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8)">
                                      <p:cBhvr>
                                        <p:cTn id="11" dur="1000"/>
                                        <p:tgtEl>
                                          <p:spTgt spid="5"/>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par>
                          <p:cTn id="15" fill="hold">
                            <p:stCondLst>
                              <p:cond delay="1000"/>
                            </p:stCondLst>
                            <p:childTnLst>
                              <p:par>
                                <p:cTn id="16" presetID="1" presetClass="exit" presetSubtype="0" fill="hold" nodeType="afterEffect">
                                  <p:stCondLst>
                                    <p:cond delay="0"/>
                                  </p:stCondLst>
                                  <p:childTnLst>
                                    <p:set>
                                      <p:cBhvr>
                                        <p:cTn id="17" dur="1" fill="hold">
                                          <p:stCondLst>
                                            <p:cond delay="0"/>
                                          </p:stCondLst>
                                        </p:cTn>
                                        <p:tgtEl>
                                          <p:spTgt spid="22"/>
                                        </p:tgtEl>
                                        <p:attrNameLst>
                                          <p:attrName>style.visibility</p:attrName>
                                        </p:attrNameLst>
                                      </p:cBhvr>
                                      <p:to>
                                        <p:strVal val="hidden"/>
                                      </p:to>
                                    </p:set>
                                  </p:childTnLst>
                                </p:cTn>
                              </p:par>
                            </p:childTnLst>
                          </p:cTn>
                        </p:par>
                        <p:par>
                          <p:cTn id="18" fill="hold">
                            <p:stCondLst>
                              <p:cond delay="1000"/>
                            </p:stCondLst>
                            <p:childTnLst>
                              <p:par>
                                <p:cTn id="19" presetID="22" presetClass="exit" presetSubtype="4" fill="hold" grpId="0" nodeType="afterEffect">
                                  <p:stCondLst>
                                    <p:cond delay="0"/>
                                  </p:stCondLst>
                                  <p:childTnLst>
                                    <p:animEffect transition="out" filter="wipe(down)">
                                      <p:cBhvr>
                                        <p:cTn id="20" dur="500"/>
                                        <p:tgtEl>
                                          <p:spTgt spid="76"/>
                                        </p:tgtEl>
                                      </p:cBhvr>
                                    </p:animEffect>
                                    <p:set>
                                      <p:cBhvr>
                                        <p:cTn id="21" dur="1" fill="hold">
                                          <p:stCondLst>
                                            <p:cond delay="499"/>
                                          </p:stCondLst>
                                        </p:cTn>
                                        <p:tgtEl>
                                          <p:spTgt spid="76"/>
                                        </p:tgtEl>
                                        <p:attrNameLst>
                                          <p:attrName>style.visibility</p:attrName>
                                        </p:attrNameLst>
                                      </p:cBhvr>
                                      <p:to>
                                        <p:strVal val="hidden"/>
                                      </p:to>
                                    </p:set>
                                  </p:childTnLst>
                                </p:cTn>
                              </p:par>
                            </p:childTnLst>
                          </p:cTn>
                        </p:par>
                        <p:par>
                          <p:cTn id="22" fill="hold">
                            <p:stCondLst>
                              <p:cond delay="1500"/>
                            </p:stCondLst>
                            <p:childTnLst>
                              <p:par>
                                <p:cTn id="23" presetID="1" presetClass="exit" presetSubtype="0" fill="hold" grpId="0" nodeType="afterEffect">
                                  <p:stCondLst>
                                    <p:cond delay="100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75" grpId="0" animBg="1"/>
      <p:bldP spid="76" grpId="0" animBg="1"/>
      <p:bldP spid="37" grpId="0" animBg="1"/>
      <p:bldP spid="4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6004560" y="254508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B10 ={w| w starts with a 1 and has even length or </a:t>
            </a:r>
            <a:br>
              <a:rPr lang="en-US" sz="2400" cap="none" dirty="0"/>
            </a:br>
            <a:r>
              <a:rPr lang="en-US" sz="2400" cap="none" dirty="0"/>
              <a:t>                 w starts with a 0 and has odd length}.</a:t>
            </a:r>
          </a:p>
          <a:p>
            <a:pPr>
              <a:spcBef>
                <a:spcPts val="0"/>
              </a:spcBef>
            </a:pPr>
            <a:r>
              <a:rPr lang="en-US" sz="2400" cap="none" dirty="0"/>
              <a:t>Find B10* for ∑ = {0,1} </a:t>
            </a:r>
          </a:p>
        </p:txBody>
      </p:sp>
      <p:sp>
        <p:nvSpPr>
          <p:cNvPr id="10" name="Oval 9">
            <a:extLst>
              <a:ext uri="{FF2B5EF4-FFF2-40B4-BE49-F238E27FC236}">
                <a16:creationId xmlns:a16="http://schemas.microsoft.com/office/drawing/2014/main" id="{57FBADC4-4323-480A-8E46-6AC3F297FA67}"/>
              </a:ext>
            </a:extLst>
          </p:cNvPr>
          <p:cNvSpPr/>
          <p:nvPr/>
        </p:nvSpPr>
        <p:spPr>
          <a:xfrm>
            <a:off x="3093720" y="315468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4549140" y="2549263"/>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126267" y="3185746"/>
            <a:ext cx="793300"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latin typeface="+mj-lt"/>
              </a:rPr>
              <a:t>B10</a:t>
            </a:r>
            <a:r>
              <a:rPr lang="en-US" b="1" dirty="0">
                <a:solidFill>
                  <a:sysClr val="windowText" lastClr="000000"/>
                </a:solidFill>
                <a:latin typeface="+mj-lt"/>
              </a:rPr>
              <a:t>*</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2484120" y="345948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cxnSpLocks/>
            <a:stCxn id="10" idx="7"/>
            <a:endCxn id="64" idx="2"/>
          </p:cNvCxnSpPr>
          <p:nvPr/>
        </p:nvCxnSpPr>
        <p:spPr>
          <a:xfrm flipV="1">
            <a:off x="3679087" y="2854063"/>
            <a:ext cx="870053" cy="38989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flipV="1">
            <a:off x="5234940" y="2849880"/>
            <a:ext cx="769620" cy="418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6057923" y="260008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4" name="Connector: Curved 83">
            <a:extLst>
              <a:ext uri="{FF2B5EF4-FFF2-40B4-BE49-F238E27FC236}">
                <a16:creationId xmlns:a16="http://schemas.microsoft.com/office/drawing/2014/main" id="{2A2342FD-D784-4A7C-8FF4-0CAFEEABAB51}"/>
              </a:ext>
            </a:extLst>
          </p:cNvPr>
          <p:cNvCxnSpPr>
            <a:cxnSpLocks/>
            <a:stCxn id="65" idx="0"/>
            <a:endCxn id="64" idx="0"/>
          </p:cNvCxnSpPr>
          <p:nvPr/>
        </p:nvCxnSpPr>
        <p:spPr>
          <a:xfrm rot="16200000" flipH="1" flipV="1">
            <a:off x="5617658" y="1819461"/>
            <a:ext cx="4183" cy="1455420"/>
          </a:xfrm>
          <a:prstGeom prst="curvedConnector3">
            <a:avLst>
              <a:gd name="adj1" fmla="val -5464977"/>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3679087" y="37296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3688246" y="274202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5344328" y="3764280"/>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19" name="Rectangle 118">
            <a:extLst>
              <a:ext uri="{FF2B5EF4-FFF2-40B4-BE49-F238E27FC236}">
                <a16:creationId xmlns:a16="http://schemas.microsoft.com/office/drawing/2014/main" id="{90A5F723-9B1F-4EC4-8DE8-94A7F3415122}"/>
              </a:ext>
            </a:extLst>
          </p:cNvPr>
          <p:cNvSpPr/>
          <p:nvPr/>
        </p:nvSpPr>
        <p:spPr>
          <a:xfrm>
            <a:off x="5308848" y="2500271"/>
            <a:ext cx="591717" cy="4136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0" name="Rectangle 119">
            <a:extLst>
              <a:ext uri="{FF2B5EF4-FFF2-40B4-BE49-F238E27FC236}">
                <a16:creationId xmlns:a16="http://schemas.microsoft.com/office/drawing/2014/main" id="{B74AFF1D-3FBA-407E-B48F-473A694EE12D}"/>
              </a:ext>
            </a:extLst>
          </p:cNvPr>
          <p:cNvSpPr/>
          <p:nvPr/>
        </p:nvSpPr>
        <p:spPr>
          <a:xfrm>
            <a:off x="5308847" y="194235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41" name="Straight Arrow Connector 40">
            <a:extLst>
              <a:ext uri="{FF2B5EF4-FFF2-40B4-BE49-F238E27FC236}">
                <a16:creationId xmlns:a16="http://schemas.microsoft.com/office/drawing/2014/main" id="{CAA9768E-64FA-44AA-BE8E-33B494CFB77C}"/>
              </a:ext>
            </a:extLst>
          </p:cNvPr>
          <p:cNvCxnSpPr>
            <a:cxnSpLocks/>
            <a:stCxn id="10" idx="5"/>
            <a:endCxn id="45" idx="2"/>
          </p:cNvCxnSpPr>
          <p:nvPr/>
        </p:nvCxnSpPr>
        <p:spPr>
          <a:xfrm>
            <a:off x="3679087" y="3675006"/>
            <a:ext cx="865123" cy="43276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4E9C5B8F-94D1-45C6-92E2-302A736E2BBE}"/>
              </a:ext>
            </a:extLst>
          </p:cNvPr>
          <p:cNvSpPr/>
          <p:nvPr/>
        </p:nvSpPr>
        <p:spPr>
          <a:xfrm>
            <a:off x="4544210" y="380296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49" name="Oval 48">
            <a:extLst>
              <a:ext uri="{FF2B5EF4-FFF2-40B4-BE49-F238E27FC236}">
                <a16:creationId xmlns:a16="http://schemas.microsoft.com/office/drawing/2014/main" id="{8585F3EA-B7C5-4F79-ACE8-DCB5D573279C}"/>
              </a:ext>
            </a:extLst>
          </p:cNvPr>
          <p:cNvSpPr/>
          <p:nvPr/>
        </p:nvSpPr>
        <p:spPr>
          <a:xfrm>
            <a:off x="6103723" y="378772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5</a:t>
            </a:r>
          </a:p>
        </p:txBody>
      </p:sp>
      <p:sp>
        <p:nvSpPr>
          <p:cNvPr id="51" name="Oval 50">
            <a:extLst>
              <a:ext uri="{FF2B5EF4-FFF2-40B4-BE49-F238E27FC236}">
                <a16:creationId xmlns:a16="http://schemas.microsoft.com/office/drawing/2014/main" id="{61A4F009-9E1D-4E72-B46C-1447A4BC4CBB}"/>
              </a:ext>
            </a:extLst>
          </p:cNvPr>
          <p:cNvSpPr/>
          <p:nvPr/>
        </p:nvSpPr>
        <p:spPr>
          <a:xfrm>
            <a:off x="4595120" y="38588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2" name="Connector: Curved 51">
            <a:extLst>
              <a:ext uri="{FF2B5EF4-FFF2-40B4-BE49-F238E27FC236}">
                <a16:creationId xmlns:a16="http://schemas.microsoft.com/office/drawing/2014/main" id="{F117FA16-0D54-46FB-97F1-283CA77D4579}"/>
              </a:ext>
            </a:extLst>
          </p:cNvPr>
          <p:cNvCxnSpPr>
            <a:cxnSpLocks/>
            <a:stCxn id="49" idx="0"/>
            <a:endCxn id="45" idx="0"/>
          </p:cNvCxnSpPr>
          <p:nvPr/>
        </p:nvCxnSpPr>
        <p:spPr>
          <a:xfrm rot="16200000" flipH="1" flipV="1">
            <a:off x="5659247" y="3015590"/>
            <a:ext cx="15240" cy="1559513"/>
          </a:xfrm>
          <a:prstGeom prst="curvedConnector3">
            <a:avLst>
              <a:gd name="adj1" fmla="val -1500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6CC4BF6F-F0AB-4F63-B79A-D3C97CB6E164}"/>
              </a:ext>
            </a:extLst>
          </p:cNvPr>
          <p:cNvSpPr/>
          <p:nvPr/>
        </p:nvSpPr>
        <p:spPr>
          <a:xfrm>
            <a:off x="5312410" y="3218695"/>
            <a:ext cx="591717" cy="4136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55" name="Straight Arrow Connector 54">
            <a:extLst>
              <a:ext uri="{FF2B5EF4-FFF2-40B4-BE49-F238E27FC236}">
                <a16:creationId xmlns:a16="http://schemas.microsoft.com/office/drawing/2014/main" id="{3518EE8F-6170-4D32-B500-F4AE9AC9A25B}"/>
              </a:ext>
            </a:extLst>
          </p:cNvPr>
          <p:cNvCxnSpPr>
            <a:cxnSpLocks/>
            <a:stCxn id="45" idx="6"/>
            <a:endCxn id="49" idx="2"/>
          </p:cNvCxnSpPr>
          <p:nvPr/>
        </p:nvCxnSpPr>
        <p:spPr>
          <a:xfrm flipV="1">
            <a:off x="5230010" y="4092527"/>
            <a:ext cx="873713"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CF6FE7E0-F41E-4445-AFD0-2BC8871AC90D}"/>
              </a:ext>
            </a:extLst>
          </p:cNvPr>
          <p:cNvSpPr/>
          <p:nvPr/>
        </p:nvSpPr>
        <p:spPr>
          <a:xfrm>
            <a:off x="1783080" y="315468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cxnSp>
        <p:nvCxnSpPr>
          <p:cNvPr id="25" name="Straight Arrow Connector 24">
            <a:extLst>
              <a:ext uri="{FF2B5EF4-FFF2-40B4-BE49-F238E27FC236}">
                <a16:creationId xmlns:a16="http://schemas.microsoft.com/office/drawing/2014/main" id="{F079E895-5912-4546-B353-DE739D7612A4}"/>
              </a:ext>
            </a:extLst>
          </p:cNvPr>
          <p:cNvCxnSpPr/>
          <p:nvPr/>
        </p:nvCxnSpPr>
        <p:spPr>
          <a:xfrm>
            <a:off x="1173480" y="3460066"/>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BCF2751A-E655-43A4-A620-ADCC2845FD7C}"/>
              </a:ext>
            </a:extLst>
          </p:cNvPr>
          <p:cNvSpPr/>
          <p:nvPr/>
        </p:nvSpPr>
        <p:spPr>
          <a:xfrm>
            <a:off x="1836443" y="3209683"/>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27" name="Rectangle 26">
            <a:extLst>
              <a:ext uri="{FF2B5EF4-FFF2-40B4-BE49-F238E27FC236}">
                <a16:creationId xmlns:a16="http://schemas.microsoft.com/office/drawing/2014/main" id="{C2DB0C32-CFD5-4A22-A425-8E3236B9E3E5}"/>
              </a:ext>
            </a:extLst>
          </p:cNvPr>
          <p:cNvSpPr/>
          <p:nvPr/>
        </p:nvSpPr>
        <p:spPr>
          <a:xfrm>
            <a:off x="2442198" y="302448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ysClr val="windowText" lastClr="000000"/>
                </a:solidFill>
                <a:sym typeface="Symbol" panose="05050102010706020507" pitchFamily="18" charset="2"/>
              </a:rPr>
              <a:t></a:t>
            </a:r>
            <a:endParaRPr lang="en-US" b="1" dirty="0">
              <a:solidFill>
                <a:sysClr val="windowText" lastClr="000000"/>
              </a:solidFill>
            </a:endParaRPr>
          </a:p>
        </p:txBody>
      </p:sp>
      <p:cxnSp>
        <p:nvCxnSpPr>
          <p:cNvPr id="28" name="Connector: Curved 27">
            <a:extLst>
              <a:ext uri="{FF2B5EF4-FFF2-40B4-BE49-F238E27FC236}">
                <a16:creationId xmlns:a16="http://schemas.microsoft.com/office/drawing/2014/main" id="{23B298EA-37EF-418A-BBBC-B425D37C48FD}"/>
              </a:ext>
            </a:extLst>
          </p:cNvPr>
          <p:cNvCxnSpPr>
            <a:cxnSpLocks/>
            <a:stCxn id="65" idx="6"/>
            <a:endCxn id="10" idx="0"/>
          </p:cNvCxnSpPr>
          <p:nvPr/>
        </p:nvCxnSpPr>
        <p:spPr>
          <a:xfrm flipH="1">
            <a:off x="3436620" y="2849880"/>
            <a:ext cx="3253740" cy="304800"/>
          </a:xfrm>
          <a:prstGeom prst="curvedConnector4">
            <a:avLst>
              <a:gd name="adj1" fmla="val -7026"/>
              <a:gd name="adj2" fmla="val -320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A5A3D12C-6093-4B96-85AC-1BCD23BD51CC}"/>
              </a:ext>
            </a:extLst>
          </p:cNvPr>
          <p:cNvSpPr/>
          <p:nvPr/>
        </p:nvSpPr>
        <p:spPr>
          <a:xfrm>
            <a:off x="6735027" y="2338751"/>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sym typeface="Symbol" panose="05050102010706020507" pitchFamily="18" charset="2"/>
              </a:rPr>
              <a:t></a:t>
            </a:r>
            <a:endParaRPr lang="en-US" b="1" dirty="0">
              <a:solidFill>
                <a:sysClr val="windowText" lastClr="000000"/>
              </a:solidFill>
            </a:endParaRPr>
          </a:p>
        </p:txBody>
      </p:sp>
      <p:cxnSp>
        <p:nvCxnSpPr>
          <p:cNvPr id="33" name="Connector: Curved 32">
            <a:extLst>
              <a:ext uri="{FF2B5EF4-FFF2-40B4-BE49-F238E27FC236}">
                <a16:creationId xmlns:a16="http://schemas.microsoft.com/office/drawing/2014/main" id="{39B2F7FD-E514-405E-8408-1E6C7D722CDD}"/>
              </a:ext>
            </a:extLst>
          </p:cNvPr>
          <p:cNvCxnSpPr>
            <a:cxnSpLocks/>
            <a:stCxn id="45" idx="4"/>
            <a:endCxn id="10" idx="4"/>
          </p:cNvCxnSpPr>
          <p:nvPr/>
        </p:nvCxnSpPr>
        <p:spPr>
          <a:xfrm rot="5400000" flipH="1">
            <a:off x="3837721" y="3363179"/>
            <a:ext cx="648287" cy="1450490"/>
          </a:xfrm>
          <a:prstGeom prst="curvedConnector3">
            <a:avLst>
              <a:gd name="adj1" fmla="val -3526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65103051-B251-469B-B172-CAE570E23484}"/>
              </a:ext>
            </a:extLst>
          </p:cNvPr>
          <p:cNvSpPr/>
          <p:nvPr/>
        </p:nvSpPr>
        <p:spPr>
          <a:xfrm>
            <a:off x="3952493" y="430052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sym typeface="Symbol" panose="05050102010706020507" pitchFamily="18" charset="2"/>
              </a:rPr>
              <a:t></a:t>
            </a:r>
            <a:endParaRPr lang="en-US" b="1" dirty="0">
              <a:solidFill>
                <a:sysClr val="windowText" lastClr="000000"/>
              </a:solidFill>
            </a:endParaRPr>
          </a:p>
        </p:txBody>
      </p:sp>
    </p:spTree>
    <p:extLst>
      <p:ext uri="{BB962C8B-B14F-4D97-AF65-F5344CB8AC3E}">
        <p14:creationId xmlns:p14="http://schemas.microsoft.com/office/powerpoint/2010/main" val="317966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down)">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down)">
                                      <p:cBhvr>
                                        <p:cTn id="21" dur="500"/>
                                        <p:tgtEl>
                                          <p:spTgt spid="26"/>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1" presetClass="entr" presetSubtype="8"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8)">
                                      <p:cBhvr>
                                        <p:cTn id="29" dur="1000"/>
                                        <p:tgtEl>
                                          <p:spTgt spid="28"/>
                                        </p:tgtEl>
                                      </p:cBhvr>
                                    </p:animEffec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1" presetClass="entr" presetSubtype="8"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heel(8)">
                                      <p:cBhvr>
                                        <p:cTn id="37" dur="1000"/>
                                        <p:tgtEl>
                                          <p:spTgt spid="33"/>
                                        </p:tgtEl>
                                      </p:cBhvr>
                                    </p:animEffect>
                                  </p:childTnLst>
                                </p:cTn>
                              </p:par>
                            </p:childTnLst>
                          </p:cTn>
                        </p:par>
                        <p:par>
                          <p:cTn id="38" fill="hold">
                            <p:stCondLst>
                              <p:cond delay="1000"/>
                            </p:stCondLst>
                            <p:childTnLst>
                              <p:par>
                                <p:cTn id="39" presetID="1"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4" grpId="0" animBg="1"/>
      <p:bldP spid="26" grpId="0" animBg="1"/>
      <p:bldP spid="27" grpId="0"/>
      <p:bldP spid="29" grpId="0"/>
      <p:bldP spid="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Nondeterministic </a:t>
            </a:r>
            <a:r>
              <a:rPr lang="en-US"/>
              <a:t>Finite Automata</a:t>
            </a:r>
            <a:endParaRPr lang="en-US" dirty="0"/>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r>
              <a:rPr lang="en-US" dirty="0">
                <a:hlinkClick r:id="rId2" action="ppaction://hlinkfile"/>
              </a:rPr>
              <a:t>NFA</a:t>
            </a:r>
            <a:r>
              <a:rPr lang="en-US" dirty="0"/>
              <a:t>.</a:t>
            </a:r>
          </a:p>
          <a:p>
            <a:endParaRPr lang="en-US" dirty="0"/>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033F8366-E9C0-4C27-B361-D854D750B9D6}" vid="{CC749DA0-5DDF-4326-94F0-8B27CE391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8F8241-59E6-475A-AD6D-291A86E4F3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F2C4A5-6C37-4983-9BAC-7661E71ECDC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5603AEA-7DD1-4C7E-B854-848AD056C7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324</TotalTime>
  <Words>2542</Words>
  <Application>Microsoft Office PowerPoint</Application>
  <PresentationFormat>On-screen Show (4:3)</PresentationFormat>
  <Paragraphs>359</Paragraphs>
  <Slides>25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4" baseType="lpstr">
      <vt:lpstr>Arial</vt:lpstr>
      <vt:lpstr>Arial Black</vt:lpstr>
      <vt:lpstr>Calibri</vt:lpstr>
      <vt:lpstr>Corbel</vt:lpstr>
      <vt:lpstr>Rage Italic</vt:lpstr>
      <vt:lpstr>Symbol</vt:lpstr>
      <vt:lpstr>Wingdings</vt:lpstr>
      <vt:lpstr>AIUB 2020</vt:lpstr>
      <vt:lpstr>Equation</vt:lpstr>
      <vt:lpstr>Non-deterministic Finite Automaton (NFA)</vt:lpstr>
      <vt:lpstr>PowerPoint Presentation</vt:lpstr>
      <vt:lpstr>PowerPoint Presentation</vt:lpstr>
      <vt:lpstr>PowerPoint Presentation</vt:lpstr>
      <vt:lpstr>Nondeterministic Finite Automata (NFA)</vt:lpstr>
      <vt:lpstr>PowerPoint Presentation</vt:lpstr>
      <vt:lpstr>Running an NFA</vt:lpstr>
      <vt:lpstr>PowerPoint Presentation</vt:lpstr>
      <vt:lpstr>PowerPoint Presentation</vt:lpstr>
      <vt:lpstr>Nondeterministic Finite Automata (NFA)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Non-deterministic Finite Automaton (NFA)</dc:title>
  <dc:creator>Mashiour Rahman</dc:creator>
  <cp:lastModifiedBy>Sharfuddin Mahmood</cp:lastModifiedBy>
  <cp:revision>57</cp:revision>
  <dcterms:created xsi:type="dcterms:W3CDTF">2020-10-07T12:09:42Z</dcterms:created>
  <dcterms:modified xsi:type="dcterms:W3CDTF">2024-10-30T07:38:39Z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