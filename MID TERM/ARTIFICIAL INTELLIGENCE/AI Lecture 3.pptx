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3" r:id="rId7"/>
    <p:sldId id="264" r:id="rId8"/>
    <p:sldId id="265" r:id="rId9"/>
    <p:sldId id="300" r:id="rId10"/>
    <p:sldId id="266" r:id="rId11"/>
    <p:sldId id="301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  <p:sldId id="297" r:id="rId23"/>
    <p:sldId id="280" r:id="rId24"/>
    <p:sldId id="282" r:id="rId25"/>
    <p:sldId id="299" r:id="rId26"/>
    <p:sldId id="281" r:id="rId27"/>
    <p:sldId id="298" r:id="rId28"/>
    <p:sldId id="283" r:id="rId29"/>
    <p:sldId id="284" r:id="rId30"/>
    <p:sldId id="285" r:id="rId31"/>
    <p:sldId id="286" r:id="rId32"/>
    <p:sldId id="288" r:id="rId33"/>
    <p:sldId id="290" r:id="rId34"/>
    <p:sldId id="293" r:id="rId35"/>
    <p:sldId id="294" r:id="rId36"/>
    <p:sldId id="296" r:id="rId37"/>
    <p:sldId id="295" r:id="rId38"/>
    <p:sldId id="292" r:id="rId39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890CAE-26C1-42FA-50AD-39A06B529EEC}" v="54" dt="2025-07-23T03:06:32.09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24" d="100"/>
          <a:sy n="124" d="100"/>
        </p:scale>
        <p:origin x="1596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ZIA SHARMIN" userId="S::sazia.sharmin@aiub.edu::e76e1817-908f-4d6e-a7ec-37593777c360" providerId="AD" clId="Web-{EF23EBCB-446C-C2E1-38BF-2295B4923BF3}"/>
    <pc:docChg chg="modSld">
      <pc:chgData name="SAZIA SHARMIN" userId="S::sazia.sharmin@aiub.edu::e76e1817-908f-4d6e-a7ec-37593777c360" providerId="AD" clId="Web-{EF23EBCB-446C-C2E1-38BF-2295B4923BF3}" dt="2025-04-08T04:21:54.248" v="15" actId="1076"/>
      <pc:docMkLst>
        <pc:docMk/>
      </pc:docMkLst>
      <pc:sldChg chg="modSp">
        <pc:chgData name="SAZIA SHARMIN" userId="S::sazia.sharmin@aiub.edu::e76e1817-908f-4d6e-a7ec-37593777c360" providerId="AD" clId="Web-{EF23EBCB-446C-C2E1-38BF-2295B4923BF3}" dt="2025-04-08T03:56:19.731" v="3" actId="20577"/>
        <pc:sldMkLst>
          <pc:docMk/>
          <pc:sldMk cId="0" sldId="273"/>
        </pc:sldMkLst>
      </pc:sldChg>
      <pc:sldChg chg="modSp">
        <pc:chgData name="SAZIA SHARMIN" userId="S::sazia.sharmin@aiub.edu::e76e1817-908f-4d6e-a7ec-37593777c360" providerId="AD" clId="Web-{EF23EBCB-446C-C2E1-38BF-2295B4923BF3}" dt="2025-04-08T03:56:57.326" v="4" actId="20577"/>
        <pc:sldMkLst>
          <pc:docMk/>
          <pc:sldMk cId="0" sldId="274"/>
        </pc:sldMkLst>
      </pc:sldChg>
      <pc:sldChg chg="addSp modSp">
        <pc:chgData name="SAZIA SHARMIN" userId="S::sazia.sharmin@aiub.edu::e76e1817-908f-4d6e-a7ec-37593777c360" providerId="AD" clId="Web-{EF23EBCB-446C-C2E1-38BF-2295B4923BF3}" dt="2025-04-08T04:21:54.248" v="15" actId="1076"/>
        <pc:sldMkLst>
          <pc:docMk/>
          <pc:sldMk cId="2536171510" sldId="299"/>
        </pc:sldMkLst>
      </pc:sldChg>
    </pc:docChg>
  </pc:docChgLst>
  <pc:docChgLst>
    <pc:chgData name="SAZIA SHARMIN" userId="S::sazia.sharmin@aiub.edu::e76e1817-908f-4d6e-a7ec-37593777c360" providerId="AD" clId="Web-{846C35A4-79F1-0C6F-65FA-BD2263CEF0B0}"/>
    <pc:docChg chg="addSld delSld modSld">
      <pc:chgData name="SAZIA SHARMIN" userId="S::sazia.sharmin@aiub.edu::e76e1817-908f-4d6e-a7ec-37593777c360" providerId="AD" clId="Web-{846C35A4-79F1-0C6F-65FA-BD2263CEF0B0}" dt="2025-04-06T09:02:34.095" v="144"/>
      <pc:docMkLst>
        <pc:docMk/>
      </pc:docMkLst>
      <pc:sldChg chg="modSp">
        <pc:chgData name="SAZIA SHARMIN" userId="S::sazia.sharmin@aiub.edu::e76e1817-908f-4d6e-a7ec-37593777c360" providerId="AD" clId="Web-{846C35A4-79F1-0C6F-65FA-BD2263CEF0B0}" dt="2025-04-06T07:34:13.048" v="0" actId="20577"/>
        <pc:sldMkLst>
          <pc:docMk/>
          <pc:sldMk cId="0" sldId="259"/>
        </pc:sldMkLst>
      </pc:sldChg>
      <pc:sldChg chg="modSp">
        <pc:chgData name="SAZIA SHARMIN" userId="S::sazia.sharmin@aiub.edu::e76e1817-908f-4d6e-a7ec-37593777c360" providerId="AD" clId="Web-{846C35A4-79F1-0C6F-65FA-BD2263CEF0B0}" dt="2025-04-06T07:49:38.927" v="1" actId="20577"/>
        <pc:sldMkLst>
          <pc:docMk/>
          <pc:sldMk cId="0" sldId="274"/>
        </pc:sldMkLst>
      </pc:sldChg>
      <pc:sldChg chg="modSp">
        <pc:chgData name="SAZIA SHARMIN" userId="S::sazia.sharmin@aiub.edu::e76e1817-908f-4d6e-a7ec-37593777c360" providerId="AD" clId="Web-{846C35A4-79F1-0C6F-65FA-BD2263CEF0B0}" dt="2025-04-06T08:43:44.307" v="143" actId="1076"/>
        <pc:sldMkLst>
          <pc:docMk/>
          <pc:sldMk cId="0" sldId="280"/>
        </pc:sldMkLst>
      </pc:sldChg>
      <pc:sldChg chg="mod modShow">
        <pc:chgData name="SAZIA SHARMIN" userId="S::sazia.sharmin@aiub.edu::e76e1817-908f-4d6e-a7ec-37593777c360" providerId="AD" clId="Web-{846C35A4-79F1-0C6F-65FA-BD2263CEF0B0}" dt="2025-04-06T09:02:34.095" v="144"/>
        <pc:sldMkLst>
          <pc:docMk/>
          <pc:sldMk cId="0" sldId="286"/>
        </pc:sldMkLst>
      </pc:sldChg>
      <pc:sldChg chg="addSp delSp modSp new">
        <pc:chgData name="SAZIA SHARMIN" userId="S::sazia.sharmin@aiub.edu::e76e1817-908f-4d6e-a7ec-37593777c360" providerId="AD" clId="Web-{846C35A4-79F1-0C6F-65FA-BD2263CEF0B0}" dt="2025-04-06T08:35:40.916" v="49" actId="1076"/>
        <pc:sldMkLst>
          <pc:docMk/>
          <pc:sldMk cId="331166148" sldId="293"/>
        </pc:sldMkLst>
      </pc:sldChg>
      <pc:sldChg chg="addSp delSp modSp new">
        <pc:chgData name="SAZIA SHARMIN" userId="S::sazia.sharmin@aiub.edu::e76e1817-908f-4d6e-a7ec-37593777c360" providerId="AD" clId="Web-{846C35A4-79F1-0C6F-65FA-BD2263CEF0B0}" dt="2025-04-06T08:35:33.760" v="46" actId="1076"/>
        <pc:sldMkLst>
          <pc:docMk/>
          <pc:sldMk cId="2972491209" sldId="294"/>
        </pc:sldMkLst>
      </pc:sldChg>
      <pc:sldChg chg="addSp delSp modSp new">
        <pc:chgData name="SAZIA SHARMIN" userId="S::sazia.sharmin@aiub.edu::e76e1817-908f-4d6e-a7ec-37593777c360" providerId="AD" clId="Web-{846C35A4-79F1-0C6F-65FA-BD2263CEF0B0}" dt="2025-04-06T08:35:25.603" v="40" actId="1076"/>
        <pc:sldMkLst>
          <pc:docMk/>
          <pc:sldMk cId="3670839933" sldId="295"/>
        </pc:sldMkLst>
      </pc:sldChg>
      <pc:sldChg chg="addSp delSp modSp new">
        <pc:chgData name="SAZIA SHARMIN" userId="S::sazia.sharmin@aiub.edu::e76e1817-908f-4d6e-a7ec-37593777c360" providerId="AD" clId="Web-{846C35A4-79F1-0C6F-65FA-BD2263CEF0B0}" dt="2025-04-06T08:35:10.415" v="35" actId="1076"/>
        <pc:sldMkLst>
          <pc:docMk/>
          <pc:sldMk cId="2458858308" sldId="296"/>
        </pc:sldMkLst>
      </pc:sldChg>
      <pc:sldChg chg="addSp delSp modSp new">
        <pc:chgData name="SAZIA SHARMIN" userId="S::sazia.sharmin@aiub.edu::e76e1817-908f-4d6e-a7ec-37593777c360" providerId="AD" clId="Web-{846C35A4-79F1-0C6F-65FA-BD2263CEF0B0}" dt="2025-04-06T08:39:39.393" v="62" actId="14100"/>
        <pc:sldMkLst>
          <pc:docMk/>
          <pc:sldMk cId="1969407420" sldId="297"/>
        </pc:sldMkLst>
      </pc:sldChg>
      <pc:sldChg chg="addSp delSp modSp new">
        <pc:chgData name="SAZIA SHARMIN" userId="S::sazia.sharmin@aiub.edu::e76e1817-908f-4d6e-a7ec-37593777c360" providerId="AD" clId="Web-{846C35A4-79F1-0C6F-65FA-BD2263CEF0B0}" dt="2025-04-06T08:41:03.552" v="82" actId="1076"/>
        <pc:sldMkLst>
          <pc:docMk/>
          <pc:sldMk cId="180107166" sldId="298"/>
        </pc:sldMkLst>
      </pc:sldChg>
      <pc:sldChg chg="add del replId">
        <pc:chgData name="SAZIA SHARMIN" userId="S::sazia.sharmin@aiub.edu::e76e1817-908f-4d6e-a7ec-37593777c360" providerId="AD" clId="Web-{846C35A4-79F1-0C6F-65FA-BD2263CEF0B0}" dt="2025-04-06T08:40:31.723" v="66"/>
        <pc:sldMkLst>
          <pc:docMk/>
          <pc:sldMk cId="416180723" sldId="299"/>
        </pc:sldMkLst>
      </pc:sldChg>
      <pc:sldChg chg="addSp delSp modSp new">
        <pc:chgData name="SAZIA SHARMIN" userId="S::sazia.sharmin@aiub.edu::e76e1817-908f-4d6e-a7ec-37593777c360" providerId="AD" clId="Web-{846C35A4-79F1-0C6F-65FA-BD2263CEF0B0}" dt="2025-04-06T08:43:11.837" v="124" actId="14100"/>
        <pc:sldMkLst>
          <pc:docMk/>
          <pc:sldMk cId="2536171510" sldId="299"/>
        </pc:sldMkLst>
      </pc:sldChg>
    </pc:docChg>
  </pc:docChgLst>
  <pc:docChgLst>
    <pc:chgData name="SAZIA SHARMIN" userId="S::sazia.sharmin@aiub.edu::e76e1817-908f-4d6e-a7ec-37593777c360" providerId="AD" clId="Web-{20828C00-9339-E15A-AA9F-F730A0529B01}"/>
    <pc:docChg chg="modSld">
      <pc:chgData name="SAZIA SHARMIN" userId="S::sazia.sharmin@aiub.edu::e76e1817-908f-4d6e-a7ec-37593777c360" providerId="AD" clId="Web-{20828C00-9339-E15A-AA9F-F730A0529B01}" dt="2025-04-09T05:36:23.424" v="0"/>
      <pc:docMkLst>
        <pc:docMk/>
      </pc:docMkLst>
      <pc:sldChg chg="mod modShow">
        <pc:chgData name="SAZIA SHARMIN" userId="S::sazia.sharmin@aiub.edu::e76e1817-908f-4d6e-a7ec-37593777c360" providerId="AD" clId="Web-{20828C00-9339-E15A-AA9F-F730A0529B01}" dt="2025-04-09T05:36:23.424" v="0"/>
        <pc:sldMkLst>
          <pc:docMk/>
          <pc:sldMk cId="0" sldId="285"/>
        </pc:sldMkLst>
      </pc:sldChg>
    </pc:docChg>
  </pc:docChgLst>
  <pc:docChgLst>
    <pc:chgData name="SAZIA SHARMIN" userId="S::sazia.sharmin@aiub.edu::e76e1817-908f-4d6e-a7ec-37593777c360" providerId="AD" clId="Web-{636CEB4D-1719-8E09-6792-69C001D86DBE}"/>
    <pc:docChg chg="delSld modSld">
      <pc:chgData name="SAZIA SHARMIN" userId="S::sazia.sharmin@aiub.edu::e76e1817-908f-4d6e-a7ec-37593777c360" providerId="AD" clId="Web-{636CEB4D-1719-8E09-6792-69C001D86DBE}" dt="2025-04-05T19:28:02.854" v="181"/>
      <pc:docMkLst>
        <pc:docMk/>
      </pc:docMkLst>
      <pc:sldChg chg="addSp delSp modSp">
        <pc:chgData name="SAZIA SHARMIN" userId="S::sazia.sharmin@aiub.edu::e76e1817-908f-4d6e-a7ec-37593777c360" providerId="AD" clId="Web-{636CEB4D-1719-8E09-6792-69C001D86DBE}" dt="2025-04-05T18:43:38.657" v="29" actId="1076"/>
        <pc:sldMkLst>
          <pc:docMk/>
          <pc:sldMk cId="0" sldId="257"/>
        </pc:sldMkLst>
      </pc:sldChg>
      <pc:sldChg chg="del">
        <pc:chgData name="SAZIA SHARMIN" userId="S::sazia.sharmin@aiub.edu::e76e1817-908f-4d6e-a7ec-37593777c360" providerId="AD" clId="Web-{636CEB4D-1719-8E09-6792-69C001D86DBE}" dt="2025-04-05T18:43:43.235" v="30"/>
        <pc:sldMkLst>
          <pc:docMk/>
          <pc:sldMk cId="0" sldId="258"/>
        </pc:sldMkLst>
      </pc:sldChg>
      <pc:sldChg chg="delSp modSp">
        <pc:chgData name="SAZIA SHARMIN" userId="S::sazia.sharmin@aiub.edu::e76e1817-908f-4d6e-a7ec-37593777c360" providerId="AD" clId="Web-{636CEB4D-1719-8E09-6792-69C001D86DBE}" dt="2025-04-05T18:45:07.316" v="44" actId="20577"/>
        <pc:sldMkLst>
          <pc:docMk/>
          <pc:sldMk cId="0" sldId="259"/>
        </pc:sldMkLst>
      </pc:sldChg>
      <pc:sldChg chg="delSp modSp">
        <pc:chgData name="SAZIA SHARMIN" userId="S::sazia.sharmin@aiub.edu::e76e1817-908f-4d6e-a7ec-37593777c360" providerId="AD" clId="Web-{636CEB4D-1719-8E09-6792-69C001D86DBE}" dt="2025-04-05T18:46:54.149" v="70" actId="14100"/>
        <pc:sldMkLst>
          <pc:docMk/>
          <pc:sldMk cId="0" sldId="260"/>
        </pc:sldMkLst>
      </pc:sldChg>
      <pc:sldChg chg="del">
        <pc:chgData name="SAZIA SHARMIN" userId="S::sazia.sharmin@aiub.edu::e76e1817-908f-4d6e-a7ec-37593777c360" providerId="AD" clId="Web-{636CEB4D-1719-8E09-6792-69C001D86DBE}" dt="2025-04-05T18:47:01.571" v="71"/>
        <pc:sldMkLst>
          <pc:docMk/>
          <pc:sldMk cId="0" sldId="261"/>
        </pc:sldMkLst>
      </pc:sldChg>
      <pc:sldChg chg="delSp modSp">
        <pc:chgData name="SAZIA SHARMIN" userId="S::sazia.sharmin@aiub.edu::e76e1817-908f-4d6e-a7ec-37593777c360" providerId="AD" clId="Web-{636CEB4D-1719-8E09-6792-69C001D86DBE}" dt="2025-04-05T18:52:37.775" v="140" actId="20577"/>
        <pc:sldMkLst>
          <pc:docMk/>
          <pc:sldMk cId="0" sldId="262"/>
        </pc:sldMkLst>
      </pc:sldChg>
      <pc:sldChg chg="modSp">
        <pc:chgData name="SAZIA SHARMIN" userId="S::sazia.sharmin@aiub.edu::e76e1817-908f-4d6e-a7ec-37593777c360" providerId="AD" clId="Web-{636CEB4D-1719-8E09-6792-69C001D86DBE}" dt="2025-04-05T18:49:50.453" v="120" actId="20577"/>
        <pc:sldMkLst>
          <pc:docMk/>
          <pc:sldMk cId="0" sldId="263"/>
        </pc:sldMkLst>
      </pc:sldChg>
      <pc:sldChg chg="modSp">
        <pc:chgData name="SAZIA SHARMIN" userId="S::sazia.sharmin@aiub.edu::e76e1817-908f-4d6e-a7ec-37593777c360" providerId="AD" clId="Web-{636CEB4D-1719-8E09-6792-69C001D86DBE}" dt="2025-04-05T18:50:38.380" v="121" actId="20577"/>
        <pc:sldMkLst>
          <pc:docMk/>
          <pc:sldMk cId="0" sldId="264"/>
        </pc:sldMkLst>
      </pc:sldChg>
      <pc:sldChg chg="modSp">
        <pc:chgData name="SAZIA SHARMIN" userId="S::sazia.sharmin@aiub.edu::e76e1817-908f-4d6e-a7ec-37593777c360" providerId="AD" clId="Web-{636CEB4D-1719-8E09-6792-69C001D86DBE}" dt="2025-04-05T18:51:39.773" v="128" actId="20577"/>
        <pc:sldMkLst>
          <pc:docMk/>
          <pc:sldMk cId="0" sldId="265"/>
        </pc:sldMkLst>
      </pc:sldChg>
      <pc:sldChg chg="del">
        <pc:chgData name="SAZIA SHARMIN" userId="S::sazia.sharmin@aiub.edu::e76e1817-908f-4d6e-a7ec-37593777c360" providerId="AD" clId="Web-{636CEB4D-1719-8E09-6792-69C001D86DBE}" dt="2025-04-05T18:53:47.153" v="141"/>
        <pc:sldMkLst>
          <pc:docMk/>
          <pc:sldMk cId="0" sldId="267"/>
        </pc:sldMkLst>
      </pc:sldChg>
      <pc:sldChg chg="modSp">
        <pc:chgData name="SAZIA SHARMIN" userId="S::sazia.sharmin@aiub.edu::e76e1817-908f-4d6e-a7ec-37593777c360" providerId="AD" clId="Web-{636CEB4D-1719-8E09-6792-69C001D86DBE}" dt="2025-04-05T18:54:28.935" v="151" actId="20577"/>
        <pc:sldMkLst>
          <pc:docMk/>
          <pc:sldMk cId="0" sldId="268"/>
        </pc:sldMkLst>
      </pc:sldChg>
      <pc:sldChg chg="del">
        <pc:chgData name="SAZIA SHARMIN" userId="S::sazia.sharmin@aiub.edu::e76e1817-908f-4d6e-a7ec-37593777c360" providerId="AD" clId="Web-{636CEB4D-1719-8E09-6792-69C001D86DBE}" dt="2025-04-05T18:55:18.922" v="152"/>
        <pc:sldMkLst>
          <pc:docMk/>
          <pc:sldMk cId="0" sldId="270"/>
        </pc:sldMkLst>
      </pc:sldChg>
      <pc:sldChg chg="delSp modSp">
        <pc:chgData name="SAZIA SHARMIN" userId="S::sazia.sharmin@aiub.edu::e76e1817-908f-4d6e-a7ec-37593777c360" providerId="AD" clId="Web-{636CEB4D-1719-8E09-6792-69C001D86DBE}" dt="2025-04-05T18:57:01.429" v="176" actId="20577"/>
        <pc:sldMkLst>
          <pc:docMk/>
          <pc:sldMk cId="0" sldId="271"/>
        </pc:sldMkLst>
      </pc:sldChg>
      <pc:sldChg chg="modSp">
        <pc:chgData name="SAZIA SHARMIN" userId="S::sazia.sharmin@aiub.edu::e76e1817-908f-4d6e-a7ec-37593777c360" providerId="AD" clId="Web-{636CEB4D-1719-8E09-6792-69C001D86DBE}" dt="2025-04-05T18:57:36.696" v="177" actId="20577"/>
        <pc:sldMkLst>
          <pc:docMk/>
          <pc:sldMk cId="0" sldId="272"/>
        </pc:sldMkLst>
      </pc:sldChg>
      <pc:sldChg chg="del">
        <pc:chgData name="SAZIA SHARMIN" userId="S::sazia.sharmin@aiub.edu::e76e1817-908f-4d6e-a7ec-37593777c360" providerId="AD" clId="Web-{636CEB4D-1719-8E09-6792-69C001D86DBE}" dt="2025-04-05T19:03:18.755" v="178"/>
        <pc:sldMkLst>
          <pc:docMk/>
          <pc:sldMk cId="0" sldId="278"/>
        </pc:sldMkLst>
      </pc:sldChg>
      <pc:sldChg chg="del">
        <pc:chgData name="SAZIA SHARMIN" userId="S::sazia.sharmin@aiub.edu::e76e1817-908f-4d6e-a7ec-37593777c360" providerId="AD" clId="Web-{636CEB4D-1719-8E09-6792-69C001D86DBE}" dt="2025-04-05T19:27:58.588" v="179"/>
        <pc:sldMkLst>
          <pc:docMk/>
          <pc:sldMk cId="0" sldId="287"/>
        </pc:sldMkLst>
      </pc:sldChg>
      <pc:sldChg chg="del">
        <pc:chgData name="SAZIA SHARMIN" userId="S::sazia.sharmin@aiub.edu::e76e1817-908f-4d6e-a7ec-37593777c360" providerId="AD" clId="Web-{636CEB4D-1719-8E09-6792-69C001D86DBE}" dt="2025-04-05T19:28:00.432" v="180"/>
        <pc:sldMkLst>
          <pc:docMk/>
          <pc:sldMk cId="0" sldId="289"/>
        </pc:sldMkLst>
      </pc:sldChg>
      <pc:sldChg chg="del">
        <pc:chgData name="SAZIA SHARMIN" userId="S::sazia.sharmin@aiub.edu::e76e1817-908f-4d6e-a7ec-37593777c360" providerId="AD" clId="Web-{636CEB4D-1719-8E09-6792-69C001D86DBE}" dt="2025-04-05T19:28:02.854" v="181"/>
        <pc:sldMkLst>
          <pc:docMk/>
          <pc:sldMk cId="0" sldId="291"/>
        </pc:sldMkLst>
      </pc:sldChg>
    </pc:docChg>
  </pc:docChgLst>
  <pc:docChgLst>
    <pc:chgData name="SAZIA SHARMIN" userId="S::sazia.sharmin@aiub.edu::e76e1817-908f-4d6e-a7ec-37593777c360" providerId="AD" clId="Web-{1350F560-A37C-3581-CC4B-3115602920DA}"/>
    <pc:docChg chg="addSld modSld">
      <pc:chgData name="SAZIA SHARMIN" userId="S::sazia.sharmin@aiub.edu::e76e1817-908f-4d6e-a7ec-37593777c360" providerId="AD" clId="Web-{1350F560-A37C-3581-CC4B-3115602920DA}" dt="2025-04-09T09:28:01.718" v="102"/>
      <pc:docMkLst>
        <pc:docMk/>
      </pc:docMkLst>
      <pc:sldChg chg="mod modShow">
        <pc:chgData name="SAZIA SHARMIN" userId="S::sazia.sharmin@aiub.edu::e76e1817-908f-4d6e-a7ec-37593777c360" providerId="AD" clId="Web-{1350F560-A37C-3581-CC4B-3115602920DA}" dt="2025-04-09T09:28:01.718" v="102"/>
        <pc:sldMkLst>
          <pc:docMk/>
          <pc:sldMk cId="2458858308" sldId="296"/>
        </pc:sldMkLst>
      </pc:sldChg>
      <pc:sldChg chg="addSp delSp modSp new mod modClrScheme chgLayout">
        <pc:chgData name="SAZIA SHARMIN" userId="S::sazia.sharmin@aiub.edu::e76e1817-908f-4d6e-a7ec-37593777c360" providerId="AD" clId="Web-{1350F560-A37C-3581-CC4B-3115602920DA}" dt="2025-04-09T09:05:59.599" v="101" actId="20577"/>
        <pc:sldMkLst>
          <pc:docMk/>
          <pc:sldMk cId="830583366" sldId="300"/>
        </pc:sldMkLst>
      </pc:sldChg>
      <pc:sldChg chg="addSp delSp modSp new mod modClrScheme chgLayout">
        <pc:chgData name="SAZIA SHARMIN" userId="S::sazia.sharmin@aiub.edu::e76e1817-908f-4d6e-a7ec-37593777c360" providerId="AD" clId="Web-{1350F560-A37C-3581-CC4B-3115602920DA}" dt="2025-04-09T09:04:31.455" v="60" actId="14100"/>
        <pc:sldMkLst>
          <pc:docMk/>
          <pc:sldMk cId="3803832516" sldId="301"/>
        </pc:sldMkLst>
      </pc:sldChg>
    </pc:docChg>
  </pc:docChgLst>
  <pc:docChgLst>
    <pc:chgData name="SAZIA SHARMIN" userId="S::sazia.sharmin@aiub.edu::e76e1817-908f-4d6e-a7ec-37593777c360" providerId="AD" clId="Web-{AD5DA624-2B5A-2C6E-33AF-378C973C760F}"/>
    <pc:docChg chg="addSld delSld modSld sldOrd">
      <pc:chgData name="SAZIA SHARMIN" userId="S::sazia.sharmin@aiub.edu::e76e1817-908f-4d6e-a7ec-37593777c360" providerId="AD" clId="Web-{AD5DA624-2B5A-2C6E-33AF-378C973C760F}" dt="2025-07-20T17:55:18.343" v="33"/>
      <pc:docMkLst>
        <pc:docMk/>
      </pc:docMkLst>
      <pc:sldChg chg="modSp">
        <pc:chgData name="SAZIA SHARMIN" userId="S::sazia.sharmin@aiub.edu::e76e1817-908f-4d6e-a7ec-37593777c360" providerId="AD" clId="Web-{AD5DA624-2B5A-2C6E-33AF-378C973C760F}" dt="2025-07-20T17:43:09.669" v="1" actId="20577"/>
        <pc:sldMkLst>
          <pc:docMk/>
          <pc:sldMk cId="0" sldId="260"/>
        </pc:sldMkLst>
        <pc:spChg chg="mod">
          <ac:chgData name="SAZIA SHARMIN" userId="S::sazia.sharmin@aiub.edu::e76e1817-908f-4d6e-a7ec-37593777c360" providerId="AD" clId="Web-{AD5DA624-2B5A-2C6E-33AF-378C973C760F}" dt="2025-07-20T17:43:09.669" v="1" actId="20577"/>
          <ac:spMkLst>
            <pc:docMk/>
            <pc:sldMk cId="0" sldId="260"/>
            <ac:spMk id="4" creationId="{00000000-0000-0000-0000-000000000000}"/>
          </ac:spMkLst>
        </pc:spChg>
      </pc:sldChg>
      <pc:sldChg chg="delSp modSp">
        <pc:chgData name="SAZIA SHARMIN" userId="S::sazia.sharmin@aiub.edu::e76e1817-908f-4d6e-a7ec-37593777c360" providerId="AD" clId="Web-{AD5DA624-2B5A-2C6E-33AF-378C973C760F}" dt="2025-07-20T17:44:41.954" v="6" actId="14100"/>
        <pc:sldMkLst>
          <pc:docMk/>
          <pc:sldMk cId="0" sldId="262"/>
        </pc:sldMkLst>
        <pc:spChg chg="mod">
          <ac:chgData name="SAZIA SHARMIN" userId="S::sazia.sharmin@aiub.edu::e76e1817-908f-4d6e-a7ec-37593777c360" providerId="AD" clId="Web-{AD5DA624-2B5A-2C6E-33AF-378C973C760F}" dt="2025-07-20T17:44:41.954" v="6" actId="14100"/>
          <ac:spMkLst>
            <pc:docMk/>
            <pc:sldMk cId="0" sldId="262"/>
            <ac:spMk id="7" creationId="{00000000-0000-0000-0000-000000000000}"/>
          </ac:spMkLst>
        </pc:spChg>
      </pc:sldChg>
      <pc:sldChg chg="delSp modSp">
        <pc:chgData name="SAZIA SHARMIN" userId="S::sazia.sharmin@aiub.edu::e76e1817-908f-4d6e-a7ec-37593777c360" providerId="AD" clId="Web-{AD5DA624-2B5A-2C6E-33AF-378C973C760F}" dt="2025-07-20T17:45:34.268" v="10" actId="14100"/>
        <pc:sldMkLst>
          <pc:docMk/>
          <pc:sldMk cId="0" sldId="263"/>
        </pc:sldMkLst>
        <pc:spChg chg="mod">
          <ac:chgData name="SAZIA SHARMIN" userId="S::sazia.sharmin@aiub.edu::e76e1817-908f-4d6e-a7ec-37593777c360" providerId="AD" clId="Web-{AD5DA624-2B5A-2C6E-33AF-378C973C760F}" dt="2025-07-20T17:45:34.268" v="10" actId="14100"/>
          <ac:spMkLst>
            <pc:docMk/>
            <pc:sldMk cId="0" sldId="263"/>
            <ac:spMk id="5" creationId="{00000000-0000-0000-0000-000000000000}"/>
          </ac:spMkLst>
        </pc:spChg>
      </pc:sldChg>
      <pc:sldChg chg="modSp">
        <pc:chgData name="SAZIA SHARMIN" userId="S::sazia.sharmin@aiub.edu::e76e1817-908f-4d6e-a7ec-37593777c360" providerId="AD" clId="Web-{AD5DA624-2B5A-2C6E-33AF-378C973C760F}" dt="2025-07-20T17:48:35.078" v="13" actId="14100"/>
        <pc:sldMkLst>
          <pc:docMk/>
          <pc:sldMk cId="0" sldId="275"/>
        </pc:sldMkLst>
        <pc:picChg chg="mod">
          <ac:chgData name="SAZIA SHARMIN" userId="S::sazia.sharmin@aiub.edu::e76e1817-908f-4d6e-a7ec-37593777c360" providerId="AD" clId="Web-{AD5DA624-2B5A-2C6E-33AF-378C973C760F}" dt="2025-07-20T17:48:35.078" v="13" actId="14100"/>
          <ac:picMkLst>
            <pc:docMk/>
            <pc:sldMk cId="0" sldId="275"/>
            <ac:picMk id="3" creationId="{00000000-0000-0000-0000-000000000000}"/>
          </ac:picMkLst>
        </pc:picChg>
      </pc:sldChg>
      <pc:sldChg chg="modSp">
        <pc:chgData name="SAZIA SHARMIN" userId="S::sazia.sharmin@aiub.edu::e76e1817-908f-4d6e-a7ec-37593777c360" providerId="AD" clId="Web-{AD5DA624-2B5A-2C6E-33AF-378C973C760F}" dt="2025-07-20T17:50:36.879" v="20" actId="1076"/>
        <pc:sldMkLst>
          <pc:docMk/>
          <pc:sldMk cId="0" sldId="279"/>
        </pc:sldMkLst>
        <pc:spChg chg="mod">
          <ac:chgData name="SAZIA SHARMIN" userId="S::sazia.sharmin@aiub.edu::e76e1817-908f-4d6e-a7ec-37593777c360" providerId="AD" clId="Web-{AD5DA624-2B5A-2C6E-33AF-378C973C760F}" dt="2025-07-20T17:50:36.879" v="20" actId="1076"/>
          <ac:spMkLst>
            <pc:docMk/>
            <pc:sldMk cId="0" sldId="279"/>
            <ac:spMk id="3" creationId="{00000000-0000-0000-0000-000000000000}"/>
          </ac:spMkLst>
        </pc:spChg>
      </pc:sldChg>
      <pc:sldChg chg="add del">
        <pc:chgData name="SAZIA SHARMIN" userId="S::sazia.sharmin@aiub.edu::e76e1817-908f-4d6e-a7ec-37593777c360" providerId="AD" clId="Web-{AD5DA624-2B5A-2C6E-33AF-378C973C760F}" dt="2025-07-20T17:54:21.591" v="32"/>
        <pc:sldMkLst>
          <pc:docMk/>
          <pc:sldMk cId="0" sldId="281"/>
        </pc:sldMkLst>
      </pc:sldChg>
      <pc:sldChg chg="mod modShow">
        <pc:chgData name="SAZIA SHARMIN" userId="S::sazia.sharmin@aiub.edu::e76e1817-908f-4d6e-a7ec-37593777c360" providerId="AD" clId="Web-{AD5DA624-2B5A-2C6E-33AF-378C973C760F}" dt="2025-07-20T17:55:18.343" v="33"/>
        <pc:sldMkLst>
          <pc:docMk/>
          <pc:sldMk cId="2458858308" sldId="296"/>
        </pc:sldMkLst>
      </pc:sldChg>
      <pc:sldChg chg="modSp">
        <pc:chgData name="SAZIA SHARMIN" userId="S::sazia.sharmin@aiub.edu::e76e1817-908f-4d6e-a7ec-37593777c360" providerId="AD" clId="Web-{AD5DA624-2B5A-2C6E-33AF-378C973C760F}" dt="2025-07-20T17:51:26.240" v="25" actId="14100"/>
        <pc:sldMkLst>
          <pc:docMk/>
          <pc:sldMk cId="1969407420" sldId="297"/>
        </pc:sldMkLst>
        <pc:picChg chg="mod">
          <ac:chgData name="SAZIA SHARMIN" userId="S::sazia.sharmin@aiub.edu::e76e1817-908f-4d6e-a7ec-37593777c360" providerId="AD" clId="Web-{AD5DA624-2B5A-2C6E-33AF-378C973C760F}" dt="2025-07-20T17:51:13.427" v="21" actId="14100"/>
          <ac:picMkLst>
            <pc:docMk/>
            <pc:sldMk cId="1969407420" sldId="297"/>
            <ac:picMk id="4" creationId="{1C08EBFE-5964-4CE6-0448-4708D496CAFE}"/>
          </ac:picMkLst>
        </pc:picChg>
        <pc:picChg chg="mod">
          <ac:chgData name="SAZIA SHARMIN" userId="S::sazia.sharmin@aiub.edu::e76e1817-908f-4d6e-a7ec-37593777c360" providerId="AD" clId="Web-{AD5DA624-2B5A-2C6E-33AF-378C973C760F}" dt="2025-07-20T17:51:26.240" v="25" actId="14100"/>
          <ac:picMkLst>
            <pc:docMk/>
            <pc:sldMk cId="1969407420" sldId="297"/>
            <ac:picMk id="6" creationId="{452B5B18-FC9F-4819-1123-1D87D1C47088}"/>
          </ac:picMkLst>
        </pc:picChg>
      </pc:sldChg>
      <pc:sldChg chg="add del ord">
        <pc:chgData name="SAZIA SHARMIN" userId="S::sazia.sharmin@aiub.edu::e76e1817-908f-4d6e-a7ec-37593777c360" providerId="AD" clId="Web-{AD5DA624-2B5A-2C6E-33AF-378C973C760F}" dt="2025-07-20T17:54:06.169" v="30"/>
        <pc:sldMkLst>
          <pc:docMk/>
          <pc:sldMk cId="180107166" sldId="298"/>
        </pc:sldMkLst>
      </pc:sldChg>
    </pc:docChg>
  </pc:docChgLst>
  <pc:docChgLst>
    <pc:chgData name="SAZIA SHARMIN" userId="S::sazia.sharmin@aiub.edu::e76e1817-908f-4d6e-a7ec-37593777c360" providerId="AD" clId="Web-{BC950288-BFED-3566-F15F-23452CFDB650}"/>
    <pc:docChg chg="modSld">
      <pc:chgData name="SAZIA SHARMIN" userId="S::sazia.sharmin@aiub.edu::e76e1817-908f-4d6e-a7ec-37593777c360" providerId="AD" clId="Web-{BC950288-BFED-3566-F15F-23452CFDB650}" dt="2025-07-16T05:28:24.538" v="1"/>
      <pc:docMkLst>
        <pc:docMk/>
      </pc:docMkLst>
      <pc:sldChg chg="mod modShow">
        <pc:chgData name="SAZIA SHARMIN" userId="S::sazia.sharmin@aiub.edu::e76e1817-908f-4d6e-a7ec-37593777c360" providerId="AD" clId="Web-{BC950288-BFED-3566-F15F-23452CFDB650}" dt="2025-07-16T05:28:13.631" v="0"/>
        <pc:sldMkLst>
          <pc:docMk/>
          <pc:sldMk cId="0" sldId="285"/>
        </pc:sldMkLst>
      </pc:sldChg>
      <pc:sldChg chg="mod modShow">
        <pc:chgData name="SAZIA SHARMIN" userId="S::sazia.sharmin@aiub.edu::e76e1817-908f-4d6e-a7ec-37593777c360" providerId="AD" clId="Web-{BC950288-BFED-3566-F15F-23452CFDB650}" dt="2025-07-16T05:28:24.538" v="1"/>
        <pc:sldMkLst>
          <pc:docMk/>
          <pc:sldMk cId="2458858308" sldId="296"/>
        </pc:sldMkLst>
      </pc:sldChg>
    </pc:docChg>
  </pc:docChgLst>
  <pc:docChgLst>
    <pc:chgData name="SAZIA SHARMIN" userId="S::sazia.sharmin@aiub.edu::e76e1817-908f-4d6e-a7ec-37593777c360" providerId="AD" clId="Web-{17890CAE-26C1-42FA-50AD-39A06B529EEC}"/>
    <pc:docChg chg="modSld">
      <pc:chgData name="SAZIA SHARMIN" userId="S::sazia.sharmin@aiub.edu::e76e1817-908f-4d6e-a7ec-37593777c360" providerId="AD" clId="Web-{17890CAE-26C1-42FA-50AD-39A06B529EEC}" dt="2025-07-23T03:06:32.097" v="27"/>
      <pc:docMkLst>
        <pc:docMk/>
      </pc:docMkLst>
      <pc:sldChg chg="modSp">
        <pc:chgData name="SAZIA SHARMIN" userId="S::sazia.sharmin@aiub.edu::e76e1817-908f-4d6e-a7ec-37593777c360" providerId="AD" clId="Web-{17890CAE-26C1-42FA-50AD-39A06B529EEC}" dt="2025-07-23T02:57:11.576" v="17" actId="20577"/>
        <pc:sldMkLst>
          <pc:docMk/>
          <pc:sldMk cId="0" sldId="262"/>
        </pc:sldMkLst>
        <pc:spChg chg="mod">
          <ac:chgData name="SAZIA SHARMIN" userId="S::sazia.sharmin@aiub.edu::e76e1817-908f-4d6e-a7ec-37593777c360" providerId="AD" clId="Web-{17890CAE-26C1-42FA-50AD-39A06B529EEC}" dt="2025-07-23T02:57:11.576" v="17" actId="20577"/>
          <ac:spMkLst>
            <pc:docMk/>
            <pc:sldMk cId="0" sldId="262"/>
            <ac:spMk id="7" creationId="{00000000-0000-0000-0000-000000000000}"/>
          </ac:spMkLst>
        </pc:spChg>
      </pc:sldChg>
      <pc:sldChg chg="modSp">
        <pc:chgData name="SAZIA SHARMIN" userId="S::sazia.sharmin@aiub.edu::e76e1817-908f-4d6e-a7ec-37593777c360" providerId="AD" clId="Web-{17890CAE-26C1-42FA-50AD-39A06B529EEC}" dt="2025-07-23T02:59:33.566" v="19" actId="14100"/>
        <pc:sldMkLst>
          <pc:docMk/>
          <pc:sldMk cId="0" sldId="264"/>
        </pc:sldMkLst>
        <pc:picChg chg="mod">
          <ac:chgData name="SAZIA SHARMIN" userId="S::sazia.sharmin@aiub.edu::e76e1817-908f-4d6e-a7ec-37593777c360" providerId="AD" clId="Web-{17890CAE-26C1-42FA-50AD-39A06B529EEC}" dt="2025-07-23T02:59:33.566" v="19" actId="14100"/>
          <ac:picMkLst>
            <pc:docMk/>
            <pc:sldMk cId="0" sldId="264"/>
            <ac:picMk id="3" creationId="{00000000-0000-0000-0000-000000000000}"/>
          </ac:picMkLst>
        </pc:picChg>
      </pc:sldChg>
      <pc:sldChg chg="mod modShow">
        <pc:chgData name="SAZIA SHARMIN" userId="S::sazia.sharmin@aiub.edu::e76e1817-908f-4d6e-a7ec-37593777c360" providerId="AD" clId="Web-{17890CAE-26C1-42FA-50AD-39A06B529EEC}" dt="2025-07-23T03:01:50.274" v="20"/>
        <pc:sldMkLst>
          <pc:docMk/>
          <pc:sldMk cId="0" sldId="268"/>
        </pc:sldMkLst>
      </pc:sldChg>
      <pc:sldChg chg="mod modShow">
        <pc:chgData name="SAZIA SHARMIN" userId="S::sazia.sharmin@aiub.edu::e76e1817-908f-4d6e-a7ec-37593777c360" providerId="AD" clId="Web-{17890CAE-26C1-42FA-50AD-39A06B529EEC}" dt="2025-07-23T03:01:52.055" v="21"/>
        <pc:sldMkLst>
          <pc:docMk/>
          <pc:sldMk cId="0" sldId="269"/>
        </pc:sldMkLst>
      </pc:sldChg>
      <pc:sldChg chg="modSp">
        <pc:chgData name="SAZIA SHARMIN" userId="S::sazia.sharmin@aiub.edu::e76e1817-908f-4d6e-a7ec-37593777c360" providerId="AD" clId="Web-{17890CAE-26C1-42FA-50AD-39A06B529EEC}" dt="2025-07-23T03:05:24.923" v="26" actId="20577"/>
        <pc:sldMkLst>
          <pc:docMk/>
          <pc:sldMk cId="0" sldId="272"/>
        </pc:sldMkLst>
        <pc:spChg chg="mod">
          <ac:chgData name="SAZIA SHARMIN" userId="S::sazia.sharmin@aiub.edu::e76e1817-908f-4d6e-a7ec-37593777c360" providerId="AD" clId="Web-{17890CAE-26C1-42FA-50AD-39A06B529EEC}" dt="2025-07-23T03:05:24.923" v="26" actId="20577"/>
          <ac:spMkLst>
            <pc:docMk/>
            <pc:sldMk cId="0" sldId="272"/>
            <ac:spMk id="4" creationId="{00000000-0000-0000-0000-000000000000}"/>
          </ac:spMkLst>
        </pc:spChg>
      </pc:sldChg>
      <pc:sldChg chg="modSp">
        <pc:chgData name="SAZIA SHARMIN" userId="S::sazia.sharmin@aiub.edu::e76e1817-908f-4d6e-a7ec-37593777c360" providerId="AD" clId="Web-{17890CAE-26C1-42FA-50AD-39A06B529EEC}" dt="2025-07-23T03:05:13.266" v="24" actId="20577"/>
        <pc:sldMkLst>
          <pc:docMk/>
          <pc:sldMk cId="0" sldId="273"/>
        </pc:sldMkLst>
        <pc:spChg chg="mod">
          <ac:chgData name="SAZIA SHARMIN" userId="S::sazia.sharmin@aiub.edu::e76e1817-908f-4d6e-a7ec-37593777c360" providerId="AD" clId="Web-{17890CAE-26C1-42FA-50AD-39A06B529EEC}" dt="2025-07-23T03:05:13.266" v="24" actId="20577"/>
          <ac:spMkLst>
            <pc:docMk/>
            <pc:sldMk cId="0" sldId="273"/>
            <ac:spMk id="4" creationId="{00000000-0000-0000-0000-000000000000}"/>
          </ac:spMkLst>
        </pc:spChg>
      </pc:sldChg>
      <pc:sldChg chg="mod modShow">
        <pc:chgData name="SAZIA SHARMIN" userId="S::sazia.sharmin@aiub.edu::e76e1817-908f-4d6e-a7ec-37593777c360" providerId="AD" clId="Web-{17890CAE-26C1-42FA-50AD-39A06B529EEC}" dt="2025-07-23T03:06:32.097" v="27"/>
        <pc:sldMkLst>
          <pc:docMk/>
          <pc:sldMk cId="0" sldId="276"/>
        </pc:sldMkLst>
      </pc:sldChg>
    </pc:docChg>
  </pc:docChgLst>
  <pc:docChgLst>
    <pc:chgData name="SAZIA SHARMIN" userId="S::sazia.sharmin@aiub.edu::e76e1817-908f-4d6e-a7ec-37593777c360" providerId="AD" clId="Web-{B8FA4B7D-ACB1-7BA6-0228-24F9C7038817}"/>
    <pc:docChg chg="modSld">
      <pc:chgData name="SAZIA SHARMIN" userId="S::sazia.sharmin@aiub.edu::e76e1817-908f-4d6e-a7ec-37593777c360" providerId="AD" clId="Web-{B8FA4B7D-ACB1-7BA6-0228-24F9C7038817}" dt="2025-04-10T07:21:24.589" v="2" actId="20577"/>
      <pc:docMkLst>
        <pc:docMk/>
      </pc:docMkLst>
      <pc:sldChg chg="mod modShow">
        <pc:chgData name="SAZIA SHARMIN" userId="S::sazia.sharmin@aiub.edu::e76e1817-908f-4d6e-a7ec-37593777c360" providerId="AD" clId="Web-{B8FA4B7D-ACB1-7BA6-0228-24F9C7038817}" dt="2025-04-10T05:26:25.924" v="0"/>
        <pc:sldMkLst>
          <pc:docMk/>
          <pc:sldMk cId="0" sldId="288"/>
        </pc:sldMkLst>
      </pc:sldChg>
      <pc:sldChg chg="modSp">
        <pc:chgData name="SAZIA SHARMIN" userId="S::sazia.sharmin@aiub.edu::e76e1817-908f-4d6e-a7ec-37593777c360" providerId="AD" clId="Web-{B8FA4B7D-ACB1-7BA6-0228-24F9C7038817}" dt="2025-04-10T07:21:24.589" v="2" actId="20577"/>
        <pc:sldMkLst>
          <pc:docMk/>
          <pc:sldMk cId="0" sldId="290"/>
        </pc:sldMkLst>
      </pc:sldChg>
    </pc:docChg>
  </pc:docChgLst>
  <pc:docChgLst>
    <pc:chgData name="SAZIA SHARMIN" userId="S::sazia.sharmin@aiub.edu::e76e1817-908f-4d6e-a7ec-37593777c360" providerId="AD" clId="Web-{16F14F64-A933-8B24-DD85-005B7C1D1349}"/>
    <pc:docChg chg="modSld">
      <pc:chgData name="SAZIA SHARMIN" userId="S::sazia.sharmin@aiub.edu::e76e1817-908f-4d6e-a7ec-37593777c360" providerId="AD" clId="Web-{16F14F64-A933-8B24-DD85-005B7C1D1349}" dt="2025-07-20T11:43:03.820" v="1"/>
      <pc:docMkLst>
        <pc:docMk/>
      </pc:docMkLst>
      <pc:sldChg chg="modSp">
        <pc:chgData name="SAZIA SHARMIN" userId="S::sazia.sharmin@aiub.edu::e76e1817-908f-4d6e-a7ec-37593777c360" providerId="AD" clId="Web-{16F14F64-A933-8B24-DD85-005B7C1D1349}" dt="2025-07-20T11:42:25.538" v="0" actId="1076"/>
        <pc:sldMkLst>
          <pc:docMk/>
          <pc:sldMk cId="0" sldId="262"/>
        </pc:sldMkLst>
        <pc:spChg chg="mod">
          <ac:chgData name="SAZIA SHARMIN" userId="S::sazia.sharmin@aiub.edu::e76e1817-908f-4d6e-a7ec-37593777c360" providerId="AD" clId="Web-{16F14F64-A933-8B24-DD85-005B7C1D1349}" dt="2025-07-20T11:42:25.538" v="0" actId="1076"/>
          <ac:spMkLst>
            <pc:docMk/>
            <pc:sldMk cId="0" sldId="262"/>
            <ac:spMk id="7" creationId="{00000000-0000-0000-0000-000000000000}"/>
          </ac:spMkLst>
        </pc:spChg>
      </pc:sldChg>
      <pc:sldChg chg="mod modShow">
        <pc:chgData name="SAZIA SHARMIN" userId="S::sazia.sharmin@aiub.edu::e76e1817-908f-4d6e-a7ec-37593777c360" providerId="AD" clId="Web-{16F14F64-A933-8B24-DD85-005B7C1D1349}" dt="2025-07-20T11:43:03.820" v="1"/>
        <pc:sldMkLst>
          <pc:docMk/>
          <pc:sldMk cId="0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60904"/>
            <a:ext cx="224663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36834" y="2660894"/>
            <a:ext cx="532290" cy="53229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46680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67063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448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0569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42526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06877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17976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594177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69640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793439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69640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5090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23"/>
                </a:lnTo>
                <a:lnTo>
                  <a:pt x="4608004" y="389623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904"/>
            <a:ext cx="3427095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CC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3298" y="1025560"/>
            <a:ext cx="399542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10597" y="3351784"/>
            <a:ext cx="43975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56133" y="3351784"/>
            <a:ext cx="82359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F2F2F2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2326" y="3351784"/>
            <a:ext cx="2813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A0000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slide" Target="slide3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38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slide" Target="slide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slide" Target="slide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slide" Target="slide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hyperlink" Target="https://ai.berkeley.edu/course_schedule.html" TargetMode="External"/><Relationship Id="rId3" Type="http://schemas.openxmlformats.org/officeDocument/2006/relationships/image" Target="../media/image72.png"/><Relationship Id="rId7" Type="http://schemas.openxmlformats.org/officeDocument/2006/relationships/hyperlink" Target="https://inst.eecs.berkeley.edu/~cs188/fa24/" TargetMode="Externa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s.cmu.edu/~15281/coursenotes/search/" TargetMode="External"/><Relationship Id="rId5" Type="http://schemas.openxmlformats.org/officeDocument/2006/relationships/image" Target="../media/image74.png"/><Relationship Id="rId10" Type="http://schemas.openxmlformats.org/officeDocument/2006/relationships/slide" Target="slide1.xml"/><Relationship Id="rId4" Type="http://schemas.openxmlformats.org/officeDocument/2006/relationships/image" Target="../media/image73.png"/><Relationship Id="rId9" Type="http://schemas.openxmlformats.org/officeDocument/2006/relationships/hyperlink" Target="https://inst.eecs.berkeley.edu/~cs188/su24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6834" y="2660894"/>
            <a:ext cx="532290" cy="53229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046680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67063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242526" y="3248732"/>
            <a:ext cx="203200" cy="55880"/>
            <a:chOff x="3242526" y="3248732"/>
            <a:chExt cx="203200" cy="55880"/>
          </a:xfrm>
        </p:grpSpPr>
        <p:sp>
          <p:nvSpPr>
            <p:cNvPr id="7" name="object 7"/>
            <p:cNvSpPr/>
            <p:nvPr/>
          </p:nvSpPr>
          <p:spPr>
            <a:xfrm>
              <a:off x="3305694" y="3251262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4252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517976" y="3247467"/>
            <a:ext cx="203200" cy="58419"/>
            <a:chOff x="3517976" y="3247467"/>
            <a:chExt cx="203200" cy="58419"/>
          </a:xfrm>
        </p:grpSpPr>
        <p:sp>
          <p:nvSpPr>
            <p:cNvPr id="10" name="object 10"/>
            <p:cNvSpPr/>
            <p:nvPr/>
          </p:nvSpPr>
          <p:spPr>
            <a:xfrm>
              <a:off x="3606877" y="3263963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517976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94177" y="3251262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793439" y="3247467"/>
            <a:ext cx="203200" cy="58419"/>
            <a:chOff x="3793439" y="3247467"/>
            <a:chExt cx="203200" cy="58419"/>
          </a:xfrm>
        </p:grpSpPr>
        <p:sp>
          <p:nvSpPr>
            <p:cNvPr id="14" name="object 14"/>
            <p:cNvSpPr/>
            <p:nvPr/>
          </p:nvSpPr>
          <p:spPr>
            <a:xfrm>
              <a:off x="3869640" y="3251262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93439" y="3257613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69640" y="3289363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4145090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8" name="object 18"/>
          <p:cNvGrpSpPr/>
          <p:nvPr/>
        </p:nvGrpSpPr>
        <p:grpSpPr>
          <a:xfrm>
            <a:off x="4326582" y="3248732"/>
            <a:ext cx="238760" cy="57150"/>
            <a:chOff x="4326582" y="3248732"/>
            <a:chExt cx="238760" cy="57150"/>
          </a:xfrm>
        </p:grpSpPr>
        <p:sp>
          <p:nvSpPr>
            <p:cNvPr id="19" name="object 19"/>
            <p:cNvSpPr/>
            <p:nvPr/>
          </p:nvSpPr>
          <p:spPr>
            <a:xfrm>
              <a:off x="4451033" y="328174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23969" y="3255248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29112" y="3251262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97865" y="622528"/>
            <a:ext cx="4412615" cy="82550"/>
          </a:xfrm>
          <a:custGeom>
            <a:avLst/>
            <a:gdLst/>
            <a:ahLst/>
            <a:cxnLst/>
            <a:rect l="l" t="t" r="r" b="b"/>
            <a:pathLst>
              <a:path w="4412615" h="82550">
                <a:moveTo>
                  <a:pt x="436152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12325" y="82384"/>
                </a:lnTo>
                <a:lnTo>
                  <a:pt x="4412325" y="50800"/>
                </a:lnTo>
                <a:lnTo>
                  <a:pt x="4408317" y="31075"/>
                </a:lnTo>
                <a:lnTo>
                  <a:pt x="4397403" y="14922"/>
                </a:lnTo>
                <a:lnTo>
                  <a:pt x="4381250" y="4008"/>
                </a:lnTo>
                <a:lnTo>
                  <a:pt x="4361525" y="0"/>
                </a:lnTo>
                <a:close/>
              </a:path>
            </a:pathLst>
          </a:custGeom>
          <a:solidFill>
            <a:srgbClr val="D8D8D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97865" y="666949"/>
            <a:ext cx="4463415" cy="821055"/>
            <a:chOff x="97865" y="666949"/>
            <a:chExt cx="4463415" cy="82105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8666" y="1386408"/>
              <a:ext cx="101600" cy="1016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466" y="1373708"/>
              <a:ext cx="4361525" cy="11430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10191" y="673087"/>
              <a:ext cx="50800" cy="7133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7865" y="666949"/>
              <a:ext cx="4412615" cy="770255"/>
            </a:xfrm>
            <a:custGeom>
              <a:avLst/>
              <a:gdLst/>
              <a:ahLst/>
              <a:cxnLst/>
              <a:rect l="l" t="t" r="r" b="b"/>
              <a:pathLst>
                <a:path w="4412615" h="770255">
                  <a:moveTo>
                    <a:pt x="4412325" y="0"/>
                  </a:moveTo>
                  <a:lnTo>
                    <a:pt x="0" y="0"/>
                  </a:lnTo>
                  <a:lnTo>
                    <a:pt x="0" y="719459"/>
                  </a:lnTo>
                  <a:lnTo>
                    <a:pt x="4008" y="739183"/>
                  </a:lnTo>
                  <a:lnTo>
                    <a:pt x="14922" y="755336"/>
                  </a:lnTo>
                  <a:lnTo>
                    <a:pt x="31075" y="766251"/>
                  </a:lnTo>
                  <a:lnTo>
                    <a:pt x="50800" y="770259"/>
                  </a:lnTo>
                  <a:lnTo>
                    <a:pt x="4361525" y="770259"/>
                  </a:lnTo>
                  <a:lnTo>
                    <a:pt x="4381250" y="766251"/>
                  </a:lnTo>
                  <a:lnTo>
                    <a:pt x="4397403" y="755336"/>
                  </a:lnTo>
                  <a:lnTo>
                    <a:pt x="4408317" y="739183"/>
                  </a:lnTo>
                  <a:lnTo>
                    <a:pt x="4412325" y="719459"/>
                  </a:lnTo>
                  <a:lnTo>
                    <a:pt x="441232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10191" y="711186"/>
              <a:ext cx="0" cy="694690"/>
            </a:xfrm>
            <a:custGeom>
              <a:avLst/>
              <a:gdLst/>
              <a:ahLst/>
              <a:cxnLst/>
              <a:rect l="l" t="t" r="r" b="b"/>
              <a:pathLst>
                <a:path h="694690">
                  <a:moveTo>
                    <a:pt x="0" y="69427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10191" y="6984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10191" y="6857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10191" y="6730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1341462" y="606580"/>
            <a:ext cx="1925320" cy="74993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565"/>
              </a:spcBef>
            </a:pPr>
            <a:r>
              <a:rPr spc="-20" dirty="0"/>
              <a:t>Artificial</a:t>
            </a:r>
            <a:r>
              <a:rPr spc="-55" dirty="0"/>
              <a:t> </a:t>
            </a:r>
            <a:r>
              <a:rPr spc="-50" dirty="0"/>
              <a:t>Intelligence</a:t>
            </a:r>
          </a:p>
          <a:p>
            <a:pPr marL="12700" marR="5080" indent="306070">
              <a:lnSpc>
                <a:spcPct val="100000"/>
              </a:lnSpc>
              <a:spcBef>
                <a:spcPts val="310"/>
              </a:spcBef>
            </a:pPr>
            <a:r>
              <a:rPr sz="1200" spc="-45" dirty="0"/>
              <a:t>Lecture</a:t>
            </a:r>
            <a:r>
              <a:rPr sz="1200" spc="-50" dirty="0"/>
              <a:t> </a:t>
            </a:r>
            <a:r>
              <a:rPr sz="1200" spc="-10" dirty="0"/>
              <a:t>2,</a:t>
            </a:r>
            <a:r>
              <a:rPr sz="1200" spc="-45" dirty="0"/>
              <a:t> </a:t>
            </a:r>
            <a:r>
              <a:rPr sz="1200" spc="-40" dirty="0"/>
              <a:t>Chapter</a:t>
            </a:r>
            <a:r>
              <a:rPr sz="1200" spc="-45" dirty="0"/>
              <a:t> </a:t>
            </a:r>
            <a:r>
              <a:rPr sz="1200" spc="-50" dirty="0"/>
              <a:t>3 </a:t>
            </a:r>
            <a:r>
              <a:rPr sz="1200" spc="-35" dirty="0"/>
              <a:t>Solving </a:t>
            </a:r>
            <a:r>
              <a:rPr sz="1200" spc="-45" dirty="0"/>
              <a:t>Problems</a:t>
            </a:r>
            <a:r>
              <a:rPr sz="1200" spc="-30" dirty="0"/>
              <a:t> </a:t>
            </a:r>
            <a:r>
              <a:rPr sz="1200" spc="-60" dirty="0"/>
              <a:t>by</a:t>
            </a:r>
            <a:r>
              <a:rPr sz="1200" spc="-30" dirty="0"/>
              <a:t> </a:t>
            </a:r>
            <a:r>
              <a:rPr sz="1200" spc="-65" dirty="0"/>
              <a:t>Searching</a:t>
            </a:r>
            <a:endParaRPr sz="1200"/>
          </a:p>
        </p:txBody>
      </p:sp>
      <p:sp>
        <p:nvSpPr>
          <p:cNvPr id="33" name="object 33"/>
          <p:cNvSpPr txBox="1"/>
          <p:nvPr/>
        </p:nvSpPr>
        <p:spPr>
          <a:xfrm>
            <a:off x="1695450" y="1653347"/>
            <a:ext cx="1260563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200" spc="-30" dirty="0">
                <a:latin typeface="Tahoma"/>
                <a:cs typeface="Tahoma"/>
              </a:rPr>
              <a:t>SAZIA SHARMIN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99411" y="2018867"/>
            <a:ext cx="84518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0670" marR="5080" indent="-268605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 MT"/>
                <a:cs typeface="Arial MT"/>
              </a:rPr>
              <a:t>Department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65" dirty="0">
                <a:latin typeface="Arial MT"/>
                <a:cs typeface="Arial MT"/>
              </a:rPr>
              <a:t>CS</a:t>
            </a:r>
            <a:r>
              <a:rPr sz="800" spc="-20" dirty="0">
                <a:latin typeface="Arial MT"/>
                <a:cs typeface="Arial MT"/>
              </a:rPr>
              <a:t> AIUB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37" name="object 3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6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1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0" dirty="0"/>
              <a:t>Table</a:t>
            </a:r>
            <a:r>
              <a:rPr spc="-55" dirty="0"/>
              <a:t> </a:t>
            </a:r>
            <a:r>
              <a:rPr spc="-30" dirty="0"/>
              <a:t>of</a:t>
            </a:r>
            <a:r>
              <a:rPr spc="-90" dirty="0"/>
              <a:t> </a:t>
            </a:r>
            <a:r>
              <a:rPr spc="-75" dirty="0"/>
              <a:t>Contents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142824" y="292609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Arial MT"/>
                <a:cs typeface="Arial MT"/>
              </a:rPr>
              <a:t>7</a:t>
            </a:r>
            <a:endParaRPr sz="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29" name="object 2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2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2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  <p:pic>
        <p:nvPicPr>
          <p:cNvPr id="36" name="Picture 3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9B7A5D1-D3B5-62AD-1F41-3BB9A08AF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464" y="500153"/>
            <a:ext cx="3051219" cy="265224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04"/>
            <a:ext cx="200215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75" dirty="0">
                <a:solidFill>
                  <a:srgbClr val="CC0000"/>
                </a:solidFill>
                <a:latin typeface="Tahoma"/>
                <a:cs typeface="Tahoma"/>
              </a:rPr>
              <a:t>Problem</a:t>
            </a:r>
            <a:r>
              <a:rPr sz="1700" spc="-1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75" dirty="0">
                <a:solidFill>
                  <a:srgbClr val="CC0000"/>
                </a:solidFill>
                <a:latin typeface="Tahoma"/>
                <a:cs typeface="Tahoma"/>
              </a:rPr>
              <a:t>Solving</a:t>
            </a:r>
            <a:r>
              <a:rPr sz="1700" spc="-1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60" dirty="0">
                <a:solidFill>
                  <a:srgbClr val="CC0000"/>
                </a:solidFill>
                <a:latin typeface="Tahoma"/>
                <a:cs typeface="Tahoma"/>
              </a:rPr>
              <a:t>Agent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38" y="407910"/>
            <a:ext cx="4511770" cy="659283"/>
          </a:xfrm>
          <a:prstGeom prst="rect">
            <a:avLst/>
          </a:prstGeom>
        </p:spPr>
        <p:txBody>
          <a:bodyPr vert="horz" wrap="square" lIns="0" tIns="514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dirty="0">
                <a:latin typeface="Tahoma"/>
                <a:cs typeface="Tahoma"/>
              </a:rPr>
              <a:t>A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problem-</a:t>
            </a:r>
            <a:r>
              <a:rPr sz="1200" spc="-50" dirty="0">
                <a:latin typeface="Tahoma"/>
                <a:cs typeface="Tahoma"/>
              </a:rPr>
              <a:t>solving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agent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one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kind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60" dirty="0">
                <a:highlight>
                  <a:srgbClr val="FFFF00"/>
                </a:highlight>
                <a:latin typeface="Tahoma"/>
                <a:cs typeface="Tahoma"/>
              </a:rPr>
              <a:t>goal-</a:t>
            </a:r>
            <a:r>
              <a:rPr sz="1200" spc="-80" dirty="0">
                <a:highlight>
                  <a:srgbClr val="FFFF00"/>
                </a:highlight>
                <a:latin typeface="Tahoma"/>
                <a:cs typeface="Tahoma"/>
              </a:rPr>
              <a:t>based</a:t>
            </a:r>
            <a:r>
              <a:rPr sz="1200" spc="-1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1200" spc="-10" dirty="0">
                <a:highlight>
                  <a:srgbClr val="FFFF00"/>
                </a:highlight>
                <a:latin typeface="Tahoma"/>
                <a:cs typeface="Tahoma"/>
              </a:rPr>
              <a:t>agent.</a:t>
            </a:r>
            <a:endParaRPr sz="1200">
              <a:highlight>
                <a:srgbClr val="FFFF00"/>
              </a:highlight>
              <a:latin typeface="Tahoma"/>
              <a:cs typeface="Tahoma"/>
            </a:endParaRPr>
          </a:p>
          <a:p>
            <a:pPr marL="12700" marR="5080">
              <a:lnSpc>
                <a:spcPct val="121100"/>
              </a:lnSpc>
            </a:pPr>
            <a:r>
              <a:rPr sz="1200" spc="-40" dirty="0">
                <a:latin typeface="Tahoma"/>
                <a:cs typeface="Tahoma"/>
              </a:rPr>
              <a:t>Lets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consider,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the</a:t>
            </a:r>
            <a:r>
              <a:rPr sz="1200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FF0000"/>
                </a:solidFill>
                <a:latin typeface="Tahoma"/>
                <a:cs typeface="Tahoma"/>
              </a:rPr>
              <a:t>route-</a:t>
            </a:r>
            <a:r>
              <a:rPr sz="1200" spc="-50" dirty="0">
                <a:solidFill>
                  <a:srgbClr val="FF0000"/>
                </a:solidFill>
                <a:latin typeface="Tahoma"/>
                <a:cs typeface="Tahoma"/>
              </a:rPr>
              <a:t>finding</a:t>
            </a:r>
            <a:r>
              <a:rPr sz="1200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80" dirty="0">
                <a:solidFill>
                  <a:srgbClr val="FF0000"/>
                </a:solidFill>
                <a:latin typeface="Tahoma"/>
                <a:cs typeface="Tahoma"/>
              </a:rPr>
              <a:t>problem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the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cities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Romania. </a:t>
            </a:r>
            <a:r>
              <a:rPr sz="1200" dirty="0">
                <a:latin typeface="Tahoma"/>
                <a:cs typeface="Tahoma"/>
              </a:rPr>
              <a:t>This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problem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can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be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solved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by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searching.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547" y="1133572"/>
            <a:ext cx="3345965" cy="214911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3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5" dirty="0"/>
              <a:t>Problem</a:t>
            </a:r>
            <a:r>
              <a:rPr spc="-25" dirty="0"/>
              <a:t> </a:t>
            </a:r>
            <a:r>
              <a:rPr spc="-75" dirty="0"/>
              <a:t>formulation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1066330"/>
            <a:ext cx="71526" cy="715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9631" y="620671"/>
            <a:ext cx="4459680" cy="254877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065" rIns="0" bIns="0" rtlCol="0" anchor="t">
            <a:spAutoFit/>
          </a:bodyPr>
          <a:lstStyle/>
          <a:p>
            <a:pPr marL="12700" marR="38735">
              <a:lnSpc>
                <a:spcPct val="100000"/>
              </a:lnSpc>
              <a:spcBef>
                <a:spcPts val="95"/>
              </a:spcBef>
            </a:pPr>
            <a:r>
              <a:rPr sz="1400" spc="-50" dirty="0">
                <a:latin typeface="Tahoma"/>
                <a:cs typeface="Tahoma"/>
              </a:rPr>
              <a:t>Intelligent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70" dirty="0">
                <a:latin typeface="Tahoma"/>
                <a:cs typeface="Tahoma"/>
              </a:rPr>
              <a:t>agents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85" dirty="0">
                <a:latin typeface="Tahoma"/>
                <a:cs typeface="Tahoma"/>
              </a:rPr>
              <a:t>are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-80" dirty="0">
                <a:latin typeface="Tahoma"/>
                <a:cs typeface="Tahoma"/>
              </a:rPr>
              <a:t>supposed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act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65" dirty="0">
                <a:latin typeface="Tahoma"/>
                <a:cs typeface="Tahoma"/>
              </a:rPr>
              <a:t>such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0" dirty="0">
                <a:latin typeface="Tahoma"/>
                <a:cs typeface="Tahoma"/>
              </a:rPr>
              <a:t>way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that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i="1" spc="-25" dirty="0">
                <a:solidFill>
                  <a:srgbClr val="FF0000"/>
                </a:solidFill>
                <a:latin typeface="Tahoma"/>
                <a:cs typeface="Tahoma"/>
              </a:rPr>
              <a:t>the </a:t>
            </a:r>
            <a:r>
              <a:rPr sz="1400" i="1" spc="-65" dirty="0">
                <a:solidFill>
                  <a:srgbClr val="FF0000"/>
                </a:solidFill>
                <a:latin typeface="Tahoma"/>
                <a:cs typeface="Tahoma"/>
              </a:rPr>
              <a:t>environment</a:t>
            </a:r>
            <a:r>
              <a:rPr sz="1400" i="1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i="1" spc="-75" dirty="0">
                <a:solidFill>
                  <a:srgbClr val="FF0000"/>
                </a:solidFill>
                <a:latin typeface="Tahoma"/>
                <a:cs typeface="Tahoma"/>
              </a:rPr>
              <a:t>goes</a:t>
            </a:r>
            <a:r>
              <a:rPr sz="1400" i="1" spc="-2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i="1" spc="-60" dirty="0">
                <a:solidFill>
                  <a:srgbClr val="FF0000"/>
                </a:solidFill>
                <a:latin typeface="Tahoma"/>
                <a:cs typeface="Tahoma"/>
              </a:rPr>
              <a:t>through</a:t>
            </a:r>
            <a:r>
              <a:rPr sz="1400" i="1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i="1" dirty="0">
                <a:solidFill>
                  <a:srgbClr val="FF0000"/>
                </a:solidFill>
                <a:latin typeface="Tahoma"/>
                <a:cs typeface="Tahoma"/>
              </a:rPr>
              <a:t>a</a:t>
            </a:r>
            <a:r>
              <a:rPr sz="1400" i="1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i="1" spc="-90" dirty="0">
                <a:solidFill>
                  <a:srgbClr val="FF0000"/>
                </a:solidFill>
                <a:latin typeface="Tahoma"/>
                <a:cs typeface="Tahoma"/>
              </a:rPr>
              <a:t>sequence</a:t>
            </a:r>
            <a:r>
              <a:rPr sz="1400" i="1" spc="-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i="1" dirty="0">
                <a:solidFill>
                  <a:srgbClr val="FF0000"/>
                </a:solidFill>
                <a:latin typeface="Tahoma"/>
                <a:cs typeface="Tahoma"/>
              </a:rPr>
              <a:t>of</a:t>
            </a:r>
            <a:r>
              <a:rPr sz="1400" i="1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i="1" spc="-55" dirty="0">
                <a:solidFill>
                  <a:srgbClr val="FF0000"/>
                </a:solidFill>
                <a:latin typeface="Tahoma"/>
                <a:cs typeface="Tahoma"/>
              </a:rPr>
              <a:t>states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that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b="1" spc="-30" dirty="0">
                <a:latin typeface="Trebuchet MS"/>
                <a:cs typeface="Trebuchet MS"/>
              </a:rPr>
              <a:t>maximizes </a:t>
            </a:r>
            <a:r>
              <a:rPr sz="1400" b="1" dirty="0">
                <a:latin typeface="Trebuchet MS"/>
                <a:cs typeface="Trebuchet MS"/>
              </a:rPr>
              <a:t>the</a:t>
            </a:r>
            <a:r>
              <a:rPr sz="1400" b="1" spc="-15" dirty="0">
                <a:latin typeface="Trebuchet MS"/>
                <a:cs typeface="Trebuchet MS"/>
              </a:rPr>
              <a:t> </a:t>
            </a:r>
            <a:r>
              <a:rPr sz="1400" b="1" spc="-40" dirty="0">
                <a:latin typeface="Trebuchet MS"/>
                <a:cs typeface="Trebuchet MS"/>
              </a:rPr>
              <a:t>performance</a:t>
            </a:r>
            <a:r>
              <a:rPr sz="1400" b="1" spc="-10" dirty="0">
                <a:latin typeface="Trebuchet MS"/>
                <a:cs typeface="Trebuchet MS"/>
              </a:rPr>
              <a:t> measure</a:t>
            </a:r>
            <a:r>
              <a:rPr sz="1400" spc="-10" dirty="0">
                <a:latin typeface="Tahoma"/>
                <a:cs typeface="Tahoma"/>
              </a:rPr>
              <a:t>.</a:t>
            </a:r>
            <a:endParaRPr sz="1400">
              <a:latin typeface="Tahoma"/>
              <a:cs typeface="Tahoma"/>
            </a:endParaRPr>
          </a:p>
          <a:p>
            <a:pPr marL="12700" marR="38735">
              <a:spcBef>
                <a:spcPts val="95"/>
              </a:spcBef>
            </a:pPr>
            <a:endParaRPr lang="en-US" sz="1400" spc="-10" dirty="0">
              <a:latin typeface="Tahoma"/>
              <a:cs typeface="Tahoma"/>
            </a:endParaRPr>
          </a:p>
          <a:p>
            <a:pPr marL="12700" marR="314325">
              <a:lnSpc>
                <a:spcPct val="100000"/>
              </a:lnSpc>
              <a:spcBef>
                <a:spcPts val="310"/>
              </a:spcBef>
            </a:pPr>
            <a:r>
              <a:rPr sz="1400" spc="-50" dirty="0">
                <a:latin typeface="Tahoma"/>
                <a:cs typeface="Tahoma"/>
              </a:rPr>
              <a:t>We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will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consider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</a:t>
            </a:r>
            <a:r>
              <a:rPr sz="1400" b="1" spc="1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goal</a:t>
            </a:r>
            <a:r>
              <a:rPr sz="1400" b="1" spc="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to</a:t>
            </a:r>
            <a:r>
              <a:rPr sz="1400" b="1" spc="1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be</a:t>
            </a:r>
            <a:r>
              <a:rPr sz="1400" b="1" spc="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a</a:t>
            </a:r>
            <a:r>
              <a:rPr sz="1400" b="1" spc="1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set</a:t>
            </a:r>
            <a:r>
              <a:rPr sz="1400" b="1" spc="20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of</a:t>
            </a:r>
            <a:r>
              <a:rPr sz="1400" b="1" spc="15" dirty="0">
                <a:latin typeface="Trebuchet MS"/>
                <a:cs typeface="Trebuchet MS"/>
              </a:rPr>
              <a:t> </a:t>
            </a:r>
            <a:r>
              <a:rPr sz="1400" b="1" dirty="0">
                <a:latin typeface="Trebuchet MS"/>
                <a:cs typeface="Trebuchet MS"/>
              </a:rPr>
              <a:t>states</a:t>
            </a:r>
            <a:r>
              <a:rPr sz="1400" b="1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ahoma"/>
                <a:cs typeface="Tahoma"/>
              </a:rPr>
              <a:t>-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just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those states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which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the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goal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is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satisfied.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400" b="1" i="1" dirty="0">
                <a:solidFill>
                  <a:srgbClr val="FF0000"/>
                </a:solidFill>
                <a:latin typeface="Trebuchet MS"/>
                <a:cs typeface="Trebuchet MS"/>
              </a:rPr>
              <a:t>Actions</a:t>
            </a:r>
            <a:r>
              <a:rPr sz="1400" b="1" i="1" spc="-9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b="1" i="1" spc="-45" dirty="0">
                <a:solidFill>
                  <a:srgbClr val="FF0000"/>
                </a:solidFill>
                <a:latin typeface="Tahoma"/>
                <a:cs typeface="Tahoma"/>
              </a:rPr>
              <a:t>can</a:t>
            </a:r>
            <a:r>
              <a:rPr sz="1400" b="1" i="1" spc="-4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i="1" spc="-60" dirty="0">
                <a:solidFill>
                  <a:srgbClr val="FF0000"/>
                </a:solidFill>
                <a:latin typeface="Tahoma"/>
                <a:cs typeface="Tahoma"/>
              </a:rPr>
              <a:t>be</a:t>
            </a:r>
            <a:r>
              <a:rPr sz="1400" b="1" i="1" spc="-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i="1" spc="-85" dirty="0">
                <a:solidFill>
                  <a:srgbClr val="FF0000"/>
                </a:solidFill>
                <a:latin typeface="Tahoma"/>
                <a:cs typeface="Tahoma"/>
              </a:rPr>
              <a:t>viewed</a:t>
            </a:r>
            <a:r>
              <a:rPr sz="1400" b="1" i="1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i="1" spc="-65" dirty="0">
                <a:solidFill>
                  <a:srgbClr val="FF0000"/>
                </a:solidFill>
                <a:latin typeface="Tahoma"/>
                <a:cs typeface="Tahoma"/>
              </a:rPr>
              <a:t>as</a:t>
            </a:r>
            <a:r>
              <a:rPr sz="1400" b="1" i="1" spc="-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i="1" spc="-55" dirty="0">
                <a:solidFill>
                  <a:srgbClr val="FF0000"/>
                </a:solidFill>
                <a:latin typeface="Tahoma"/>
                <a:cs typeface="Tahoma"/>
              </a:rPr>
              <a:t>causing</a:t>
            </a:r>
            <a:r>
              <a:rPr sz="1400" b="1" i="1" spc="-3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400" b="1" i="1" spc="-20" dirty="0">
                <a:solidFill>
                  <a:srgbClr val="FF0000"/>
                </a:solidFill>
                <a:latin typeface="Trebuchet MS"/>
                <a:cs typeface="Trebuchet MS"/>
              </a:rPr>
              <a:t>transitions</a:t>
            </a:r>
            <a:r>
              <a:rPr sz="1400" b="1" i="1" spc="1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b="1" i="1" spc="-45" dirty="0">
                <a:solidFill>
                  <a:srgbClr val="FF0000"/>
                </a:solidFill>
                <a:latin typeface="Trebuchet MS"/>
                <a:cs typeface="Trebuchet MS"/>
              </a:rPr>
              <a:t>between</a:t>
            </a:r>
            <a:r>
              <a:rPr sz="1400" b="1" i="1" spc="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400" b="1" i="1" spc="-10" dirty="0">
                <a:solidFill>
                  <a:srgbClr val="FF0000"/>
                </a:solidFill>
                <a:latin typeface="Trebuchet MS"/>
                <a:cs typeface="Trebuchet MS"/>
              </a:rPr>
              <a:t>states</a:t>
            </a:r>
            <a:r>
              <a:rPr sz="1400" b="1" i="1" spc="-10" dirty="0">
                <a:solidFill>
                  <a:srgbClr val="FF0000"/>
                </a:solidFill>
                <a:latin typeface="Tahoma"/>
                <a:cs typeface="Tahoma"/>
              </a:rPr>
              <a:t>.</a:t>
            </a:r>
            <a:endParaRPr sz="1400" b="1" i="1" spc="-10">
              <a:solidFill>
                <a:srgbClr val="FF0000"/>
              </a:solidFill>
              <a:latin typeface="Tahoma"/>
              <a:ea typeface="Tahoma"/>
              <a:cs typeface="Tahoma"/>
            </a:endParaRPr>
          </a:p>
          <a:p>
            <a:pPr marL="12700">
              <a:spcBef>
                <a:spcPts val="310"/>
              </a:spcBef>
            </a:pPr>
            <a:endParaRPr lang="en-US" sz="1400" spc="-10" dirty="0">
              <a:latin typeface="Tahoma"/>
              <a:cs typeface="Tahoma"/>
            </a:endParaRPr>
          </a:p>
          <a:p>
            <a:pPr marL="12700" marR="33020">
              <a:lnSpc>
                <a:spcPct val="100000"/>
              </a:lnSpc>
              <a:spcBef>
                <a:spcPts val="305"/>
              </a:spcBef>
            </a:pPr>
            <a:r>
              <a:rPr sz="1400" b="1" spc="-35" dirty="0">
                <a:solidFill>
                  <a:srgbClr val="00B050"/>
                </a:solidFill>
                <a:latin typeface="Tahoma"/>
                <a:cs typeface="Tahoma"/>
              </a:rPr>
              <a:t>Problem</a:t>
            </a:r>
            <a:r>
              <a:rPr sz="1400" b="1" spc="-60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400" b="1" spc="-45" dirty="0">
                <a:solidFill>
                  <a:srgbClr val="00B050"/>
                </a:solidFill>
                <a:latin typeface="Tahoma"/>
                <a:cs typeface="Tahoma"/>
              </a:rPr>
              <a:t>formulation</a:t>
            </a:r>
            <a:r>
              <a:rPr sz="1400" b="1" spc="-35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00B050"/>
                </a:solidFill>
                <a:latin typeface="Tahoma"/>
                <a:cs typeface="Tahoma"/>
              </a:rPr>
              <a:t>is</a:t>
            </a:r>
            <a:r>
              <a:rPr sz="1400" b="1" spc="-40" dirty="0">
                <a:solidFill>
                  <a:srgbClr val="00B050"/>
                </a:solidFill>
                <a:latin typeface="Tahoma"/>
                <a:cs typeface="Tahoma"/>
              </a:rPr>
              <a:t> the</a:t>
            </a:r>
            <a:r>
              <a:rPr sz="1400" b="1" spc="-35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400" b="1" spc="-75" dirty="0">
                <a:solidFill>
                  <a:srgbClr val="00B050"/>
                </a:solidFill>
                <a:latin typeface="Tahoma"/>
                <a:cs typeface="Tahoma"/>
              </a:rPr>
              <a:t>process</a:t>
            </a:r>
            <a:r>
              <a:rPr sz="1400" b="1" spc="-20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00B050"/>
                </a:solidFill>
                <a:latin typeface="Tahoma"/>
                <a:cs typeface="Tahoma"/>
              </a:rPr>
              <a:t>of</a:t>
            </a:r>
            <a:r>
              <a:rPr sz="1400" b="1" spc="-35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00B050"/>
                </a:solidFill>
                <a:latin typeface="Tahoma"/>
                <a:cs typeface="Tahoma"/>
              </a:rPr>
              <a:t>deciding</a:t>
            </a:r>
            <a:r>
              <a:rPr sz="1400" b="1" spc="-40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00B050"/>
                </a:solidFill>
                <a:latin typeface="Tahoma"/>
                <a:cs typeface="Tahoma"/>
              </a:rPr>
              <a:t>what</a:t>
            </a:r>
            <a:r>
              <a:rPr sz="1400" b="1" spc="-35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400" b="1" spc="-40" dirty="0">
                <a:solidFill>
                  <a:srgbClr val="00B050"/>
                </a:solidFill>
                <a:latin typeface="Tahoma"/>
                <a:cs typeface="Tahoma"/>
              </a:rPr>
              <a:t>actions </a:t>
            </a:r>
            <a:r>
              <a:rPr sz="1400" b="1" spc="-30" dirty="0">
                <a:solidFill>
                  <a:srgbClr val="00B050"/>
                </a:solidFill>
                <a:latin typeface="Tahoma"/>
                <a:cs typeface="Tahoma"/>
              </a:rPr>
              <a:t>and </a:t>
            </a:r>
            <a:r>
              <a:rPr sz="1400" b="1" spc="-55" dirty="0">
                <a:solidFill>
                  <a:srgbClr val="00B050"/>
                </a:solidFill>
                <a:latin typeface="Tahoma"/>
                <a:cs typeface="Tahoma"/>
              </a:rPr>
              <a:t>states</a:t>
            </a:r>
            <a:r>
              <a:rPr sz="1400" b="1" spc="-20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00B050"/>
                </a:solidFill>
                <a:latin typeface="Tahoma"/>
                <a:cs typeface="Tahoma"/>
              </a:rPr>
              <a:t>to</a:t>
            </a:r>
            <a:r>
              <a:rPr sz="1400" b="1" spc="-20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400" b="1" spc="-10" dirty="0">
                <a:solidFill>
                  <a:srgbClr val="00B050"/>
                </a:solidFill>
                <a:latin typeface="Tahoma"/>
                <a:cs typeface="Tahoma"/>
              </a:rPr>
              <a:t>consider.</a:t>
            </a:r>
            <a:endParaRPr sz="1400" b="1">
              <a:solidFill>
                <a:srgbClr val="00B050"/>
              </a:solidFill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4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0" dirty="0"/>
              <a:t>Search</a:t>
            </a:r>
            <a:r>
              <a:rPr spc="-10" dirty="0"/>
              <a:t> </a:t>
            </a:r>
            <a:r>
              <a:rPr spc="-75" dirty="0"/>
              <a:t>Problem</a:t>
            </a:r>
            <a:r>
              <a:rPr spc="-10" dirty="0"/>
              <a:t> </a:t>
            </a:r>
            <a:r>
              <a:rPr spc="-75" dirty="0"/>
              <a:t>formulation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645" y="760066"/>
            <a:ext cx="5708265" cy="1822358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09880" marR="2506345" indent="-297815">
              <a:lnSpc>
                <a:spcPct val="121100"/>
              </a:lnSpc>
              <a:spcBef>
                <a:spcPts val="100"/>
              </a:spcBef>
            </a:pPr>
            <a:r>
              <a:rPr sz="1400" dirty="0">
                <a:latin typeface="Tahoma"/>
                <a:cs typeface="Tahoma"/>
              </a:rPr>
              <a:t>A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80" dirty="0">
                <a:latin typeface="Tahoma"/>
                <a:cs typeface="Tahoma"/>
              </a:rPr>
              <a:t>search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75" dirty="0">
                <a:latin typeface="Tahoma"/>
                <a:cs typeface="Tahoma"/>
              </a:rPr>
              <a:t>problem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consists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of</a:t>
            </a:r>
            <a:r>
              <a:rPr lang="en-US" sz="1400" spc="-55" dirty="0">
                <a:latin typeface="Tahoma"/>
                <a:cs typeface="Tahoma"/>
              </a:rPr>
              <a:t> </a:t>
            </a:r>
            <a:r>
              <a:rPr lang="en-US" sz="1400" b="1" spc="-55" dirty="0">
                <a:solidFill>
                  <a:srgbClr val="FF0000"/>
                </a:solidFill>
                <a:latin typeface="Tahoma"/>
                <a:cs typeface="Tahoma"/>
              </a:rPr>
              <a:t>4 basic components</a:t>
            </a:r>
            <a:r>
              <a:rPr sz="1400" b="1" spc="-55" dirty="0">
                <a:solidFill>
                  <a:srgbClr val="FF0000"/>
                </a:solidFill>
                <a:latin typeface="Tahoma"/>
                <a:cs typeface="Tahoma"/>
              </a:rPr>
              <a:t>: </a:t>
            </a:r>
            <a:endParaRPr lang="en-US" sz="1400" b="1">
              <a:solidFill>
                <a:srgbClr val="FF0000"/>
              </a:solidFill>
              <a:latin typeface="Tahoma"/>
              <a:cs typeface="Tahoma"/>
            </a:endParaRPr>
          </a:p>
          <a:p>
            <a:pPr marL="309880" marR="2506345" indent="-297815">
              <a:lnSpc>
                <a:spcPct val="121100"/>
              </a:lnSpc>
              <a:spcBef>
                <a:spcPts val="100"/>
              </a:spcBef>
            </a:pPr>
            <a:r>
              <a:rPr lang="en-US" sz="1400" dirty="0">
                <a:latin typeface="Tahoma"/>
                <a:cs typeface="Tahoma"/>
              </a:rPr>
              <a:t>     1. </a:t>
            </a:r>
            <a:r>
              <a:rPr sz="1400" dirty="0">
                <a:latin typeface="Tahoma"/>
                <a:cs typeface="Tahoma"/>
              </a:rPr>
              <a:t>A </a:t>
            </a:r>
            <a:r>
              <a:rPr sz="1400" spc="-35" dirty="0">
                <a:latin typeface="Tahoma"/>
                <a:cs typeface="Tahoma"/>
              </a:rPr>
              <a:t>state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space</a:t>
            </a:r>
            <a:endParaRPr sz="1400" dirty="0">
              <a:latin typeface="Tahoma"/>
              <a:cs typeface="Tahoma"/>
            </a:endParaRPr>
          </a:p>
          <a:p>
            <a:pPr marL="309880" marR="1600200">
              <a:lnSpc>
                <a:spcPct val="121100"/>
              </a:lnSpc>
            </a:pPr>
            <a:r>
              <a:rPr lang="en-US" sz="1400" dirty="0">
                <a:latin typeface="Tahoma"/>
                <a:cs typeface="Tahoma"/>
              </a:rPr>
              <a:t>  2. A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80" dirty="0">
                <a:latin typeface="Tahoma"/>
                <a:cs typeface="Tahoma"/>
              </a:rPr>
              <a:t>successor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function(with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action,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cost) </a:t>
            </a:r>
            <a:endParaRPr lang="en-US" sz="1400" dirty="0">
              <a:latin typeface="Tahoma"/>
              <a:cs typeface="Tahoma"/>
            </a:endParaRPr>
          </a:p>
          <a:p>
            <a:pPr marL="309880" marR="1600200">
              <a:lnSpc>
                <a:spcPct val="121100"/>
              </a:lnSpc>
            </a:pPr>
            <a:r>
              <a:rPr lang="en-US" sz="1400" dirty="0">
                <a:latin typeface="Tahoma"/>
                <a:cs typeface="Tahoma"/>
              </a:rPr>
              <a:t>  3.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start </a:t>
            </a:r>
            <a:r>
              <a:rPr sz="1400" spc="-35" dirty="0">
                <a:latin typeface="Tahoma"/>
                <a:cs typeface="Tahoma"/>
              </a:rPr>
              <a:t>state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and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goal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lang="en-US" sz="1400" spc="-20" dirty="0">
                <a:latin typeface="Tahoma"/>
                <a:cs typeface="Tahoma"/>
              </a:rPr>
              <a:t>test</a:t>
            </a:r>
            <a:endParaRPr lang="en-US" sz="1400" dirty="0">
              <a:latin typeface="Tahoma"/>
              <a:cs typeface="Tahoma"/>
            </a:endParaRPr>
          </a:p>
          <a:p>
            <a:pPr marL="309880" marR="1600200">
              <a:lnSpc>
                <a:spcPct val="121100"/>
              </a:lnSpc>
            </a:pPr>
            <a:r>
              <a:rPr lang="en-US" sz="1400" dirty="0">
                <a:latin typeface="Tahoma"/>
                <a:cs typeface="Tahoma"/>
              </a:rPr>
              <a:t> 4. A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solution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95" dirty="0">
                <a:latin typeface="Tahoma"/>
                <a:cs typeface="Tahoma"/>
              </a:rPr>
              <a:t>sequence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of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actions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(a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plan)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which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transforms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the start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state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</a:t>
            </a:r>
            <a:r>
              <a:rPr sz="1400" spc="-45" dirty="0">
                <a:latin typeface="Tahoma"/>
                <a:cs typeface="Tahoma"/>
              </a:rPr>
              <a:t> goal </a:t>
            </a:r>
            <a:r>
              <a:rPr sz="1400" spc="-10" dirty="0">
                <a:latin typeface="Tahoma"/>
                <a:cs typeface="Tahoma"/>
              </a:rPr>
              <a:t>state</a:t>
            </a:r>
            <a:endParaRPr sz="1400" dirty="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2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5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21596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5" dirty="0"/>
              <a:t>Example-</a:t>
            </a:r>
            <a:r>
              <a:rPr spc="-5" dirty="0"/>
              <a:t> </a:t>
            </a:r>
            <a:r>
              <a:rPr spc="-95" dirty="0"/>
              <a:t>Vacuum</a:t>
            </a:r>
            <a:r>
              <a:rPr spc="-5" dirty="0"/>
              <a:t> </a:t>
            </a:r>
            <a:r>
              <a:rPr spc="-55" dirty="0"/>
              <a:t>World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61" y="616858"/>
            <a:ext cx="3203690" cy="14275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2238997"/>
            <a:ext cx="71526" cy="715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3298" y="2109292"/>
            <a:ext cx="4439995" cy="918841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 anchor="t">
            <a:spAutoFit/>
          </a:bodyPr>
          <a:lstStyle/>
          <a:p>
            <a:pPr marL="12700" marR="662305">
              <a:lnSpc>
                <a:spcPct val="121100"/>
              </a:lnSpc>
              <a:spcBef>
                <a:spcPts val="100"/>
              </a:spcBef>
            </a:pPr>
            <a:r>
              <a:rPr sz="1200" spc="-110" dirty="0">
                <a:latin typeface="Tahoma"/>
                <a:cs typeface="Tahoma"/>
              </a:rPr>
              <a:t>In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this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case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there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are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b="1" spc="-40" dirty="0">
                <a:solidFill>
                  <a:srgbClr val="00B050"/>
                </a:solidFill>
                <a:latin typeface="Tahoma"/>
                <a:cs typeface="Tahoma"/>
              </a:rPr>
              <a:t>eight</a:t>
            </a:r>
            <a:r>
              <a:rPr sz="1200" b="1" spc="-5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200" b="1" spc="-60" dirty="0">
                <a:solidFill>
                  <a:srgbClr val="00B050"/>
                </a:solidFill>
                <a:latin typeface="Tahoma"/>
                <a:cs typeface="Tahoma"/>
              </a:rPr>
              <a:t>possible</a:t>
            </a:r>
            <a:r>
              <a:rPr sz="1200" b="1" spc="-10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00B050"/>
                </a:solidFill>
                <a:latin typeface="Tahoma"/>
                <a:cs typeface="Tahoma"/>
              </a:rPr>
              <a:t>world</a:t>
            </a:r>
            <a:r>
              <a:rPr sz="1200" b="1" spc="-5" dirty="0">
                <a:solidFill>
                  <a:srgbClr val="00B050"/>
                </a:solidFill>
                <a:latin typeface="Tahoma"/>
                <a:cs typeface="Tahoma"/>
              </a:rPr>
              <a:t> </a:t>
            </a:r>
            <a:r>
              <a:rPr sz="1200" b="1" spc="-10" dirty="0">
                <a:solidFill>
                  <a:srgbClr val="00B050"/>
                </a:solidFill>
                <a:latin typeface="Tahoma"/>
                <a:cs typeface="Tahoma"/>
              </a:rPr>
              <a:t>states</a:t>
            </a:r>
            <a:r>
              <a:rPr sz="1200" spc="-10" dirty="0">
                <a:latin typeface="Tahoma"/>
                <a:cs typeface="Tahoma"/>
              </a:rPr>
              <a:t>. </a:t>
            </a:r>
            <a:endParaRPr lang="en-US" sz="1200">
              <a:latin typeface="Tahoma"/>
              <a:cs typeface="Tahoma"/>
            </a:endParaRPr>
          </a:p>
          <a:p>
            <a:pPr marL="12700" marR="662305">
              <a:lnSpc>
                <a:spcPct val="121100"/>
              </a:lnSpc>
              <a:spcBef>
                <a:spcPts val="100"/>
              </a:spcBef>
            </a:pPr>
            <a:r>
              <a:rPr sz="1200" spc="-50" dirty="0">
                <a:latin typeface="Tahoma"/>
                <a:cs typeface="Tahoma"/>
              </a:rPr>
              <a:t>There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are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C00000"/>
                </a:solidFill>
                <a:latin typeface="Tahoma"/>
                <a:cs typeface="Tahoma"/>
              </a:rPr>
              <a:t>three</a:t>
            </a:r>
            <a:r>
              <a:rPr sz="1200" b="1" spc="-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200" b="1" spc="-60" dirty="0">
                <a:solidFill>
                  <a:srgbClr val="C00000"/>
                </a:solidFill>
                <a:latin typeface="Tahoma"/>
                <a:cs typeface="Tahoma"/>
              </a:rPr>
              <a:t>possible</a:t>
            </a:r>
            <a:r>
              <a:rPr sz="1200" b="1" spc="-3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200" b="1" spc="-35" dirty="0">
                <a:solidFill>
                  <a:srgbClr val="C00000"/>
                </a:solidFill>
                <a:latin typeface="Tahoma"/>
                <a:cs typeface="Tahoma"/>
              </a:rPr>
              <a:t>actions</a:t>
            </a:r>
            <a:r>
              <a:rPr sz="1200" spc="-35" dirty="0">
                <a:latin typeface="Tahoma"/>
                <a:cs typeface="Tahoma"/>
              </a:rPr>
              <a:t>:</a:t>
            </a:r>
            <a:r>
              <a:rPr sz="1200" spc="9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left,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right, </a:t>
            </a:r>
            <a:r>
              <a:rPr sz="1200" spc="-55" dirty="0">
                <a:latin typeface="Tahoma"/>
                <a:cs typeface="Tahoma"/>
              </a:rPr>
              <a:t>and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suck.</a:t>
            </a:r>
            <a:endParaRPr sz="1200">
              <a:latin typeface="Tahoma"/>
              <a:cs typeface="Tahoma"/>
            </a:endParaRPr>
          </a:p>
          <a:p>
            <a:pPr marL="12700" marR="5080">
              <a:spcBef>
                <a:spcPts val="305"/>
              </a:spcBef>
            </a:pPr>
            <a:r>
              <a:rPr sz="1200" dirty="0">
                <a:latin typeface="Tahoma"/>
                <a:cs typeface="Tahoma"/>
              </a:rPr>
              <a:t>The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goal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clean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up </a:t>
            </a:r>
            <a:r>
              <a:rPr sz="1200" dirty="0">
                <a:latin typeface="Tahoma"/>
                <a:cs typeface="Tahoma"/>
              </a:rPr>
              <a:t>all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dirt,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i.e.,</a:t>
            </a:r>
            <a:r>
              <a:rPr sz="1200" spc="-45" dirty="0">
                <a:latin typeface="Tahoma"/>
                <a:cs typeface="Tahoma"/>
              </a:rPr>
              <a:t> </a:t>
            </a:r>
            <a:endParaRPr lang="en-US" sz="1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305"/>
              </a:spcBef>
            </a:pP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45" dirty="0">
                <a:latin typeface="Tahoma"/>
                <a:cs typeface="Tahoma"/>
              </a:rPr>
              <a:t> goal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equivalent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to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45" dirty="0">
                <a:latin typeface="Tahoma"/>
                <a:cs typeface="Tahoma"/>
              </a:rPr>
              <a:t> set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states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7,8.</a:t>
            </a:r>
            <a:endParaRPr sz="1200" dirty="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139" y="2460421"/>
            <a:ext cx="71526" cy="7152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5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6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32067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0" dirty="0"/>
              <a:t>Example</a:t>
            </a:r>
            <a:r>
              <a:rPr spc="-45" dirty="0"/>
              <a:t> </a:t>
            </a:r>
            <a:r>
              <a:rPr dirty="0"/>
              <a:t>-</a:t>
            </a:r>
            <a:r>
              <a:rPr spc="-85" dirty="0"/>
              <a:t> </a:t>
            </a:r>
            <a:r>
              <a:rPr spc="-75" dirty="0"/>
              <a:t>Route-</a:t>
            </a:r>
            <a:r>
              <a:rPr spc="-60" dirty="0"/>
              <a:t>Finding</a:t>
            </a:r>
            <a:r>
              <a:rPr spc="-65" dirty="0"/>
              <a:t> </a:t>
            </a:r>
            <a:r>
              <a:rPr dirty="0"/>
              <a:t>in</a:t>
            </a:r>
            <a:r>
              <a:rPr spc="-65" dirty="0"/>
              <a:t> </a:t>
            </a:r>
            <a:r>
              <a:rPr spc="-80" dirty="0"/>
              <a:t>Romania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221" y="352472"/>
            <a:ext cx="3924099" cy="17546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2219579"/>
            <a:ext cx="71526" cy="715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3298" y="2089899"/>
            <a:ext cx="3578860" cy="91122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2232660">
              <a:lnSpc>
                <a:spcPct val="121100"/>
              </a:lnSpc>
              <a:spcBef>
                <a:spcPts val="100"/>
              </a:spcBef>
            </a:pPr>
            <a:r>
              <a:rPr sz="1200" spc="-10" dirty="0">
                <a:latin typeface="Tahoma"/>
                <a:cs typeface="Tahoma"/>
              </a:rPr>
              <a:t>initial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states: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Arad </a:t>
            </a:r>
            <a:endParaRPr lang="en-US" sz="1200">
              <a:latin typeface="Tahoma"/>
              <a:cs typeface="Tahoma"/>
            </a:endParaRPr>
          </a:p>
          <a:p>
            <a:pPr marL="12700" marR="2232660">
              <a:lnSpc>
                <a:spcPct val="121100"/>
              </a:lnSpc>
              <a:spcBef>
                <a:spcPts val="100"/>
              </a:spcBef>
            </a:pPr>
            <a:r>
              <a:rPr sz="1200" spc="-45" dirty="0">
                <a:latin typeface="Tahoma"/>
                <a:cs typeface="Tahoma"/>
              </a:rPr>
              <a:t>goal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state: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Bucharest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21100"/>
              </a:lnSpc>
            </a:pPr>
            <a:r>
              <a:rPr sz="1200" spc="-55" dirty="0">
                <a:latin typeface="Tahoma"/>
                <a:cs typeface="Tahoma"/>
              </a:rPr>
              <a:t>operators:</a:t>
            </a:r>
            <a:r>
              <a:rPr sz="1200" spc="10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successor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function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S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200" i="1" dirty="0">
                <a:latin typeface="Trebuchet MS"/>
                <a:cs typeface="Trebuchet MS"/>
              </a:rPr>
              <a:t>x</a:t>
            </a:r>
            <a:r>
              <a:rPr sz="1200" i="1" spc="-254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set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possible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actions </a:t>
            </a:r>
            <a:r>
              <a:rPr sz="1200" spc="-30" dirty="0">
                <a:latin typeface="Tahoma"/>
                <a:cs typeface="Tahoma"/>
              </a:rPr>
              <a:t>path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cost: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function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that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assigns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cost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path.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139" y="2441003"/>
            <a:ext cx="71526" cy="715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139" y="2662428"/>
            <a:ext cx="71526" cy="7152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0139" y="2883839"/>
            <a:ext cx="71526" cy="7152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7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7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0" dirty="0"/>
              <a:t>Example</a:t>
            </a:r>
            <a:r>
              <a:rPr spc="-45" dirty="0"/>
              <a:t> </a:t>
            </a:r>
            <a:r>
              <a:rPr dirty="0"/>
              <a:t>-</a:t>
            </a:r>
            <a:r>
              <a:rPr spc="-35" dirty="0"/>
              <a:t> The</a:t>
            </a:r>
            <a:r>
              <a:rPr spc="-40" dirty="0"/>
              <a:t> </a:t>
            </a:r>
            <a:r>
              <a:rPr spc="-100" dirty="0"/>
              <a:t>8-</a:t>
            </a:r>
            <a:r>
              <a:rPr spc="-90" dirty="0"/>
              <a:t>puzzle</a:t>
            </a:r>
            <a:r>
              <a:rPr spc="-35" dirty="0"/>
              <a:t> </a:t>
            </a:r>
            <a:r>
              <a:rPr spc="-100" dirty="0"/>
              <a:t>problem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62" y="453617"/>
            <a:ext cx="3226244" cy="140044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2072881"/>
            <a:ext cx="71526" cy="715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3298" y="1982404"/>
            <a:ext cx="3884929" cy="1236236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spc="-45" dirty="0">
                <a:latin typeface="Tahoma"/>
                <a:cs typeface="Tahoma"/>
              </a:rPr>
              <a:t>states: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state</a:t>
            </a:r>
            <a:r>
              <a:rPr sz="1200" spc="-50" dirty="0">
                <a:latin typeface="Tahoma"/>
                <a:cs typeface="Tahoma"/>
              </a:rPr>
              <a:t> description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specifies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location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each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the </a:t>
            </a:r>
            <a:r>
              <a:rPr sz="1200" spc="-40" dirty="0">
                <a:solidFill>
                  <a:srgbClr val="C00000"/>
                </a:solidFill>
                <a:latin typeface="Tahoma"/>
                <a:cs typeface="Tahoma"/>
              </a:rPr>
              <a:t>eight</a:t>
            </a:r>
            <a:r>
              <a:rPr sz="1200" spc="-5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C00000"/>
                </a:solidFill>
                <a:latin typeface="Tahoma"/>
                <a:cs typeface="Tahoma"/>
              </a:rPr>
              <a:t>tiles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one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40" dirty="0">
                <a:latin typeface="Tahoma"/>
                <a:cs typeface="Tahoma"/>
              </a:rPr>
              <a:t> the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60" dirty="0">
                <a:solidFill>
                  <a:srgbClr val="C00000"/>
                </a:solidFill>
                <a:latin typeface="Tahoma"/>
                <a:cs typeface="Tahoma"/>
              </a:rPr>
              <a:t>nine</a:t>
            </a:r>
            <a:r>
              <a:rPr sz="1200" spc="-3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200" spc="-65" dirty="0">
                <a:solidFill>
                  <a:srgbClr val="C00000"/>
                </a:solidFill>
                <a:latin typeface="Tahoma"/>
                <a:cs typeface="Tahoma"/>
              </a:rPr>
              <a:t>squares</a:t>
            </a:r>
            <a:r>
              <a:rPr sz="1200" spc="-65" dirty="0">
                <a:latin typeface="Tahoma"/>
                <a:cs typeface="Tahoma"/>
              </a:rPr>
              <a:t>.</a:t>
            </a:r>
            <a:r>
              <a:rPr sz="1200" spc="6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For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efficiency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also </a:t>
            </a:r>
            <a:r>
              <a:rPr sz="1200" spc="-70" dirty="0">
                <a:latin typeface="Tahoma"/>
                <a:cs typeface="Tahoma"/>
              </a:rPr>
              <a:t>useful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include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location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for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 </a:t>
            </a:r>
            <a:r>
              <a:rPr sz="1200" spc="-10" dirty="0">
                <a:latin typeface="Tahoma"/>
                <a:cs typeface="Tahoma"/>
              </a:rPr>
              <a:t>blank.</a:t>
            </a:r>
            <a:endParaRPr sz="1200">
              <a:latin typeface="Tahoma"/>
              <a:cs typeface="Tahoma"/>
            </a:endParaRPr>
          </a:p>
          <a:p>
            <a:pPr marL="12700" marR="959485">
              <a:lnSpc>
                <a:spcPct val="121100"/>
              </a:lnSpc>
              <a:spcBef>
                <a:spcPts val="10"/>
              </a:spcBef>
            </a:pPr>
            <a:r>
              <a:rPr sz="1200" spc="-55" dirty="0">
                <a:latin typeface="Tahoma"/>
                <a:cs typeface="Tahoma"/>
              </a:rPr>
              <a:t>operators:</a:t>
            </a:r>
            <a:r>
              <a:rPr sz="1200" spc="4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blank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moves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left,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right,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up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or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down. </a:t>
            </a:r>
            <a:endParaRPr lang="en-US" sz="1200">
              <a:latin typeface="Tahoma"/>
              <a:cs typeface="Tahoma"/>
            </a:endParaRPr>
          </a:p>
          <a:p>
            <a:pPr marL="12700" marR="959485">
              <a:lnSpc>
                <a:spcPct val="121100"/>
              </a:lnSpc>
              <a:spcBef>
                <a:spcPts val="10"/>
              </a:spcBef>
            </a:pPr>
            <a:r>
              <a:rPr sz="1200" spc="-45" dirty="0">
                <a:latin typeface="Tahoma"/>
                <a:cs typeface="Tahoma"/>
              </a:rPr>
              <a:t>goal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test: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as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figure</a:t>
            </a:r>
            <a:endParaRPr sz="12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spc="-30" dirty="0">
                <a:latin typeface="Tahoma"/>
                <a:cs typeface="Tahoma"/>
              </a:rPr>
              <a:t>path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cost: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length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path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139" y="2661221"/>
            <a:ext cx="71526" cy="715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139" y="2882633"/>
            <a:ext cx="71526" cy="7152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0139" y="3104057"/>
            <a:ext cx="71526" cy="7152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7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8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BAC04-48B4-48C1-8BD4-2D31A9E0D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60904"/>
            <a:ext cx="3427095" cy="28829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en-US" b="0" i="0" dirty="0">
                <a:latin typeface="Tahoma"/>
                <a:ea typeface="+mj-ea"/>
                <a:cs typeface="Tahoma"/>
              </a:rPr>
              <a:t>Space tree</a:t>
            </a:r>
            <a:r>
              <a:rPr lang="en-US" dirty="0"/>
              <a:t> of 8 puzzle problem</a:t>
            </a:r>
            <a:endParaRPr lang="en-US" b="0" i="0" dirty="0">
              <a:latin typeface="Tahoma"/>
              <a:ea typeface="+mj-ea"/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BD236A-4136-85DF-C226-245CC269D5E9}"/>
              </a:ext>
            </a:extLst>
          </p:cNvPr>
          <p:cNvSpPr txBox="1"/>
          <p:nvPr/>
        </p:nvSpPr>
        <p:spPr>
          <a:xfrm>
            <a:off x="96527" y="795972"/>
            <a:ext cx="1469477" cy="2284095"/>
          </a:xfrm>
          <a:prstGeom prst="rect">
            <a:avLst/>
          </a:prstGeom>
        </p:spPr>
        <p:txBody>
          <a:bodyPr rot="0" spcFirstLastPara="0" vertOverflow="overflow" horzOverflow="overflow" vert="horz" wrap="square" lIns="0" tIns="0" rIns="0" bIns="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800" b="0" i="0" dirty="0">
                <a:solidFill>
                  <a:schemeClr val="tx1"/>
                </a:solidFill>
                <a:highlight>
                  <a:srgbClr val="FFFFFF"/>
                </a:highlight>
                <a:latin typeface="Tahoma"/>
                <a:ea typeface="+mn-ea"/>
                <a:cs typeface="Tahoma"/>
              </a:rPr>
              <a:t>Step by step approach:</a:t>
            </a:r>
          </a:p>
          <a:p>
            <a:pPr>
              <a:lnSpc>
                <a:spcPct val="90000"/>
              </a:lnSpc>
              <a:spcAft>
                <a:spcPts val="600"/>
              </a:spcAft>
              <a:buFont typeface=""/>
              <a:buChar char="•"/>
            </a:pPr>
            <a:r>
              <a:rPr lang="en-US" sz="800" b="0" i="0" dirty="0">
                <a:solidFill>
                  <a:schemeClr val="tx1"/>
                </a:solidFill>
                <a:highlight>
                  <a:srgbClr val="FFFFFF"/>
                </a:highlight>
                <a:latin typeface="Tahoma"/>
                <a:ea typeface="+mn-ea"/>
                <a:cs typeface="Tahoma"/>
              </a:rPr>
              <a:t>Start from the root node.</a:t>
            </a:r>
            <a:endParaRPr lang="en-US" sz="800" b="0" i="0" dirty="0">
              <a:solidFill>
                <a:schemeClr val="tx1"/>
              </a:solidFill>
              <a:highlight>
                <a:srgbClr val="FFFFFF"/>
              </a:highlight>
              <a:latin typeface="Tahoma"/>
              <a:ea typeface="Tahoma"/>
              <a:cs typeface="Tahoma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Font typeface=""/>
              <a:buChar char="•"/>
            </a:pPr>
            <a:r>
              <a:rPr lang="en-US" sz="800" b="0" i="0" dirty="0">
                <a:solidFill>
                  <a:schemeClr val="tx1"/>
                </a:solidFill>
                <a:highlight>
                  <a:srgbClr val="FFFFFF"/>
                </a:highlight>
                <a:latin typeface="Tahoma"/>
                <a:ea typeface="+mn-ea"/>
                <a:cs typeface="Tahoma"/>
              </a:rPr>
              <a:t>Explore the leftmost child node recursively until you reach a leaf node or a goal state.</a:t>
            </a:r>
            <a:endParaRPr lang="en-US" sz="800" b="0" i="0" dirty="0">
              <a:solidFill>
                <a:schemeClr val="tx1"/>
              </a:solidFill>
              <a:highlight>
                <a:srgbClr val="FFFFFF"/>
              </a:highlight>
              <a:latin typeface="Tahoma"/>
              <a:ea typeface="Tahoma"/>
              <a:cs typeface="Tahoma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Font typeface=""/>
              <a:buChar char="•"/>
            </a:pPr>
            <a:r>
              <a:rPr lang="en-US" sz="800" b="0" i="0" dirty="0">
                <a:solidFill>
                  <a:schemeClr val="tx1"/>
                </a:solidFill>
                <a:highlight>
                  <a:srgbClr val="FFFFFF"/>
                </a:highlight>
                <a:latin typeface="Tahoma"/>
                <a:ea typeface="+mn-ea"/>
                <a:cs typeface="Tahoma"/>
              </a:rPr>
              <a:t>If a goal state is reached, return the solution.</a:t>
            </a:r>
            <a:endParaRPr lang="en-US" sz="800" b="0" i="0" dirty="0">
              <a:solidFill>
                <a:schemeClr val="tx1"/>
              </a:solidFill>
              <a:highlight>
                <a:srgbClr val="FFFFFF"/>
              </a:highlight>
              <a:latin typeface="Tahoma"/>
              <a:ea typeface="Tahoma"/>
              <a:cs typeface="Tahoma"/>
            </a:endParaRPr>
          </a:p>
          <a:p>
            <a:pPr>
              <a:lnSpc>
                <a:spcPct val="90000"/>
              </a:lnSpc>
              <a:spcAft>
                <a:spcPts val="600"/>
              </a:spcAft>
              <a:buFont typeface=""/>
              <a:buChar char="•"/>
            </a:pPr>
            <a:r>
              <a:rPr lang="en-US" sz="800" b="0" i="0" dirty="0">
                <a:solidFill>
                  <a:schemeClr val="tx1"/>
                </a:solidFill>
                <a:highlight>
                  <a:srgbClr val="FFFFFF"/>
                </a:highlight>
                <a:latin typeface="Tahoma"/>
                <a:ea typeface="+mn-ea"/>
                <a:cs typeface="Tahoma"/>
              </a:rPr>
              <a:t>If a leaf node is reached without finding a solution, backtrack to explore other branches</a:t>
            </a:r>
            <a:endParaRPr lang="en-US" sz="800" b="0" i="0" dirty="0">
              <a:solidFill>
                <a:schemeClr val="tx1"/>
              </a:solidFill>
              <a:highlight>
                <a:srgbClr val="FFFFFF"/>
              </a:highlight>
              <a:latin typeface="Tahoma"/>
              <a:ea typeface="Tahoma"/>
              <a:cs typeface="Tahoma"/>
            </a:endParaRPr>
          </a:p>
        </p:txBody>
      </p:sp>
      <p:pic>
        <p:nvPicPr>
          <p:cNvPr id="4" name="Picture 3" descr="image(6)">
            <a:extLst>
              <a:ext uri="{FF2B5EF4-FFF2-40B4-BE49-F238E27FC236}">
                <a16:creationId xmlns:a16="http://schemas.microsoft.com/office/drawing/2014/main" id="{22FB6B12-AED2-12E6-58D0-CD115A862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232" y="654263"/>
            <a:ext cx="3046774" cy="20987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30583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0" dirty="0"/>
              <a:t>Example</a:t>
            </a:r>
            <a:r>
              <a:rPr spc="-45" dirty="0"/>
              <a:t> </a:t>
            </a:r>
            <a:r>
              <a:rPr dirty="0"/>
              <a:t>-</a:t>
            </a:r>
            <a:r>
              <a:rPr spc="-35" dirty="0"/>
              <a:t> The</a:t>
            </a:r>
            <a:r>
              <a:rPr spc="-30" dirty="0"/>
              <a:t> </a:t>
            </a:r>
            <a:r>
              <a:rPr spc="-125" dirty="0"/>
              <a:t>8-</a:t>
            </a:r>
            <a:r>
              <a:rPr spc="-140" dirty="0"/>
              <a:t>queens</a:t>
            </a:r>
            <a:r>
              <a:rPr spc="5" dirty="0"/>
              <a:t> </a:t>
            </a:r>
            <a:r>
              <a:rPr spc="-10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66" y="445716"/>
            <a:ext cx="415925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ahoma"/>
                <a:cs typeface="Tahoma"/>
              </a:rPr>
              <a:t>The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goal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this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problem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place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8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0" dirty="0">
                <a:latin typeface="Tahoma"/>
                <a:cs typeface="Tahoma"/>
              </a:rPr>
              <a:t>queens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on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board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so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that </a:t>
            </a:r>
            <a:r>
              <a:rPr sz="1200" spc="-80" dirty="0">
                <a:latin typeface="Tahoma"/>
                <a:cs typeface="Tahoma"/>
              </a:rPr>
              <a:t>none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can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attack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others.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following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not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solution!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218" y="835867"/>
            <a:ext cx="3232551" cy="14332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2456764"/>
            <a:ext cx="71526" cy="7152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3298" y="2330018"/>
            <a:ext cx="3371215" cy="899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08965">
              <a:lnSpc>
                <a:spcPct val="119500"/>
              </a:lnSpc>
              <a:spcBef>
                <a:spcPts val="100"/>
              </a:spcBef>
            </a:pPr>
            <a:r>
              <a:rPr sz="1200" spc="-45" dirty="0">
                <a:latin typeface="Tahoma"/>
                <a:cs typeface="Tahoma"/>
              </a:rPr>
              <a:t>goal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test: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8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0" dirty="0">
                <a:latin typeface="Tahoma"/>
                <a:cs typeface="Tahoma"/>
              </a:rPr>
              <a:t>queens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on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board,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none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attacked </a:t>
            </a:r>
            <a:r>
              <a:rPr sz="1200" spc="-30" dirty="0">
                <a:latin typeface="Tahoma"/>
                <a:cs typeface="Tahoma"/>
              </a:rPr>
              <a:t>path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cost: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irrelevant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19500"/>
              </a:lnSpc>
            </a:pPr>
            <a:r>
              <a:rPr sz="1200" spc="-45" dirty="0">
                <a:latin typeface="Tahoma"/>
                <a:cs typeface="Tahoma"/>
              </a:rPr>
              <a:t>states: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any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arrangement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0-</a:t>
            </a:r>
            <a:r>
              <a:rPr sz="1200" dirty="0">
                <a:latin typeface="Tahoma"/>
                <a:cs typeface="Tahoma"/>
              </a:rPr>
              <a:t>8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0" dirty="0">
                <a:latin typeface="Tahoma"/>
                <a:cs typeface="Tahoma"/>
              </a:rPr>
              <a:t>queens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on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board </a:t>
            </a:r>
            <a:r>
              <a:rPr sz="1200" spc="-55" dirty="0">
                <a:latin typeface="Tahoma"/>
                <a:cs typeface="Tahoma"/>
              </a:rPr>
              <a:t>operators: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add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or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remove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queen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to/from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any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square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139" y="2675255"/>
            <a:ext cx="71526" cy="7152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139" y="2893733"/>
            <a:ext cx="71526" cy="7152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0139" y="3112211"/>
            <a:ext cx="71526" cy="7152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7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272326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A0000"/>
                </a:solidFill>
                <a:latin typeface="Arial MT"/>
                <a:cs typeface="Arial MT"/>
              </a:rPr>
              <a:t>11</a:t>
            </a:r>
            <a:r>
              <a:rPr sz="600" spc="25" dirty="0">
                <a:solidFill>
                  <a:srgbClr val="7A0000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A0000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A0000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A0000"/>
                </a:solidFill>
                <a:latin typeface="Arial MT"/>
                <a:cs typeface="Arial MT"/>
              </a:rPr>
              <a:t>37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552C4-B3A4-D682-87C9-323537276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60904"/>
            <a:ext cx="3427095" cy="288290"/>
          </a:xfrm>
        </p:spPr>
        <p:txBody>
          <a:bodyPr wrap="square" lIns="0" tIns="0" rIns="0" bIns="0">
            <a:normAutofit/>
          </a:bodyPr>
          <a:lstStyle/>
          <a:p>
            <a:r>
              <a:rPr lang="en-US"/>
              <a:t>Possible solution</a:t>
            </a:r>
            <a:endParaRPr lang="en-US" dirty="0"/>
          </a:p>
        </p:txBody>
      </p:sp>
      <p:pic>
        <p:nvPicPr>
          <p:cNvPr id="4" name="Picture 3" descr="N-Queens Problem">
            <a:extLst>
              <a:ext uri="{FF2B5EF4-FFF2-40B4-BE49-F238E27FC236}">
                <a16:creationId xmlns:a16="http://schemas.microsoft.com/office/drawing/2014/main" id="{8E8D00B7-9351-CBAE-400E-38B1CF836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142" y="518642"/>
            <a:ext cx="2005393" cy="2144805"/>
          </a:xfrm>
          <a:prstGeom prst="rect">
            <a:avLst/>
          </a:prstGeom>
          <a:noFill/>
        </p:spPr>
      </p:pic>
      <p:pic>
        <p:nvPicPr>
          <p:cNvPr id="8" name="Picture 7" descr="N-Queens Problem">
            <a:extLst>
              <a:ext uri="{FF2B5EF4-FFF2-40B4-BE49-F238E27FC236}">
                <a16:creationId xmlns:a16="http://schemas.microsoft.com/office/drawing/2014/main" id="{A59BCAB3-229E-2951-4C88-A6A27F249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25" y="436540"/>
            <a:ext cx="2010575" cy="289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32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State</a:t>
            </a:r>
            <a:r>
              <a:rPr spc="-55" dirty="0"/>
              <a:t> </a:t>
            </a:r>
            <a:r>
              <a:rPr spc="-125" dirty="0"/>
              <a:t>space</a:t>
            </a:r>
            <a:r>
              <a:rPr spc="-10" dirty="0"/>
              <a:t> </a:t>
            </a:r>
            <a:r>
              <a:rPr spc="-95" dirty="0"/>
              <a:t>graph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1560626"/>
            <a:ext cx="71526" cy="715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1782038"/>
            <a:ext cx="71526" cy="715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139" y="2003463"/>
            <a:ext cx="71526" cy="715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139" y="2224875"/>
            <a:ext cx="71526" cy="7152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666" y="1065260"/>
            <a:ext cx="4322100" cy="1275029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ahoma"/>
                <a:cs typeface="Tahoma"/>
              </a:rPr>
              <a:t>A</a:t>
            </a:r>
            <a:r>
              <a:rPr sz="1200" spc="-35" dirty="0">
                <a:latin typeface="Tahoma"/>
                <a:cs typeface="Tahoma"/>
              </a:rPr>
              <a:t> state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space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graph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b="1" spc="-50" dirty="0">
                <a:solidFill>
                  <a:srgbClr val="C00000"/>
                </a:solidFill>
                <a:latin typeface="Tahoma"/>
                <a:cs typeface="Tahoma"/>
              </a:rPr>
              <a:t>mathematical</a:t>
            </a:r>
            <a:r>
              <a:rPr sz="1200" b="1" spc="-20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200" b="1" spc="-65" dirty="0">
                <a:solidFill>
                  <a:srgbClr val="C00000"/>
                </a:solidFill>
                <a:latin typeface="Tahoma"/>
                <a:cs typeface="Tahoma"/>
              </a:rPr>
              <a:t>representation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search </a:t>
            </a:r>
            <a:r>
              <a:rPr sz="1200" spc="-10" dirty="0">
                <a:latin typeface="Tahoma"/>
                <a:cs typeface="Tahoma"/>
              </a:rPr>
              <a:t>problem.</a:t>
            </a:r>
            <a:endParaRPr sz="1200">
              <a:latin typeface="Tahoma"/>
              <a:cs typeface="Tahoma"/>
            </a:endParaRPr>
          </a:p>
          <a:p>
            <a:pPr marL="309880" marR="764540">
              <a:lnSpc>
                <a:spcPct val="121100"/>
              </a:lnSpc>
              <a:spcBef>
                <a:spcPts val="5"/>
              </a:spcBef>
            </a:pPr>
            <a:r>
              <a:rPr sz="1200" b="1" spc="-55" dirty="0">
                <a:solidFill>
                  <a:srgbClr val="C00000"/>
                </a:solidFill>
                <a:latin typeface="Tahoma"/>
                <a:cs typeface="Tahoma"/>
              </a:rPr>
              <a:t>Nodes</a:t>
            </a:r>
            <a:r>
              <a:rPr sz="1200" b="1" spc="-15" dirty="0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are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(abstracted)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world</a:t>
            </a:r>
            <a:r>
              <a:rPr sz="1200" spc="-10" dirty="0">
                <a:latin typeface="Tahoma"/>
                <a:cs typeface="Tahoma"/>
              </a:rPr>
              <a:t> configurations </a:t>
            </a:r>
            <a:endParaRPr lang="en-US" sz="1200">
              <a:solidFill>
                <a:srgbClr val="000000"/>
              </a:solidFill>
              <a:latin typeface="Tahoma"/>
              <a:cs typeface="Tahoma"/>
            </a:endParaRPr>
          </a:p>
          <a:p>
            <a:pPr marL="309880" marR="764540">
              <a:lnSpc>
                <a:spcPct val="121100"/>
              </a:lnSpc>
              <a:spcBef>
                <a:spcPts val="5"/>
              </a:spcBef>
            </a:pPr>
            <a:r>
              <a:rPr sz="1200" b="1" i="1" u="sng" spc="-10" dirty="0">
                <a:solidFill>
                  <a:srgbClr val="C00000"/>
                </a:solidFill>
                <a:latin typeface="Tahoma"/>
                <a:cs typeface="Tahoma"/>
              </a:rPr>
              <a:t>Arcs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represent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transitions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resulting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from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actions </a:t>
            </a:r>
            <a:endParaRPr lang="en-US" sz="1200" dirty="0">
              <a:latin typeface="Tahoma"/>
              <a:cs typeface="Tahoma"/>
            </a:endParaRPr>
          </a:p>
          <a:p>
            <a:pPr marL="309880" marR="764540">
              <a:lnSpc>
                <a:spcPct val="121100"/>
              </a:lnSpc>
              <a:spcBef>
                <a:spcPts val="5"/>
              </a:spcBef>
            </a:pPr>
            <a:r>
              <a:rPr sz="1200" dirty="0">
                <a:latin typeface="Tahoma"/>
                <a:cs typeface="Tahoma"/>
              </a:rPr>
              <a:t>The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goal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test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set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goal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nodes</a:t>
            </a:r>
            <a:endParaRPr sz="1200" dirty="0">
              <a:latin typeface="Tahoma"/>
              <a:cs typeface="Tahoma"/>
            </a:endParaRPr>
          </a:p>
          <a:p>
            <a:pPr marL="309880">
              <a:lnSpc>
                <a:spcPct val="100000"/>
              </a:lnSpc>
              <a:spcBef>
                <a:spcPts val="300"/>
              </a:spcBef>
            </a:pPr>
            <a:r>
              <a:rPr sz="1200" spc="-20" dirty="0">
                <a:latin typeface="Tahoma"/>
                <a:cs typeface="Tahoma"/>
              </a:rPr>
              <a:t>Each</a:t>
            </a:r>
            <a:r>
              <a:rPr sz="1200" spc="-35" dirty="0">
                <a:latin typeface="Tahoma"/>
                <a:cs typeface="Tahoma"/>
              </a:rPr>
              <a:t> state </a:t>
            </a:r>
            <a:r>
              <a:rPr sz="1200" spc="-50" dirty="0">
                <a:latin typeface="Tahoma"/>
                <a:cs typeface="Tahoma"/>
              </a:rPr>
              <a:t>occurs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only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once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6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12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04"/>
            <a:ext cx="33299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35" dirty="0">
                <a:solidFill>
                  <a:srgbClr val="CC0000"/>
                </a:solidFill>
                <a:latin typeface="Tahoma"/>
                <a:cs typeface="Tahoma"/>
              </a:rPr>
              <a:t>The</a:t>
            </a:r>
            <a:r>
              <a:rPr sz="1700" spc="-9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70" dirty="0">
                <a:solidFill>
                  <a:srgbClr val="CC0000"/>
                </a:solidFill>
                <a:latin typeface="Tahoma"/>
                <a:cs typeface="Tahoma"/>
              </a:rPr>
              <a:t>state</a:t>
            </a:r>
            <a:r>
              <a:rPr sz="1700" spc="-3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30" dirty="0">
                <a:solidFill>
                  <a:srgbClr val="CC0000"/>
                </a:solidFill>
                <a:latin typeface="Tahoma"/>
                <a:cs typeface="Tahoma"/>
              </a:rPr>
              <a:t>space</a:t>
            </a:r>
            <a:r>
              <a:rPr sz="1700" spc="-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75" dirty="0">
                <a:solidFill>
                  <a:srgbClr val="CC0000"/>
                </a:solidFill>
                <a:latin typeface="Tahoma"/>
                <a:cs typeface="Tahoma"/>
              </a:rPr>
              <a:t>for</a:t>
            </a:r>
            <a:r>
              <a:rPr sz="1700" spc="-3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80" dirty="0">
                <a:solidFill>
                  <a:srgbClr val="CC0000"/>
                </a:solidFill>
                <a:latin typeface="Tahoma"/>
                <a:cs typeface="Tahoma"/>
              </a:rPr>
              <a:t>the</a:t>
            </a:r>
            <a:r>
              <a:rPr sz="1700" spc="-3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14" dirty="0">
                <a:solidFill>
                  <a:srgbClr val="CC0000"/>
                </a:solidFill>
                <a:latin typeface="Tahoma"/>
                <a:cs typeface="Tahoma"/>
              </a:rPr>
              <a:t>vacuum</a:t>
            </a:r>
            <a:r>
              <a:rPr sz="1700" spc="-2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80" dirty="0">
                <a:solidFill>
                  <a:srgbClr val="CC0000"/>
                </a:solidFill>
                <a:latin typeface="Tahoma"/>
                <a:cs typeface="Tahoma"/>
              </a:rPr>
              <a:t>world.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66" y="717922"/>
            <a:ext cx="3959829" cy="216003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13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5" dirty="0"/>
              <a:t>Searching</a:t>
            </a:r>
            <a:r>
              <a:rPr spc="-5" dirty="0"/>
              <a:t> </a:t>
            </a:r>
            <a:r>
              <a:rPr spc="-75" dirty="0"/>
              <a:t>for</a:t>
            </a:r>
            <a:r>
              <a:rPr dirty="0"/>
              <a:t> </a:t>
            </a:r>
            <a:r>
              <a:rPr spc="-70" dirty="0"/>
              <a:t>Solutions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672414"/>
            <a:ext cx="71526" cy="715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7418" y="581936"/>
            <a:ext cx="4392350" cy="2566728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065" rIns="0" bIns="0" rtlCol="0" anchor="t">
            <a:spAutoFit/>
          </a:bodyPr>
          <a:lstStyle/>
          <a:p>
            <a:pPr marL="12700" marR="69215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ahoma"/>
                <a:cs typeface="Tahoma"/>
              </a:rPr>
              <a:t>We</a:t>
            </a:r>
            <a:r>
              <a:rPr sz="1200" spc="-45" dirty="0">
                <a:latin typeface="Tahoma"/>
                <a:cs typeface="Tahoma"/>
              </a:rPr>
              <a:t> can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100" dirty="0">
                <a:latin typeface="Tahoma"/>
                <a:cs typeface="Tahoma"/>
              </a:rPr>
              <a:t>use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200" b="1" spc="-30" dirty="0">
                <a:solidFill>
                  <a:srgbClr val="C00000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search</a:t>
            </a:r>
            <a:r>
              <a:rPr sz="1200" b="1" spc="10" dirty="0">
                <a:solidFill>
                  <a:srgbClr val="C00000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C00000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algorithms</a:t>
            </a:r>
            <a:r>
              <a:rPr sz="1200" b="1" spc="-30" dirty="0">
                <a:solidFill>
                  <a:srgbClr val="C00000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find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solution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search </a:t>
            </a:r>
            <a:r>
              <a:rPr sz="1200" spc="-10" dirty="0">
                <a:latin typeface="Tahoma"/>
                <a:cs typeface="Tahoma"/>
              </a:rPr>
              <a:t>problem.</a:t>
            </a:r>
            <a:endParaRPr sz="1200">
              <a:latin typeface="Tahoma"/>
              <a:cs typeface="Tahoma"/>
            </a:endParaRPr>
          </a:p>
          <a:p>
            <a:pPr marL="184150" marR="133985" indent="-171450">
              <a:lnSpc>
                <a:spcPct val="100000"/>
              </a:lnSpc>
              <a:spcBef>
                <a:spcPts val="305"/>
              </a:spcBef>
              <a:buFont typeface="Arial"/>
              <a:buChar char="•"/>
            </a:pPr>
            <a:r>
              <a:rPr sz="1200" spc="-110" dirty="0">
                <a:latin typeface="Tahoma"/>
                <a:cs typeface="Tahoma"/>
              </a:rPr>
              <a:t>In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particular,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35" dirty="0">
                <a:latin typeface="Tahoma"/>
                <a:cs typeface="Tahoma"/>
              </a:rPr>
              <a:t>we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can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find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a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path</a:t>
            </a:r>
            <a:r>
              <a:rPr sz="1200" b="1" spc="2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(i.e.</a:t>
            </a:r>
            <a:r>
              <a:rPr sz="1200" b="1" spc="150" dirty="0">
                <a:latin typeface="Trebuchet MS"/>
                <a:cs typeface="Trebuchet MS"/>
              </a:rPr>
              <a:t> </a:t>
            </a:r>
            <a:r>
              <a:rPr sz="1200" b="1" spc="-40" dirty="0">
                <a:latin typeface="Trebuchet MS"/>
                <a:cs typeface="Trebuchet MS"/>
              </a:rPr>
              <a:t>sequence</a:t>
            </a:r>
            <a:r>
              <a:rPr sz="1200" b="1" spc="2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of</a:t>
            </a:r>
            <a:r>
              <a:rPr sz="1200" b="1" spc="2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actions) </a:t>
            </a:r>
            <a:r>
              <a:rPr sz="1200" b="1" dirty="0">
                <a:latin typeface="Trebuchet MS"/>
                <a:cs typeface="Trebuchet MS"/>
              </a:rPr>
              <a:t>from</a:t>
            </a:r>
            <a:r>
              <a:rPr sz="1200" b="1" spc="-1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the</a:t>
            </a:r>
            <a:r>
              <a:rPr sz="1200" b="1" spc="-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start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state</a:t>
            </a:r>
            <a:r>
              <a:rPr sz="1200" b="1" spc="-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to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the</a:t>
            </a:r>
            <a:r>
              <a:rPr sz="1200" b="1" spc="-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goal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state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state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space graph.</a:t>
            </a:r>
            <a:endParaRPr sz="1200">
              <a:latin typeface="Tahoma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315"/>
              </a:spcBef>
              <a:buFont typeface="Arial"/>
              <a:buChar char="•"/>
            </a:pPr>
            <a:r>
              <a:rPr sz="1200" spc="-65" dirty="0">
                <a:latin typeface="Tahoma"/>
                <a:cs typeface="Tahoma"/>
              </a:rPr>
              <a:t>Search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algorithms</a:t>
            </a:r>
            <a:r>
              <a:rPr sz="1200" spc="-45" dirty="0">
                <a:latin typeface="Tahoma"/>
                <a:cs typeface="Tahoma"/>
              </a:rPr>
              <a:t> can</a:t>
            </a:r>
            <a:r>
              <a:rPr sz="1200" spc="-50" dirty="0">
                <a:latin typeface="Tahoma"/>
                <a:cs typeface="Tahoma"/>
              </a:rPr>
              <a:t> be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b="1" u="sng" spc="-40" dirty="0">
                <a:solidFill>
                  <a:srgbClr val="C00000"/>
                </a:solidFill>
                <a:latin typeface="Trebuchet MS"/>
                <a:cs typeface="Trebuchet MS"/>
              </a:rPr>
              <a:t>uninformed</a:t>
            </a:r>
            <a:r>
              <a:rPr sz="1200" b="1" u="sng" spc="-1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1200" b="1" u="sng" spc="-30" dirty="0">
                <a:solidFill>
                  <a:srgbClr val="C00000"/>
                </a:solidFill>
                <a:latin typeface="Trebuchet MS"/>
                <a:cs typeface="Trebuchet MS"/>
              </a:rPr>
              <a:t>search</a:t>
            </a:r>
            <a:r>
              <a:rPr sz="1200" b="1" spc="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methods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ahoma"/>
                <a:cs typeface="Tahoma"/>
              </a:rPr>
              <a:t>or</a:t>
            </a:r>
            <a:endParaRPr sz="1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b="1" u="sng" spc="-35" dirty="0">
                <a:solidFill>
                  <a:srgbClr val="C00000"/>
                </a:solidFill>
                <a:latin typeface="Trebuchet MS"/>
                <a:cs typeface="Trebuchet MS"/>
              </a:rPr>
              <a:t>informed</a:t>
            </a:r>
            <a:r>
              <a:rPr sz="1200" b="1" u="sng" spc="-30" dirty="0">
                <a:solidFill>
                  <a:srgbClr val="C00000"/>
                </a:solidFill>
                <a:latin typeface="Trebuchet MS"/>
                <a:cs typeface="Trebuchet MS"/>
              </a:rPr>
              <a:t> search</a:t>
            </a:r>
            <a:r>
              <a:rPr sz="1200" b="1" spc="-3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methods.</a:t>
            </a:r>
            <a:endParaRPr sz="1200">
              <a:latin typeface="Trebuchet MS"/>
              <a:cs typeface="Trebuchet MS"/>
            </a:endParaRPr>
          </a:p>
          <a:p>
            <a:pPr marL="184150" marR="5080" indent="-171450">
              <a:lnSpc>
                <a:spcPct val="100000"/>
              </a:lnSpc>
              <a:spcBef>
                <a:spcPts val="305"/>
              </a:spcBef>
              <a:buFont typeface="Arial"/>
              <a:buChar char="•"/>
            </a:pPr>
            <a:r>
              <a:rPr sz="120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solution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35" dirty="0">
                <a:latin typeface="Tahoma"/>
                <a:cs typeface="Tahoma"/>
              </a:rPr>
              <a:t> an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action</a:t>
            </a:r>
            <a:r>
              <a:rPr sz="1200" b="1" spc="25" dirty="0">
                <a:latin typeface="Trebuchet MS"/>
                <a:cs typeface="Trebuchet MS"/>
              </a:rPr>
              <a:t> </a:t>
            </a:r>
            <a:r>
              <a:rPr sz="1200" b="1" spc="-45" dirty="0">
                <a:latin typeface="Trebuchet MS"/>
                <a:cs typeface="Trebuchet MS"/>
              </a:rPr>
              <a:t>sequence</a:t>
            </a:r>
            <a:r>
              <a:rPr sz="1200" spc="-45" dirty="0">
                <a:latin typeface="Tahoma"/>
                <a:cs typeface="Tahoma"/>
              </a:rPr>
              <a:t>,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so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search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algorithms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work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by </a:t>
            </a:r>
            <a:r>
              <a:rPr sz="1200" spc="-60" dirty="0">
                <a:latin typeface="Tahoma"/>
                <a:cs typeface="Tahoma"/>
              </a:rPr>
              <a:t>considering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various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possible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action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sequences.</a:t>
            </a:r>
            <a:endParaRPr sz="1200">
              <a:latin typeface="Tahoma"/>
              <a:cs typeface="Tahoma"/>
            </a:endParaRPr>
          </a:p>
          <a:p>
            <a:pPr marL="12700" marR="66675">
              <a:lnSpc>
                <a:spcPct val="100000"/>
              </a:lnSpc>
              <a:spcBef>
                <a:spcPts val="305"/>
              </a:spcBef>
            </a:pPr>
            <a:r>
              <a:rPr sz="1200" dirty="0">
                <a:latin typeface="Tahoma"/>
                <a:cs typeface="Tahoma"/>
              </a:rPr>
              <a:t>The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SEARCH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TREE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possible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action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sequences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starting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at</a:t>
            </a:r>
            <a:r>
              <a:rPr sz="1200" spc="1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the </a:t>
            </a:r>
            <a:r>
              <a:rPr sz="1200" spc="-10" dirty="0">
                <a:latin typeface="Tahoma"/>
                <a:cs typeface="Tahoma"/>
              </a:rPr>
              <a:t>initial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state </a:t>
            </a:r>
            <a:r>
              <a:rPr sz="1200" spc="-60" dirty="0">
                <a:latin typeface="Tahoma"/>
                <a:cs typeface="Tahoma"/>
              </a:rPr>
              <a:t>form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search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tree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with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initial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state </a:t>
            </a:r>
            <a:r>
              <a:rPr sz="1200" dirty="0">
                <a:latin typeface="Tahoma"/>
                <a:cs typeface="Tahoma"/>
              </a:rPr>
              <a:t>at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root; </a:t>
            </a:r>
            <a:r>
              <a:rPr sz="1200" spc="-40" dirty="0">
                <a:latin typeface="Tahoma"/>
                <a:cs typeface="Tahoma"/>
              </a:rPr>
              <a:t>the </a:t>
            </a:r>
            <a:r>
              <a:rPr sz="1200" spc="-70" dirty="0">
                <a:latin typeface="Tahoma"/>
                <a:cs typeface="Tahoma"/>
              </a:rPr>
              <a:t>branches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are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actions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nodes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correspond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states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in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state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space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 </a:t>
            </a:r>
            <a:r>
              <a:rPr sz="1200" spc="-10" dirty="0">
                <a:latin typeface="Tahoma"/>
                <a:cs typeface="Tahoma"/>
              </a:rPr>
              <a:t>problem.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14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24409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5" dirty="0"/>
              <a:t>Searching</a:t>
            </a:r>
            <a:r>
              <a:rPr spc="25" dirty="0"/>
              <a:t> </a:t>
            </a:r>
            <a:r>
              <a:rPr spc="-75" dirty="0"/>
              <a:t>for</a:t>
            </a:r>
            <a:r>
              <a:rPr spc="30" dirty="0"/>
              <a:t> </a:t>
            </a:r>
            <a:r>
              <a:rPr spc="-80" dirty="0"/>
              <a:t>Solutions-</a:t>
            </a:r>
            <a:r>
              <a:rPr spc="-50" dirty="0"/>
              <a:t>cont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907745"/>
            <a:ext cx="71526" cy="715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3298" y="817280"/>
            <a:ext cx="4027170" cy="197294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24765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ahoma"/>
                <a:cs typeface="Tahoma"/>
              </a:rPr>
              <a:t>By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expanding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current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state;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that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is,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applying</a:t>
            </a:r>
            <a:r>
              <a:rPr sz="1200" b="1" spc="2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each</a:t>
            </a:r>
            <a:r>
              <a:rPr sz="1200" b="1" spc="20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legal action</a:t>
            </a:r>
            <a:r>
              <a:rPr sz="1200" b="1" spc="-15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to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the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spc="-35" dirty="0">
                <a:latin typeface="Trebuchet MS"/>
                <a:cs typeface="Trebuchet MS"/>
              </a:rPr>
              <a:t>current</a:t>
            </a:r>
            <a:r>
              <a:rPr sz="1200" b="1" spc="-1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state, </a:t>
            </a:r>
            <a:r>
              <a:rPr sz="1200" b="1" spc="-40" dirty="0">
                <a:latin typeface="Trebuchet MS"/>
                <a:cs typeface="Trebuchet MS"/>
              </a:rPr>
              <a:t>thereby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generating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dirty="0">
                <a:latin typeface="Trebuchet MS"/>
                <a:cs typeface="Trebuchet MS"/>
              </a:rPr>
              <a:t>a</a:t>
            </a:r>
            <a:r>
              <a:rPr sz="1200" b="1" spc="-15" dirty="0">
                <a:latin typeface="Trebuchet MS"/>
                <a:cs typeface="Trebuchet MS"/>
              </a:rPr>
              <a:t> </a:t>
            </a:r>
            <a:r>
              <a:rPr sz="1200" b="1" spc="-20" dirty="0">
                <a:latin typeface="Trebuchet MS"/>
                <a:cs typeface="Trebuchet MS"/>
              </a:rPr>
              <a:t>new</a:t>
            </a:r>
            <a:r>
              <a:rPr sz="1200" b="1" spc="-10" dirty="0">
                <a:latin typeface="Trebuchet MS"/>
                <a:cs typeface="Trebuchet MS"/>
              </a:rPr>
              <a:t> </a:t>
            </a:r>
            <a:r>
              <a:rPr sz="1200" b="1" spc="-25" dirty="0">
                <a:latin typeface="Trebuchet MS"/>
                <a:cs typeface="Trebuchet MS"/>
              </a:rPr>
              <a:t>set </a:t>
            </a:r>
            <a:r>
              <a:rPr sz="1200" b="1" dirty="0">
                <a:latin typeface="Trebuchet MS"/>
                <a:cs typeface="Trebuchet MS"/>
              </a:rPr>
              <a:t>of</a:t>
            </a:r>
            <a:r>
              <a:rPr sz="1200" b="1" spc="15" dirty="0">
                <a:latin typeface="Trebuchet MS"/>
                <a:cs typeface="Trebuchet MS"/>
              </a:rPr>
              <a:t> </a:t>
            </a:r>
            <a:r>
              <a:rPr sz="1200" b="1" spc="-10" dirty="0">
                <a:latin typeface="Trebuchet MS"/>
                <a:cs typeface="Trebuchet MS"/>
              </a:rPr>
              <a:t>states</a:t>
            </a:r>
            <a:r>
              <a:rPr sz="1200" spc="-10" dirty="0">
                <a:latin typeface="Tahoma"/>
                <a:cs typeface="Tahoma"/>
              </a:rPr>
              <a:t>.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sz="1200" spc="-10" dirty="0">
                <a:latin typeface="Tahoma"/>
                <a:cs typeface="Tahoma"/>
              </a:rPr>
              <a:t>After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expanding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Arad,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add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three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branches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from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parent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node, </a:t>
            </a:r>
            <a:r>
              <a:rPr sz="1200" spc="-60" dirty="0">
                <a:latin typeface="Tahoma"/>
                <a:cs typeface="Tahoma"/>
              </a:rPr>
              <a:t>leading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three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95" dirty="0">
                <a:latin typeface="Tahoma"/>
                <a:cs typeface="Tahoma"/>
              </a:rPr>
              <a:t>new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child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nodes</a:t>
            </a:r>
            <a:endParaRPr sz="1200">
              <a:latin typeface="Tahoma"/>
              <a:cs typeface="Tahoma"/>
            </a:endParaRPr>
          </a:p>
          <a:p>
            <a:pPr marL="12700" marR="31750">
              <a:lnSpc>
                <a:spcPct val="100000"/>
              </a:lnSpc>
              <a:spcBef>
                <a:spcPts val="310"/>
              </a:spcBef>
            </a:pPr>
            <a:r>
              <a:rPr sz="1200" spc="-10" dirty="0">
                <a:latin typeface="Tahoma"/>
                <a:cs typeface="Tahoma"/>
              </a:rPr>
              <a:t>After</a:t>
            </a:r>
            <a:r>
              <a:rPr sz="1200" spc="-70" dirty="0">
                <a:latin typeface="Tahoma"/>
                <a:cs typeface="Tahoma"/>
              </a:rPr>
              <a:t> expanding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Sibiu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these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six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nodes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leaf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node,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set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of </a:t>
            </a:r>
            <a:r>
              <a:rPr sz="1200" dirty="0">
                <a:latin typeface="Tahoma"/>
                <a:cs typeface="Tahoma"/>
              </a:rPr>
              <a:t>all</a:t>
            </a:r>
            <a:r>
              <a:rPr sz="1200" spc="-45" dirty="0">
                <a:latin typeface="Tahoma"/>
                <a:cs typeface="Tahoma"/>
              </a:rPr>
              <a:t> leaf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nodes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available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for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expansion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any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given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point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called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b="1" spc="-35" dirty="0">
                <a:solidFill>
                  <a:srgbClr val="C00000"/>
                </a:solidFill>
                <a:highlight>
                  <a:srgbClr val="FFFF00"/>
                </a:highlight>
                <a:latin typeface="Trebuchet MS"/>
                <a:cs typeface="Trebuchet MS"/>
              </a:rPr>
              <a:t>frontier</a:t>
            </a:r>
            <a:r>
              <a:rPr sz="1200" spc="-35" dirty="0">
                <a:latin typeface="Tahoma"/>
                <a:cs typeface="Tahoma"/>
              </a:rPr>
              <a:t>.</a:t>
            </a:r>
            <a:r>
              <a:rPr sz="1200" spc="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(Many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authors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call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b="1" spc="-65" dirty="0">
                <a:highlight>
                  <a:srgbClr val="FFFF00"/>
                </a:highlight>
                <a:latin typeface="Tahoma"/>
                <a:cs typeface="Tahoma"/>
              </a:rPr>
              <a:t>open</a:t>
            </a:r>
            <a:r>
              <a:rPr sz="1200" b="1" spc="-3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1200" b="1" spc="-10" dirty="0">
                <a:highlight>
                  <a:srgbClr val="FFFF00"/>
                </a:highlight>
                <a:latin typeface="Tahoma"/>
                <a:cs typeface="Tahoma"/>
              </a:rPr>
              <a:t>list</a:t>
            </a:r>
            <a:r>
              <a:rPr sz="1200" spc="-10" dirty="0">
                <a:latin typeface="Tahoma"/>
                <a:cs typeface="Tahoma"/>
              </a:rPr>
              <a:t>)</a:t>
            </a:r>
            <a:endParaRPr sz="1200">
              <a:latin typeface="Tahoma"/>
              <a:cs typeface="Tahoma"/>
            </a:endParaRPr>
          </a:p>
          <a:p>
            <a:pPr marL="12700" marR="36830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latin typeface="Tahoma"/>
                <a:cs typeface="Tahoma"/>
              </a:rPr>
              <a:t>The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process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expanding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nodes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on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frontier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continues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until </a:t>
            </a:r>
            <a:r>
              <a:rPr sz="1200" spc="-55" dirty="0">
                <a:latin typeface="Tahoma"/>
                <a:cs typeface="Tahoma"/>
              </a:rPr>
              <a:t>either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solution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found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or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there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are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no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more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states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expand.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1496098"/>
            <a:ext cx="71526" cy="715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139" y="1900974"/>
            <a:ext cx="71526" cy="715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139" y="2489314"/>
            <a:ext cx="71526" cy="7152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6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15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24409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5" dirty="0"/>
              <a:t>Searching</a:t>
            </a:r>
            <a:r>
              <a:rPr spc="25" dirty="0"/>
              <a:t> </a:t>
            </a:r>
            <a:r>
              <a:rPr spc="-75" dirty="0"/>
              <a:t>for</a:t>
            </a:r>
            <a:r>
              <a:rPr spc="30" dirty="0"/>
              <a:t> </a:t>
            </a:r>
            <a:r>
              <a:rPr spc="-80" dirty="0"/>
              <a:t>Solutions-</a:t>
            </a:r>
            <a:r>
              <a:rPr spc="-50" dirty="0"/>
              <a:t>cont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687590"/>
            <a:ext cx="71526" cy="715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92423" y="597126"/>
            <a:ext cx="3924935" cy="252349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762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Tahoma"/>
                <a:cs typeface="Tahoma"/>
              </a:rPr>
              <a:t>The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0" dirty="0">
                <a:latin typeface="Tahoma"/>
                <a:cs typeface="Tahoma"/>
              </a:rPr>
              <a:t>way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avoid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exploring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redundant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paths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remember, </a:t>
            </a:r>
            <a:r>
              <a:rPr sz="1200" dirty="0">
                <a:latin typeface="Tahoma"/>
                <a:cs typeface="Tahoma"/>
              </a:rPr>
              <a:t>TREE-SEARCH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algorithm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with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data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structure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called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the </a:t>
            </a:r>
            <a:r>
              <a:rPr sz="1200" b="1" spc="-80" dirty="0">
                <a:highlight>
                  <a:srgbClr val="FFFF00"/>
                </a:highlight>
                <a:latin typeface="Tahoma"/>
                <a:cs typeface="Tahoma"/>
              </a:rPr>
              <a:t>explored</a:t>
            </a:r>
            <a:r>
              <a:rPr sz="1200" b="1" spc="-1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1200" b="1" spc="-45" dirty="0">
                <a:highlight>
                  <a:srgbClr val="FFFF00"/>
                </a:highlight>
                <a:latin typeface="Tahoma"/>
                <a:cs typeface="Tahoma"/>
              </a:rPr>
              <a:t>set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(also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known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as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0" dirty="0">
                <a:highlight>
                  <a:srgbClr val="FFFF00"/>
                </a:highlight>
                <a:latin typeface="Tahoma"/>
                <a:cs typeface="Tahoma"/>
              </a:rPr>
              <a:t>closed</a:t>
            </a:r>
            <a:r>
              <a:rPr sz="1200" spc="-1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1200" spc="-10" dirty="0">
                <a:highlight>
                  <a:srgbClr val="FFFF00"/>
                </a:highlight>
                <a:latin typeface="Tahoma"/>
                <a:cs typeface="Tahoma"/>
              </a:rPr>
              <a:t>list</a:t>
            </a:r>
            <a:r>
              <a:rPr sz="1200" spc="-10" dirty="0">
                <a:latin typeface="Tahoma"/>
                <a:cs typeface="Tahoma"/>
              </a:rPr>
              <a:t>),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which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remembers every</a:t>
            </a:r>
            <a:r>
              <a:rPr sz="1200" spc="35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expanded</a:t>
            </a:r>
            <a:r>
              <a:rPr sz="1200" spc="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node(</a:t>
            </a:r>
            <a:r>
              <a:rPr sz="1200" spc="-10" dirty="0">
                <a:solidFill>
                  <a:srgbClr val="FF0000"/>
                </a:solidFill>
                <a:latin typeface="Tahoma"/>
                <a:cs typeface="Tahoma"/>
              </a:rPr>
              <a:t>visited</a:t>
            </a:r>
            <a:r>
              <a:rPr sz="1200" spc="-10" dirty="0">
                <a:latin typeface="Tahoma"/>
                <a:cs typeface="Tahoma"/>
              </a:rPr>
              <a:t>).</a:t>
            </a:r>
            <a:endParaRPr sz="1200">
              <a:latin typeface="Tahoma"/>
              <a:cs typeface="Tahoma"/>
            </a:endParaRPr>
          </a:p>
          <a:p>
            <a:pPr marL="12700" marR="434975" algn="just">
              <a:lnSpc>
                <a:spcPct val="100000"/>
              </a:lnSpc>
              <a:spcBef>
                <a:spcPts val="315"/>
              </a:spcBef>
            </a:pPr>
            <a:r>
              <a:rPr sz="1200" spc="-45" dirty="0">
                <a:latin typeface="Tahoma"/>
                <a:cs typeface="Tahoma"/>
              </a:rPr>
              <a:t>Newly </a:t>
            </a:r>
            <a:r>
              <a:rPr sz="1200" spc="-75" dirty="0">
                <a:latin typeface="Tahoma"/>
                <a:cs typeface="Tahoma"/>
              </a:rPr>
              <a:t>generated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nodes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that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match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previously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generated </a:t>
            </a:r>
            <a:r>
              <a:rPr sz="1200" spc="-75" dirty="0">
                <a:latin typeface="Tahoma"/>
                <a:cs typeface="Tahoma"/>
              </a:rPr>
              <a:t>nodes—</a:t>
            </a:r>
            <a:r>
              <a:rPr sz="1200" spc="-55" dirty="0">
                <a:latin typeface="Tahoma"/>
                <a:cs typeface="Tahoma"/>
              </a:rPr>
              <a:t>ones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explored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set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or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frontier—</a:t>
            </a:r>
            <a:r>
              <a:rPr sz="1200" spc="-20" dirty="0">
                <a:latin typeface="Tahoma"/>
                <a:cs typeface="Tahoma"/>
              </a:rPr>
              <a:t>can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be </a:t>
            </a:r>
            <a:r>
              <a:rPr sz="1200" spc="-60" dirty="0">
                <a:latin typeface="Tahoma"/>
                <a:cs typeface="Tahoma"/>
              </a:rPr>
              <a:t>discarded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instead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being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added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frontier.</a:t>
            </a:r>
            <a:endParaRPr sz="1200">
              <a:latin typeface="Tahoma"/>
              <a:cs typeface="Tahoma"/>
            </a:endParaRPr>
          </a:p>
          <a:p>
            <a:pPr marL="12700" marR="64135">
              <a:lnSpc>
                <a:spcPct val="100000"/>
              </a:lnSpc>
              <a:spcBef>
                <a:spcPts val="315"/>
              </a:spcBef>
            </a:pPr>
            <a:r>
              <a:rPr sz="1200" spc="-65" dirty="0">
                <a:latin typeface="Tahoma"/>
                <a:cs typeface="Tahoma"/>
              </a:rPr>
              <a:t>Search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algorithms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all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share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this </a:t>
            </a:r>
            <a:r>
              <a:rPr sz="1200" spc="-45" dirty="0">
                <a:latin typeface="Tahoma"/>
                <a:cs typeface="Tahoma"/>
              </a:rPr>
              <a:t>basic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structure;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they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vary </a:t>
            </a:r>
            <a:r>
              <a:rPr sz="1200" spc="-45" dirty="0">
                <a:latin typeface="Tahoma"/>
                <a:cs typeface="Tahoma"/>
              </a:rPr>
              <a:t>primarily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according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how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they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choose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which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state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expand next—</a:t>
            </a:r>
            <a:r>
              <a:rPr sz="1200" spc="-10" dirty="0">
                <a:latin typeface="Tahoma"/>
                <a:cs typeface="Tahoma"/>
              </a:rPr>
              <a:t>the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so-</a:t>
            </a:r>
            <a:r>
              <a:rPr sz="1200" spc="-45" dirty="0">
                <a:latin typeface="Tahoma"/>
                <a:cs typeface="Tahoma"/>
              </a:rPr>
              <a:t>called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search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strategy.</a:t>
            </a:r>
            <a:endParaRPr sz="12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latin typeface="Tahoma"/>
                <a:cs typeface="Tahoma"/>
              </a:rPr>
              <a:t>The</a:t>
            </a:r>
            <a:r>
              <a:rPr sz="1200" spc="-9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frontier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95" dirty="0">
                <a:latin typeface="Tahoma"/>
                <a:cs typeface="Tahoma"/>
              </a:rPr>
              <a:t>needs</a:t>
            </a:r>
            <a:r>
              <a:rPr sz="1200" dirty="0">
                <a:latin typeface="Tahoma"/>
                <a:cs typeface="Tahoma"/>
              </a:rPr>
              <a:t> to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be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stored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such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0" dirty="0">
                <a:latin typeface="Tahoma"/>
                <a:cs typeface="Tahoma"/>
              </a:rPr>
              <a:t>way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that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search </a:t>
            </a:r>
            <a:r>
              <a:rPr sz="1200" spc="-45" dirty="0">
                <a:latin typeface="Tahoma"/>
                <a:cs typeface="Tahoma"/>
              </a:rPr>
              <a:t>algorithm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can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easily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choose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next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node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expand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according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its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preferred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strategy.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1459395"/>
            <a:ext cx="71526" cy="715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139" y="2047748"/>
            <a:ext cx="71526" cy="715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139" y="2636088"/>
            <a:ext cx="71526" cy="7152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6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16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0" dirty="0"/>
              <a:t>Search</a:t>
            </a:r>
            <a:r>
              <a:rPr spc="-25" dirty="0"/>
              <a:t> </a:t>
            </a:r>
            <a:r>
              <a:rPr spc="-90" dirty="0"/>
              <a:t>strategy</a:t>
            </a:r>
            <a:r>
              <a:rPr spc="-40" dirty="0"/>
              <a:t> </a:t>
            </a:r>
            <a:r>
              <a:rPr spc="-114" dirty="0"/>
              <a:t>and</a:t>
            </a:r>
            <a:r>
              <a:rPr spc="-20" dirty="0"/>
              <a:t> </a:t>
            </a:r>
            <a:r>
              <a:rPr spc="-25" dirty="0"/>
              <a:t>Data </a:t>
            </a:r>
            <a:r>
              <a:rPr spc="-55" dirty="0"/>
              <a:t>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1116025"/>
            <a:ext cx="71526" cy="7152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365" y="1499374"/>
            <a:ext cx="57632" cy="5763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365" y="1843532"/>
            <a:ext cx="57632" cy="576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1365" y="2187676"/>
            <a:ext cx="57632" cy="5763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305" rIns="0" bIns="0" rtlCol="0" anchor="t">
            <a:spAutoFit/>
          </a:bodyPr>
          <a:lstStyle/>
          <a:p>
            <a:pPr marL="12700" marR="367030">
              <a:lnSpc>
                <a:spcPts val="1350"/>
              </a:lnSpc>
              <a:spcBef>
                <a:spcPts val="215"/>
              </a:spcBef>
            </a:pPr>
            <a:r>
              <a:rPr dirty="0"/>
              <a:t>The</a:t>
            </a:r>
            <a:r>
              <a:rPr spc="-55" dirty="0"/>
              <a:t> appropriate</a:t>
            </a:r>
            <a:r>
              <a:rPr spc="-35" dirty="0"/>
              <a:t> data </a:t>
            </a:r>
            <a:r>
              <a:rPr spc="-45" dirty="0"/>
              <a:t>structure</a:t>
            </a:r>
            <a:r>
              <a:rPr spc="-35" dirty="0"/>
              <a:t> </a:t>
            </a:r>
            <a:r>
              <a:rPr spc="-40" dirty="0"/>
              <a:t>for</a:t>
            </a:r>
            <a:r>
              <a:rPr spc="-35" dirty="0"/>
              <a:t> </a:t>
            </a:r>
            <a:r>
              <a:rPr spc="-40" dirty="0"/>
              <a:t>the</a:t>
            </a:r>
            <a:r>
              <a:rPr spc="-35" dirty="0"/>
              <a:t> </a:t>
            </a:r>
            <a:r>
              <a:rPr spc="-80" dirty="0"/>
              <a:t>search</a:t>
            </a:r>
            <a:r>
              <a:rPr spc="-10" dirty="0"/>
              <a:t> </a:t>
            </a:r>
            <a:r>
              <a:rPr spc="-50" dirty="0"/>
              <a:t>strategy</a:t>
            </a:r>
            <a:r>
              <a:rPr spc="-35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50" dirty="0"/>
              <a:t>a </a:t>
            </a:r>
            <a:r>
              <a:rPr spc="-60" dirty="0">
                <a:solidFill>
                  <a:srgbClr val="FF0000"/>
                </a:solidFill>
                <a:highlight>
                  <a:srgbClr val="FFFF00"/>
                </a:highlight>
              </a:rPr>
              <a:t>queue</a:t>
            </a:r>
            <a:r>
              <a:rPr spc="-60" dirty="0"/>
              <a:t>.</a:t>
            </a:r>
            <a:r>
              <a:rPr spc="60" dirty="0"/>
              <a:t> </a:t>
            </a:r>
            <a:r>
              <a:rPr spc="-50" dirty="0"/>
              <a:t>Three</a:t>
            </a:r>
            <a:r>
              <a:rPr spc="-35" dirty="0"/>
              <a:t> </a:t>
            </a:r>
            <a:r>
              <a:rPr spc="-75" dirty="0"/>
              <a:t>common</a:t>
            </a:r>
            <a:r>
              <a:rPr spc="-20" dirty="0"/>
              <a:t> </a:t>
            </a:r>
            <a:r>
              <a:rPr spc="-50" dirty="0"/>
              <a:t>variants</a:t>
            </a:r>
            <a:r>
              <a:rPr spc="-35" dirty="0"/>
              <a:t> </a:t>
            </a:r>
            <a:r>
              <a:rPr spc="-20" dirty="0"/>
              <a:t>are:</a:t>
            </a:r>
          </a:p>
          <a:p>
            <a:pPr marL="309880" marR="91440">
              <a:lnSpc>
                <a:spcPct val="102600"/>
              </a:lnSpc>
              <a:spcBef>
                <a:spcPts val="155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first-</a:t>
            </a:r>
            <a:r>
              <a:rPr sz="1100" dirty="0">
                <a:latin typeface="Arial MT"/>
                <a:cs typeface="Arial MT"/>
              </a:rPr>
              <a:t>in,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first-</a:t>
            </a:r>
            <a:r>
              <a:rPr sz="1100" dirty="0">
                <a:latin typeface="Arial MT"/>
                <a:cs typeface="Arial MT"/>
              </a:rPr>
              <a:t>out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FIFO</a:t>
            </a:r>
            <a:r>
              <a:rPr sz="1100" b="1" spc="20" dirty="0">
                <a:latin typeface="Trebuchet MS"/>
                <a:cs typeface="Trebuchet MS"/>
              </a:rPr>
              <a:t> </a:t>
            </a:r>
            <a:r>
              <a:rPr sz="1100" b="1" spc="-45" dirty="0">
                <a:latin typeface="Trebuchet MS"/>
                <a:cs typeface="Trebuchet MS"/>
              </a:rPr>
              <a:t>queue,</a:t>
            </a:r>
            <a:r>
              <a:rPr sz="1100" b="1" spc="25" dirty="0">
                <a:latin typeface="Trebuchet MS"/>
                <a:cs typeface="Trebuchet MS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which</a:t>
            </a:r>
            <a:r>
              <a:rPr sz="1100" b="1" spc="2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pops</a:t>
            </a:r>
            <a:r>
              <a:rPr sz="1100" b="1" spc="25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the</a:t>
            </a:r>
            <a:r>
              <a:rPr sz="1100" b="1" spc="20" dirty="0">
                <a:latin typeface="Trebuchet MS"/>
                <a:cs typeface="Trebuchet MS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oldest </a:t>
            </a:r>
            <a:r>
              <a:rPr sz="1100" b="1" spc="-35" dirty="0">
                <a:latin typeface="Trebuchet MS"/>
                <a:cs typeface="Trebuchet MS"/>
              </a:rPr>
              <a:t>element </a:t>
            </a:r>
            <a:r>
              <a:rPr sz="1100" b="1" dirty="0">
                <a:latin typeface="Trebuchet MS"/>
                <a:cs typeface="Trebuchet MS"/>
              </a:rPr>
              <a:t>of</a:t>
            </a:r>
            <a:r>
              <a:rPr sz="1100" b="1" spc="-3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the</a:t>
            </a:r>
            <a:r>
              <a:rPr sz="1100" b="1" spc="-35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queue;</a:t>
            </a:r>
            <a:endParaRPr sz="1100">
              <a:latin typeface="Trebuchet MS"/>
              <a:cs typeface="Trebuchet MS"/>
            </a:endParaRPr>
          </a:p>
          <a:p>
            <a:pPr marL="309880" marR="5080">
              <a:lnSpc>
                <a:spcPct val="102600"/>
              </a:lnSpc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last-</a:t>
            </a:r>
            <a:r>
              <a:rPr sz="1100" dirty="0">
                <a:latin typeface="Arial MT"/>
                <a:cs typeface="Arial MT"/>
              </a:rPr>
              <a:t>in,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first-</a:t>
            </a:r>
            <a:r>
              <a:rPr sz="1100" dirty="0">
                <a:latin typeface="Arial MT"/>
                <a:cs typeface="Arial MT"/>
              </a:rPr>
              <a:t>out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LIFO</a:t>
            </a:r>
            <a:r>
              <a:rPr sz="1100" b="1" spc="35" dirty="0">
                <a:latin typeface="Trebuchet MS"/>
                <a:cs typeface="Trebuchet MS"/>
              </a:rPr>
              <a:t> </a:t>
            </a:r>
            <a:r>
              <a:rPr sz="1100" b="1" spc="-35" dirty="0">
                <a:latin typeface="Trebuchet MS"/>
                <a:cs typeface="Trebuchet MS"/>
              </a:rPr>
              <a:t>queue</a:t>
            </a:r>
            <a:r>
              <a:rPr sz="1100" b="1" spc="3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(also</a:t>
            </a:r>
            <a:r>
              <a:rPr sz="1100" b="1" spc="30" dirty="0">
                <a:latin typeface="Trebuchet MS"/>
                <a:cs typeface="Trebuchet MS"/>
              </a:rPr>
              <a:t> </a:t>
            </a:r>
            <a:r>
              <a:rPr sz="1100" b="1" spc="-25" dirty="0">
                <a:latin typeface="Trebuchet MS"/>
                <a:cs typeface="Trebuchet MS"/>
              </a:rPr>
              <a:t>known</a:t>
            </a:r>
            <a:r>
              <a:rPr sz="1100" b="1" spc="3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as</a:t>
            </a:r>
            <a:r>
              <a:rPr sz="1100" b="1" spc="35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a</a:t>
            </a:r>
            <a:r>
              <a:rPr sz="1100" b="1" spc="30" dirty="0">
                <a:latin typeface="Trebuchet MS"/>
                <a:cs typeface="Trebuchet MS"/>
              </a:rPr>
              <a:t> </a:t>
            </a:r>
            <a:r>
              <a:rPr sz="1100" b="1" spc="-10" dirty="0">
                <a:highlight>
                  <a:srgbClr val="FFFF00"/>
                </a:highlight>
                <a:latin typeface="Trebuchet MS"/>
                <a:cs typeface="Trebuchet MS"/>
              </a:rPr>
              <a:t>stack</a:t>
            </a:r>
            <a:r>
              <a:rPr sz="1100" b="1" spc="-10" dirty="0">
                <a:latin typeface="Trebuchet MS"/>
                <a:cs typeface="Trebuchet MS"/>
              </a:rPr>
              <a:t>), </a:t>
            </a:r>
            <a:r>
              <a:rPr sz="1100" b="1" spc="-20" dirty="0">
                <a:latin typeface="Trebuchet MS"/>
                <a:cs typeface="Trebuchet MS"/>
              </a:rPr>
              <a:t>which</a:t>
            </a:r>
            <a:r>
              <a:rPr sz="1100" b="1" spc="-35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pops</a:t>
            </a:r>
            <a:r>
              <a:rPr sz="1100" b="1" spc="-3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the</a:t>
            </a:r>
            <a:r>
              <a:rPr sz="1100" b="1" spc="-35" dirty="0">
                <a:latin typeface="Trebuchet MS"/>
                <a:cs typeface="Trebuchet MS"/>
              </a:rPr>
              <a:t> newest</a:t>
            </a:r>
            <a:r>
              <a:rPr sz="1100" b="1" spc="-30" dirty="0">
                <a:latin typeface="Trebuchet MS"/>
                <a:cs typeface="Trebuchet MS"/>
              </a:rPr>
              <a:t> </a:t>
            </a:r>
            <a:r>
              <a:rPr sz="1100" b="1" spc="-35" dirty="0">
                <a:latin typeface="Trebuchet MS"/>
                <a:cs typeface="Trebuchet MS"/>
              </a:rPr>
              <a:t>element </a:t>
            </a:r>
            <a:r>
              <a:rPr sz="1100" b="1" dirty="0">
                <a:latin typeface="Trebuchet MS"/>
                <a:cs typeface="Trebuchet MS"/>
              </a:rPr>
              <a:t>of</a:t>
            </a:r>
            <a:r>
              <a:rPr sz="1100" b="1" spc="-30" dirty="0">
                <a:latin typeface="Trebuchet MS"/>
                <a:cs typeface="Trebuchet MS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the</a:t>
            </a:r>
            <a:r>
              <a:rPr sz="1100" b="1" spc="-30" dirty="0">
                <a:latin typeface="Trebuchet MS"/>
                <a:cs typeface="Trebuchet MS"/>
              </a:rPr>
              <a:t> </a:t>
            </a:r>
            <a:r>
              <a:rPr sz="1100" b="1" spc="-10" dirty="0">
                <a:latin typeface="Trebuchet MS"/>
                <a:cs typeface="Trebuchet MS"/>
              </a:rPr>
              <a:t>queue;</a:t>
            </a:r>
            <a:endParaRPr sz="1100">
              <a:latin typeface="Trebuchet MS"/>
              <a:cs typeface="Trebuchet MS"/>
            </a:endParaRPr>
          </a:p>
          <a:p>
            <a:pPr marL="309880" marR="57150">
              <a:lnSpc>
                <a:spcPct val="102699"/>
              </a:lnSpc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b="1" spc="-45" dirty="0">
                <a:latin typeface="Trebuchet MS"/>
                <a:cs typeface="Trebuchet MS"/>
              </a:rPr>
              <a:t>priority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b="1" spc="-35" dirty="0">
                <a:latin typeface="Trebuchet MS"/>
                <a:cs typeface="Trebuchet MS"/>
              </a:rPr>
              <a:t>queue</a:t>
            </a:r>
            <a:r>
              <a:rPr sz="1100" spc="-35" dirty="0">
                <a:latin typeface="Arial MT"/>
                <a:cs typeface="Arial MT"/>
              </a:rPr>
              <a:t>,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which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60" dirty="0">
                <a:latin typeface="Arial MT"/>
                <a:cs typeface="Arial MT"/>
              </a:rPr>
              <a:t>pops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45" dirty="0">
                <a:latin typeface="Arial MT"/>
                <a:cs typeface="Arial MT"/>
              </a:rPr>
              <a:t>element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80" dirty="0">
                <a:latin typeface="Arial MT"/>
                <a:cs typeface="Arial MT"/>
              </a:rPr>
              <a:t>queue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with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highest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priority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according</a:t>
            </a:r>
            <a:r>
              <a:rPr sz="1100" dirty="0">
                <a:latin typeface="Arial MT"/>
                <a:cs typeface="Arial MT"/>
              </a:rPr>
              <a:t> to</a:t>
            </a:r>
            <a:r>
              <a:rPr sz="1100" spc="5" dirty="0">
                <a:latin typeface="Arial MT"/>
                <a:cs typeface="Arial MT"/>
              </a:rPr>
              <a:t> </a:t>
            </a:r>
            <a:r>
              <a:rPr sz="1100" spc="-85" dirty="0">
                <a:latin typeface="Arial MT"/>
                <a:cs typeface="Arial MT"/>
              </a:rPr>
              <a:t>some</a:t>
            </a:r>
            <a:r>
              <a:rPr sz="1100" spc="10" dirty="0">
                <a:latin typeface="Arial MT"/>
                <a:cs typeface="Arial MT"/>
              </a:rPr>
              <a:t> </a:t>
            </a:r>
            <a:r>
              <a:rPr sz="1100" spc="-40" dirty="0">
                <a:latin typeface="Arial MT"/>
                <a:cs typeface="Arial MT"/>
              </a:rPr>
              <a:t>ordering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function.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6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17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04"/>
            <a:ext cx="32829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30" dirty="0">
                <a:solidFill>
                  <a:srgbClr val="CC0000"/>
                </a:solidFill>
                <a:latin typeface="Tahoma"/>
                <a:cs typeface="Tahoma"/>
              </a:rPr>
              <a:t>Partial</a:t>
            </a:r>
            <a:r>
              <a:rPr sz="1700" spc="-8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30" dirty="0">
                <a:solidFill>
                  <a:srgbClr val="CC0000"/>
                </a:solidFill>
                <a:latin typeface="Tahoma"/>
                <a:cs typeface="Tahoma"/>
              </a:rPr>
              <a:t>search</a:t>
            </a:r>
            <a:r>
              <a:rPr sz="1700" spc="-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05" dirty="0">
                <a:solidFill>
                  <a:srgbClr val="CC0000"/>
                </a:solidFill>
                <a:latin typeface="Tahoma"/>
                <a:cs typeface="Tahoma"/>
              </a:rPr>
              <a:t>trees</a:t>
            </a:r>
            <a:r>
              <a:rPr sz="1700" spc="-3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75" dirty="0">
                <a:solidFill>
                  <a:srgbClr val="CC0000"/>
                </a:solidFill>
                <a:latin typeface="Tahoma"/>
                <a:cs typeface="Tahoma"/>
              </a:rPr>
              <a:t>for</a:t>
            </a:r>
            <a:r>
              <a:rPr sz="1700" spc="-4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80" dirty="0">
                <a:solidFill>
                  <a:srgbClr val="CC0000"/>
                </a:solidFill>
                <a:latin typeface="Tahoma"/>
                <a:cs typeface="Tahoma"/>
              </a:rPr>
              <a:t>finding</a:t>
            </a:r>
            <a:r>
              <a:rPr sz="1700" spc="-3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dirty="0">
                <a:solidFill>
                  <a:srgbClr val="CC0000"/>
                </a:solidFill>
                <a:latin typeface="Tahoma"/>
                <a:cs typeface="Tahoma"/>
              </a:rPr>
              <a:t>a</a:t>
            </a:r>
            <a:r>
              <a:rPr sz="1700" spc="-4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65" dirty="0">
                <a:solidFill>
                  <a:srgbClr val="CC0000"/>
                </a:solidFill>
                <a:latin typeface="Tahoma"/>
                <a:cs typeface="Tahoma"/>
              </a:rPr>
              <a:t>route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846" y="349049"/>
            <a:ext cx="4370802" cy="2940777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18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04"/>
            <a:ext cx="414909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05" dirty="0">
                <a:solidFill>
                  <a:srgbClr val="CC0000"/>
                </a:solidFill>
                <a:latin typeface="Tahoma"/>
                <a:cs typeface="Tahoma"/>
              </a:rPr>
              <a:t>General</a:t>
            </a:r>
            <a:r>
              <a:rPr sz="1700" spc="2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14" dirty="0">
                <a:solidFill>
                  <a:srgbClr val="CC0000"/>
                </a:solidFill>
                <a:latin typeface="Tahoma"/>
                <a:cs typeface="Tahoma"/>
              </a:rPr>
              <a:t>tree-search</a:t>
            </a:r>
            <a:r>
              <a:rPr sz="1700" spc="2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14" dirty="0">
                <a:solidFill>
                  <a:srgbClr val="CC0000"/>
                </a:solidFill>
                <a:latin typeface="Tahoma"/>
                <a:cs typeface="Tahoma"/>
              </a:rPr>
              <a:t>and</a:t>
            </a:r>
            <a:r>
              <a:rPr sz="1700" spc="3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25" dirty="0">
                <a:solidFill>
                  <a:srgbClr val="CC0000"/>
                </a:solidFill>
                <a:latin typeface="Tahoma"/>
                <a:cs typeface="Tahoma"/>
              </a:rPr>
              <a:t>graph-</a:t>
            </a:r>
            <a:r>
              <a:rPr sz="1700" spc="-110" dirty="0">
                <a:solidFill>
                  <a:srgbClr val="CC0000"/>
                </a:solidFill>
                <a:latin typeface="Tahoma"/>
                <a:cs typeface="Tahoma"/>
              </a:rPr>
              <a:t>search</a:t>
            </a:r>
            <a:r>
              <a:rPr sz="1700" spc="2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75" dirty="0">
                <a:solidFill>
                  <a:srgbClr val="CC0000"/>
                </a:solidFill>
                <a:latin typeface="Tahoma"/>
                <a:cs typeface="Tahoma"/>
              </a:rPr>
              <a:t>algorithms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66" y="501938"/>
            <a:ext cx="4320143" cy="270004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19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5" dirty="0"/>
              <a:t>Measuring</a:t>
            </a:r>
            <a:r>
              <a:rPr spc="25" dirty="0"/>
              <a:t> </a:t>
            </a:r>
            <a:r>
              <a:rPr spc="-114" dirty="0"/>
              <a:t>problem-</a:t>
            </a:r>
            <a:r>
              <a:rPr spc="-85" dirty="0"/>
              <a:t>solving</a:t>
            </a:r>
            <a:r>
              <a:rPr spc="30" dirty="0"/>
              <a:t> </a:t>
            </a:r>
            <a:r>
              <a:rPr spc="-100" dirty="0"/>
              <a:t>performance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1139710"/>
            <a:ext cx="71526" cy="715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07314">
              <a:lnSpc>
                <a:spcPct val="100000"/>
              </a:lnSpc>
              <a:spcBef>
                <a:spcPts val="95"/>
              </a:spcBef>
            </a:pPr>
            <a:r>
              <a:rPr b="1" spc="-30" dirty="0">
                <a:latin typeface="Trebuchet MS"/>
                <a:cs typeface="Trebuchet MS"/>
              </a:rPr>
              <a:t>completeness:</a:t>
            </a:r>
            <a:r>
              <a:rPr b="1" spc="55" dirty="0">
                <a:latin typeface="Trebuchet MS"/>
                <a:cs typeface="Trebuchet MS"/>
              </a:rPr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spc="-40" dirty="0"/>
              <a:t>the </a:t>
            </a:r>
            <a:r>
              <a:rPr spc="-50" dirty="0"/>
              <a:t>strategy</a:t>
            </a:r>
            <a:r>
              <a:rPr spc="-45" dirty="0"/>
              <a:t> </a:t>
            </a:r>
            <a:r>
              <a:rPr spc="-75" dirty="0"/>
              <a:t>guaranteed</a:t>
            </a:r>
            <a:r>
              <a:rPr spc="-1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25" dirty="0"/>
              <a:t>find</a:t>
            </a:r>
            <a:r>
              <a:rPr spc="-40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40" dirty="0"/>
              <a:t>solution </a:t>
            </a:r>
            <a:r>
              <a:rPr spc="-90" dirty="0"/>
              <a:t>when</a:t>
            </a:r>
            <a:r>
              <a:rPr spc="-5" dirty="0"/>
              <a:t> </a:t>
            </a:r>
            <a:r>
              <a:rPr spc="-65" dirty="0"/>
              <a:t>there</a:t>
            </a:r>
            <a:r>
              <a:rPr spc="-3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spc="-20" dirty="0"/>
              <a:t>one?</a:t>
            </a:r>
          </a:p>
          <a:p>
            <a:pPr marL="12700" marR="81280">
              <a:lnSpc>
                <a:spcPct val="100000"/>
              </a:lnSpc>
              <a:spcBef>
                <a:spcPts val="305"/>
              </a:spcBef>
            </a:pPr>
            <a:r>
              <a:rPr b="1" spc="-30" dirty="0">
                <a:latin typeface="Trebuchet MS"/>
                <a:cs typeface="Trebuchet MS"/>
              </a:rPr>
              <a:t>optimality:</a:t>
            </a:r>
            <a:r>
              <a:rPr b="1" spc="95" dirty="0">
                <a:latin typeface="Trebuchet MS"/>
                <a:cs typeface="Trebuchet MS"/>
              </a:rPr>
              <a:t> </a:t>
            </a:r>
            <a:r>
              <a:rPr spc="-70" dirty="0"/>
              <a:t>does</a:t>
            </a:r>
            <a:r>
              <a:rPr spc="-25" dirty="0"/>
              <a:t> </a:t>
            </a:r>
            <a:r>
              <a:rPr spc="-40" dirty="0"/>
              <a:t>the</a:t>
            </a:r>
            <a:r>
              <a:rPr spc="-25" dirty="0"/>
              <a:t> </a:t>
            </a:r>
            <a:r>
              <a:rPr spc="-80" dirty="0"/>
              <a:t>search</a:t>
            </a:r>
            <a:r>
              <a:rPr spc="-10" dirty="0"/>
              <a:t> </a:t>
            </a:r>
            <a:r>
              <a:rPr spc="-50" dirty="0"/>
              <a:t>strategy</a:t>
            </a:r>
            <a:r>
              <a:rPr spc="-25" dirty="0"/>
              <a:t> </a:t>
            </a:r>
            <a:r>
              <a:rPr spc="-35" dirty="0"/>
              <a:t>find</a:t>
            </a:r>
            <a:r>
              <a:rPr spc="-25" dirty="0"/>
              <a:t> </a:t>
            </a:r>
            <a:r>
              <a:rPr spc="-40" dirty="0"/>
              <a:t>the</a:t>
            </a:r>
            <a:r>
              <a:rPr spc="-25" dirty="0"/>
              <a:t> </a:t>
            </a:r>
            <a:r>
              <a:rPr spc="-55" dirty="0"/>
              <a:t>highest</a:t>
            </a:r>
            <a:r>
              <a:rPr spc="-25" dirty="0"/>
              <a:t> </a:t>
            </a:r>
            <a:r>
              <a:rPr spc="-30" dirty="0"/>
              <a:t>quality </a:t>
            </a:r>
            <a:r>
              <a:rPr spc="-40" dirty="0"/>
              <a:t>solution</a:t>
            </a:r>
            <a:r>
              <a:rPr spc="-30" dirty="0"/>
              <a:t> </a:t>
            </a:r>
            <a:r>
              <a:rPr spc="-90" dirty="0"/>
              <a:t>when</a:t>
            </a:r>
            <a:r>
              <a:rPr spc="-5" dirty="0"/>
              <a:t> </a:t>
            </a:r>
            <a:r>
              <a:rPr spc="-65" dirty="0"/>
              <a:t>there</a:t>
            </a:r>
            <a:r>
              <a:rPr spc="-15" dirty="0"/>
              <a:t> </a:t>
            </a:r>
            <a:r>
              <a:rPr spc="-85" dirty="0"/>
              <a:t>are</a:t>
            </a:r>
            <a:r>
              <a:rPr spc="-5" dirty="0"/>
              <a:t> </a:t>
            </a:r>
            <a:r>
              <a:rPr spc="-35" dirty="0"/>
              <a:t>multiple</a:t>
            </a:r>
            <a:r>
              <a:rPr spc="-15" dirty="0"/>
              <a:t> </a:t>
            </a:r>
            <a:r>
              <a:rPr spc="-10" dirty="0"/>
              <a:t>solutions?</a:t>
            </a: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b="1" spc="-10" dirty="0">
                <a:latin typeface="Trebuchet MS"/>
                <a:cs typeface="Trebuchet MS"/>
              </a:rPr>
              <a:t>time</a:t>
            </a:r>
            <a:r>
              <a:rPr b="1" spc="-20" dirty="0">
                <a:latin typeface="Trebuchet MS"/>
                <a:cs typeface="Trebuchet MS"/>
              </a:rPr>
              <a:t> </a:t>
            </a:r>
            <a:r>
              <a:rPr b="1" spc="-40" dirty="0">
                <a:latin typeface="Trebuchet MS"/>
                <a:cs typeface="Trebuchet MS"/>
              </a:rPr>
              <a:t>complexity:</a:t>
            </a:r>
            <a:r>
              <a:rPr b="1" spc="95" dirty="0">
                <a:latin typeface="Trebuchet MS"/>
                <a:cs typeface="Trebuchet MS"/>
              </a:rPr>
              <a:t> </a:t>
            </a:r>
            <a:r>
              <a:rPr spc="-90" dirty="0"/>
              <a:t>how</a:t>
            </a:r>
            <a:r>
              <a:rPr spc="-5" dirty="0"/>
              <a:t> </a:t>
            </a:r>
            <a:r>
              <a:rPr spc="-45" dirty="0"/>
              <a:t>long</a:t>
            </a:r>
            <a:r>
              <a:rPr spc="-30" dirty="0"/>
              <a:t> </a:t>
            </a:r>
            <a:r>
              <a:rPr spc="-70" dirty="0"/>
              <a:t>does</a:t>
            </a:r>
            <a:r>
              <a:rPr spc="-2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spc="-50" dirty="0"/>
              <a:t>take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25" dirty="0"/>
              <a:t>find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spc="-10" dirty="0"/>
              <a:t>solution?</a:t>
            </a:r>
          </a:p>
          <a:p>
            <a:pPr marL="12700" marR="5080">
              <a:lnSpc>
                <a:spcPct val="100000"/>
              </a:lnSpc>
              <a:spcBef>
                <a:spcPts val="305"/>
              </a:spcBef>
            </a:pPr>
            <a:r>
              <a:rPr b="1" spc="-10" dirty="0">
                <a:latin typeface="Trebuchet MS"/>
                <a:cs typeface="Trebuchet MS"/>
              </a:rPr>
              <a:t>space</a:t>
            </a:r>
            <a:r>
              <a:rPr b="1" spc="-25" dirty="0">
                <a:latin typeface="Trebuchet MS"/>
                <a:cs typeface="Trebuchet MS"/>
              </a:rPr>
              <a:t> </a:t>
            </a:r>
            <a:r>
              <a:rPr b="1" spc="-35" dirty="0">
                <a:latin typeface="Trebuchet MS"/>
                <a:cs typeface="Trebuchet MS"/>
              </a:rPr>
              <a:t>complexity:</a:t>
            </a:r>
            <a:r>
              <a:rPr b="1" spc="100" dirty="0">
                <a:latin typeface="Trebuchet MS"/>
                <a:cs typeface="Trebuchet MS"/>
              </a:rPr>
              <a:t> </a:t>
            </a:r>
            <a:r>
              <a:rPr spc="-90" dirty="0"/>
              <a:t>how</a:t>
            </a:r>
            <a:r>
              <a:rPr spc="-5" dirty="0"/>
              <a:t> </a:t>
            </a:r>
            <a:r>
              <a:rPr spc="-65" dirty="0"/>
              <a:t>much</a:t>
            </a:r>
            <a:r>
              <a:rPr spc="-25" dirty="0"/>
              <a:t> </a:t>
            </a:r>
            <a:r>
              <a:rPr spc="-90" dirty="0"/>
              <a:t>memory</a:t>
            </a:r>
            <a:r>
              <a:rPr spc="-5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spc="-70" dirty="0"/>
              <a:t>required</a:t>
            </a:r>
            <a:r>
              <a:rPr spc="-20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-55" dirty="0"/>
              <a:t>perform </a:t>
            </a:r>
            <a:r>
              <a:rPr spc="-40" dirty="0"/>
              <a:t>the </a:t>
            </a:r>
            <a:r>
              <a:rPr spc="-10" dirty="0"/>
              <a:t>search?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1544599"/>
            <a:ext cx="71526" cy="7152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0139" y="1949475"/>
            <a:ext cx="71526" cy="7152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00139" y="2170900"/>
            <a:ext cx="71526" cy="71526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6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20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170878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0" dirty="0"/>
              <a:t>Breadth-</a:t>
            </a:r>
            <a:r>
              <a:rPr spc="-30" dirty="0"/>
              <a:t>first</a:t>
            </a:r>
            <a:r>
              <a:rPr spc="-50" dirty="0"/>
              <a:t> </a:t>
            </a:r>
            <a:r>
              <a:rPr spc="-1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773" y="407531"/>
            <a:ext cx="3500055" cy="381515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spc="-40" dirty="0">
                <a:latin typeface="Tahoma"/>
                <a:cs typeface="Tahoma"/>
              </a:rPr>
              <a:t>Strategy:</a:t>
            </a:r>
            <a:r>
              <a:rPr sz="1200" spc="7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expand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shallowest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node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first </a:t>
            </a:r>
            <a:r>
              <a:rPr sz="1200" spc="-60" dirty="0">
                <a:latin typeface="Tahoma"/>
                <a:cs typeface="Tahoma"/>
              </a:rPr>
              <a:t>Implementation: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Fringe</a:t>
            </a:r>
            <a:r>
              <a:rPr lang="en-US" sz="1200" spc="-45" dirty="0">
                <a:latin typeface="Tahoma"/>
                <a:cs typeface="Tahoma"/>
              </a:rPr>
              <a:t>/Frontier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FIFO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queue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06" y="1021245"/>
            <a:ext cx="3358896" cy="19903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21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FC7A4-185C-051D-2289-A2DA38D71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60904"/>
            <a:ext cx="3427095" cy="26161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ea typeface="Tahoma"/>
              </a:rPr>
              <a:t>BFS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08EBFE-5964-4CE6-0448-4708D496C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249"/>
            <a:ext cx="3515679" cy="1918152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452B5B18-FC9F-4819-1123-1D87D1C4708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21283" y="1896986"/>
            <a:ext cx="2583446" cy="156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4074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5" dirty="0"/>
              <a:t>Properties</a:t>
            </a:r>
            <a:r>
              <a:rPr spc="-45" dirty="0"/>
              <a:t> </a:t>
            </a:r>
            <a:r>
              <a:rPr spc="-30" dirty="0"/>
              <a:t>of</a:t>
            </a:r>
            <a:r>
              <a:rPr spc="-40" dirty="0"/>
              <a:t> </a:t>
            </a:r>
            <a:r>
              <a:rPr spc="-80" dirty="0"/>
              <a:t>Breadth-</a:t>
            </a:r>
            <a:r>
              <a:rPr spc="-30" dirty="0"/>
              <a:t>first</a:t>
            </a:r>
            <a:r>
              <a:rPr spc="-40" dirty="0"/>
              <a:t> </a:t>
            </a:r>
            <a:r>
              <a:rPr spc="-105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66" y="528723"/>
            <a:ext cx="4171315" cy="1674176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38100" marR="683895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Trebuchet MS"/>
                <a:cs typeface="Trebuchet MS"/>
              </a:rPr>
              <a:t>Complete:</a:t>
            </a:r>
            <a:r>
              <a:rPr sz="1200" b="1" spc="25" dirty="0">
                <a:latin typeface="Trebuchet MS"/>
                <a:cs typeface="Trebuchet MS"/>
              </a:rPr>
              <a:t> </a:t>
            </a:r>
            <a:r>
              <a:rPr sz="1200" spc="-65" dirty="0">
                <a:latin typeface="Tahoma"/>
                <a:cs typeface="Tahoma"/>
              </a:rPr>
              <a:t>Guaranteed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find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40" dirty="0">
                <a:latin typeface="Tahoma"/>
                <a:cs typeface="Tahoma"/>
              </a:rPr>
              <a:t> solution </a:t>
            </a:r>
            <a:r>
              <a:rPr sz="1200" dirty="0">
                <a:latin typeface="Tahoma"/>
                <a:cs typeface="Tahoma"/>
              </a:rPr>
              <a:t>if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one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exists? </a:t>
            </a:r>
            <a:r>
              <a:rPr sz="1200" spc="-70" dirty="0">
                <a:latin typeface="Tahoma"/>
                <a:cs typeface="Tahoma"/>
              </a:rPr>
              <a:t>Yes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(if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b</a:t>
            </a:r>
            <a:r>
              <a:rPr sz="1200" i="1" spc="5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finite)</a:t>
            </a:r>
            <a:endParaRPr sz="1200">
              <a:latin typeface="Tahoma"/>
              <a:cs typeface="Tahoma"/>
            </a:endParaRPr>
          </a:p>
          <a:p>
            <a:pPr marL="38100" marR="1019175">
              <a:lnSpc>
                <a:spcPct val="100000"/>
              </a:lnSpc>
              <a:spcBef>
                <a:spcPts val="10"/>
              </a:spcBef>
            </a:pPr>
            <a:r>
              <a:rPr sz="1200" b="1" dirty="0">
                <a:latin typeface="Trebuchet MS"/>
                <a:cs typeface="Trebuchet MS"/>
              </a:rPr>
              <a:t>Optimal:</a:t>
            </a:r>
            <a:r>
              <a:rPr sz="1200" b="1" spc="60" dirty="0">
                <a:latin typeface="Trebuchet MS"/>
                <a:cs typeface="Trebuchet MS"/>
              </a:rPr>
              <a:t> </a:t>
            </a:r>
            <a:r>
              <a:rPr sz="1200" spc="-65" dirty="0">
                <a:latin typeface="Tahoma"/>
                <a:cs typeface="Tahoma"/>
              </a:rPr>
              <a:t>Guaranteed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find</a:t>
            </a:r>
            <a:r>
              <a:rPr sz="1200" spc="-40" dirty="0">
                <a:latin typeface="Tahoma"/>
                <a:cs typeface="Tahoma"/>
              </a:rPr>
              <a:t> the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least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cost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path? </a:t>
            </a:r>
            <a:r>
              <a:rPr sz="1200" spc="-70" dirty="0">
                <a:latin typeface="Tahoma"/>
                <a:cs typeface="Tahoma"/>
              </a:rPr>
              <a:t>Yes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(if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cost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1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per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step);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not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optimal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general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rebuchet MS"/>
                <a:cs typeface="Trebuchet MS"/>
              </a:rPr>
              <a:t>Time:</a:t>
            </a:r>
            <a:r>
              <a:rPr sz="1200" b="1" spc="40" dirty="0">
                <a:latin typeface="Trebuchet MS"/>
                <a:cs typeface="Trebuchet MS"/>
              </a:rPr>
              <a:t> </a:t>
            </a:r>
            <a:r>
              <a:rPr sz="1200" spc="-80" dirty="0">
                <a:latin typeface="Tahoma"/>
                <a:cs typeface="Tahoma"/>
              </a:rPr>
              <a:t>1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i="1" spc="-75" dirty="0">
                <a:latin typeface="Trebuchet MS"/>
                <a:cs typeface="Trebuchet MS"/>
              </a:rPr>
              <a:t>b</a:t>
            </a:r>
            <a:r>
              <a:rPr sz="1200" i="1" spc="-60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b</a:t>
            </a:r>
            <a:r>
              <a:rPr sz="1200" baseline="31250" dirty="0">
                <a:latin typeface="Arial MT"/>
                <a:cs typeface="Arial MT"/>
              </a:rPr>
              <a:t>2</a:t>
            </a:r>
            <a:r>
              <a:rPr sz="1200" spc="120" baseline="3125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b</a:t>
            </a:r>
            <a:r>
              <a:rPr sz="1200" baseline="31250" dirty="0">
                <a:latin typeface="Arial MT"/>
                <a:cs typeface="Arial MT"/>
              </a:rPr>
              <a:t>3</a:t>
            </a:r>
            <a:r>
              <a:rPr sz="1200" spc="120" baseline="31250" dirty="0">
                <a:latin typeface="Arial MT"/>
                <a:cs typeface="Arial MT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i="1" spc="-25" dirty="0">
                <a:latin typeface="Arial"/>
                <a:cs typeface="Arial"/>
              </a:rPr>
              <a:t>.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.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spc="-20" dirty="0">
                <a:latin typeface="Arial"/>
                <a:cs typeface="Arial"/>
              </a:rPr>
              <a:t>.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+</a:t>
            </a:r>
            <a:r>
              <a:rPr sz="1200" spc="-110" dirty="0">
                <a:latin typeface="Tahoma"/>
                <a:cs typeface="Tahoma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b</a:t>
            </a:r>
            <a:r>
              <a:rPr sz="1200" i="1" baseline="31250" dirty="0">
                <a:latin typeface="Arial"/>
                <a:cs typeface="Arial"/>
              </a:rPr>
              <a:t>d</a:t>
            </a:r>
            <a:r>
              <a:rPr sz="1200" i="1" spc="322" baseline="3125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=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200" i="1" dirty="0">
                <a:latin typeface="Trebuchet MS"/>
                <a:cs typeface="Trebuchet MS"/>
              </a:rPr>
              <a:t>b</a:t>
            </a:r>
            <a:r>
              <a:rPr sz="1200" i="1" baseline="31250" dirty="0">
                <a:latin typeface="Arial"/>
                <a:cs typeface="Arial"/>
              </a:rPr>
              <a:t>d</a:t>
            </a:r>
            <a:r>
              <a:rPr sz="1200" i="1" spc="-150" baseline="3125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), </a:t>
            </a:r>
            <a:r>
              <a:rPr sz="1200" spc="-35" dirty="0">
                <a:latin typeface="Tahoma"/>
                <a:cs typeface="Tahoma"/>
              </a:rPr>
              <a:t>i.e.,</a:t>
            </a:r>
            <a:r>
              <a:rPr sz="1200" spc="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exponential</a:t>
            </a:r>
            <a:r>
              <a:rPr sz="1200" dirty="0">
                <a:latin typeface="Tahoma"/>
                <a:cs typeface="Tahoma"/>
              </a:rPr>
              <a:t> in </a:t>
            </a:r>
            <a:r>
              <a:rPr sz="1200" i="1" spc="-50" dirty="0">
                <a:latin typeface="Trebuchet MS"/>
                <a:cs typeface="Trebuchet MS"/>
              </a:rPr>
              <a:t>d</a:t>
            </a:r>
            <a:endParaRPr sz="1200">
              <a:latin typeface="Trebuchet MS"/>
              <a:cs typeface="Trebuchet MS"/>
            </a:endParaRPr>
          </a:p>
          <a:p>
            <a:pPr marL="38100">
              <a:spcBef>
                <a:spcPts val="5"/>
              </a:spcBef>
            </a:pPr>
            <a:r>
              <a:rPr sz="1200" b="1" dirty="0">
                <a:latin typeface="Trebuchet MS"/>
                <a:cs typeface="Trebuchet MS"/>
              </a:rPr>
              <a:t>Space:</a:t>
            </a:r>
            <a:r>
              <a:rPr sz="1200" b="1" spc="110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200" i="1" dirty="0">
                <a:latin typeface="Trebuchet MS"/>
                <a:cs typeface="Trebuchet MS"/>
              </a:rPr>
              <a:t>b</a:t>
            </a:r>
            <a:r>
              <a:rPr sz="1200" i="1" baseline="31250" dirty="0">
                <a:latin typeface="Arial"/>
                <a:cs typeface="Arial"/>
              </a:rPr>
              <a:t>d</a:t>
            </a:r>
            <a:r>
              <a:rPr sz="1200" i="1" spc="-150" baseline="31250" dirty="0">
                <a:latin typeface="Arial"/>
                <a:cs typeface="Arial"/>
              </a:rPr>
              <a:t> </a:t>
            </a:r>
            <a:r>
              <a:rPr sz="1200" dirty="0">
                <a:latin typeface="Tahoma"/>
                <a:cs typeface="Tahoma"/>
              </a:rPr>
              <a:t>)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(keeps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every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node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10" dirty="0">
                <a:latin typeface="Tahoma"/>
                <a:cs typeface="Tahoma"/>
              </a:rPr>
              <a:t> memory</a:t>
            </a:r>
            <a:r>
              <a:rPr lang="en-US" sz="1200" spc="-10" dirty="0">
                <a:latin typeface="Tahoma"/>
                <a:cs typeface="Tahoma"/>
              </a:rPr>
              <a:t>)[b=branch, d=depth]</a:t>
            </a:r>
            <a:endParaRPr sz="1200" dirty="0">
              <a:latin typeface="Tahoma"/>
              <a:cs typeface="Tahoma"/>
            </a:endParaRPr>
          </a:p>
          <a:p>
            <a:pPr marL="38100" marR="98425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rebuchet MS"/>
                <a:cs typeface="Trebuchet MS"/>
              </a:rPr>
              <a:t>Space</a:t>
            </a:r>
            <a:r>
              <a:rPr sz="1200" b="1" spc="-50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big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problem;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can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easily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generate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nodes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1MB/sec </a:t>
            </a:r>
            <a:r>
              <a:rPr sz="1200" spc="-60" dirty="0">
                <a:latin typeface="Tahoma"/>
                <a:cs typeface="Tahoma"/>
              </a:rPr>
              <a:t>so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24hrs</a:t>
            </a:r>
            <a:r>
              <a:rPr sz="1200" dirty="0">
                <a:latin typeface="Tahoma"/>
                <a:cs typeface="Tahoma"/>
              </a:rPr>
              <a:t> = </a:t>
            </a:r>
            <a:r>
              <a:rPr sz="1200" spc="-10" dirty="0">
                <a:latin typeface="Tahoma"/>
                <a:cs typeface="Tahoma"/>
              </a:rPr>
              <a:t>86GB.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4118" y="2164896"/>
            <a:ext cx="2209800" cy="11811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23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155194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Depth-</a:t>
            </a:r>
            <a:r>
              <a:rPr spc="-30" dirty="0"/>
              <a:t>first</a:t>
            </a:r>
            <a:r>
              <a:rPr spc="-55" dirty="0"/>
              <a:t> </a:t>
            </a:r>
            <a:r>
              <a:rPr spc="-110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66" y="621611"/>
            <a:ext cx="3115310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spc="-40" dirty="0">
                <a:latin typeface="Tahoma"/>
                <a:cs typeface="Tahoma"/>
              </a:rPr>
              <a:t>Strategy:</a:t>
            </a:r>
            <a:r>
              <a:rPr sz="1200" spc="7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expand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deepest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node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first </a:t>
            </a:r>
            <a:r>
              <a:rPr sz="1200" spc="-60" dirty="0">
                <a:latin typeface="Tahoma"/>
                <a:cs typeface="Tahoma"/>
              </a:rPr>
              <a:t>Implementation: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Fringe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LIFO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queue</a:t>
            </a:r>
            <a:r>
              <a:rPr sz="1200" dirty="0">
                <a:latin typeface="Tahoma"/>
                <a:cs typeface="Tahoma"/>
              </a:rPr>
              <a:t> (a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stack)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06" y="1026312"/>
            <a:ext cx="3358896" cy="199034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24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A2A3-2177-DB0B-7557-260A63588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5132" y="-2803"/>
            <a:ext cx="1525068" cy="26161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ea typeface="Tahoma"/>
              </a:rPr>
              <a:t>DFS</a:t>
            </a:r>
            <a:endParaRPr lang="en-US" dirty="0"/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D76E6E9C-B0CE-6140-0107-C1219E767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8" y="127414"/>
            <a:ext cx="2776991" cy="2408337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082D3596-55E8-654B-A9D0-60ED6E8A35E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14286" y="2051395"/>
            <a:ext cx="2297703" cy="14106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7D2764-2BA0-E354-AFF1-B0C42CF1E5B1}"/>
              </a:ext>
            </a:extLst>
          </p:cNvPr>
          <p:cNvSpPr txBox="1"/>
          <p:nvPr/>
        </p:nvSpPr>
        <p:spPr>
          <a:xfrm>
            <a:off x="113049" y="2753368"/>
            <a:ext cx="274319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100" dirty="0"/>
              <a:t>Arad → Sibiu → </a:t>
            </a:r>
            <a:r>
              <a:rPr lang="en-US" sz="1100" dirty="0" err="1"/>
              <a:t>Rimnicu</a:t>
            </a:r>
            <a:r>
              <a:rPr lang="en-US" sz="1100" dirty="0"/>
              <a:t> </a:t>
            </a:r>
            <a:r>
              <a:rPr lang="en-US" sz="1100" dirty="0" err="1"/>
              <a:t>Vilcea</a:t>
            </a:r>
            <a:r>
              <a:rPr lang="en-US" sz="1100" dirty="0"/>
              <a:t> → Pitesti → Bucharest</a:t>
            </a:r>
          </a:p>
        </p:txBody>
      </p:sp>
    </p:spTree>
    <p:extLst>
      <p:ext uri="{BB962C8B-B14F-4D97-AF65-F5344CB8AC3E}">
        <p14:creationId xmlns:p14="http://schemas.microsoft.com/office/powerpoint/2010/main" val="2536171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17284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90" dirty="0"/>
              <a:t>Uniform-</a:t>
            </a:r>
            <a:r>
              <a:rPr spc="-65" dirty="0"/>
              <a:t>cost</a:t>
            </a:r>
            <a:r>
              <a:rPr dirty="0"/>
              <a:t> </a:t>
            </a:r>
            <a:r>
              <a:rPr spc="-105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690460"/>
            <a:ext cx="71526" cy="715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3298" y="599983"/>
            <a:ext cx="3861435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latin typeface="Tahoma"/>
                <a:cs typeface="Tahoma"/>
              </a:rPr>
              <a:t>Instead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expanding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shallowest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node,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uniform-</a:t>
            </a:r>
            <a:r>
              <a:rPr sz="1200" spc="-30" dirty="0">
                <a:latin typeface="Tahoma"/>
                <a:cs typeface="Tahoma"/>
              </a:rPr>
              <a:t>cost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search </a:t>
            </a:r>
            <a:r>
              <a:rPr sz="1200" spc="-85" dirty="0">
                <a:latin typeface="Tahoma"/>
                <a:cs typeface="Tahoma"/>
              </a:rPr>
              <a:t>expands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node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with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lowest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path </a:t>
            </a:r>
            <a:r>
              <a:rPr sz="1200" spc="-25" dirty="0">
                <a:latin typeface="Tahoma"/>
                <a:cs typeface="Tahoma"/>
              </a:rPr>
              <a:t>cost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g(n)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8666" y="1074483"/>
            <a:ext cx="3490569" cy="210372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4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26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83528-8B2A-45EB-D9A5-2196ADC3C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60904"/>
            <a:ext cx="3427095" cy="26161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ea typeface="Tahoma"/>
              </a:rPr>
              <a:t>UCS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FA1B4C3-1868-3F68-5FC3-8BAF66FB4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6" y="596533"/>
            <a:ext cx="2374414" cy="2269211"/>
          </a:xfrm>
          <a:prstGeom prst="rect">
            <a:avLst/>
          </a:prstGeom>
        </p:spPr>
      </p:pic>
      <p:pic>
        <p:nvPicPr>
          <p:cNvPr id="6" name="object 5">
            <a:extLst>
              <a:ext uri="{FF2B5EF4-FFF2-40B4-BE49-F238E27FC236}">
                <a16:creationId xmlns:a16="http://schemas.microsoft.com/office/drawing/2014/main" id="{7BCD3E3C-D8ED-9220-3214-8BD28770DF3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5621" y="512699"/>
            <a:ext cx="2783108" cy="178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071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27241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5" dirty="0"/>
              <a:t>Properties</a:t>
            </a:r>
            <a:r>
              <a:rPr spc="-45" dirty="0"/>
              <a:t> </a:t>
            </a:r>
            <a:r>
              <a:rPr spc="-30" dirty="0"/>
              <a:t>of</a:t>
            </a:r>
            <a:r>
              <a:rPr spc="-45" dirty="0"/>
              <a:t> </a:t>
            </a:r>
            <a:r>
              <a:rPr spc="-85" dirty="0"/>
              <a:t>Depth-</a:t>
            </a:r>
            <a:r>
              <a:rPr spc="-30" dirty="0"/>
              <a:t>first</a:t>
            </a:r>
            <a:r>
              <a:rPr spc="-45" dirty="0"/>
              <a:t> </a:t>
            </a:r>
            <a:r>
              <a:rPr spc="-105" dirty="0"/>
              <a:t>search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66" y="586928"/>
            <a:ext cx="4077970" cy="1308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83185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Trebuchet MS"/>
                <a:cs typeface="Trebuchet MS"/>
              </a:rPr>
              <a:t>Complete:</a:t>
            </a:r>
            <a:r>
              <a:rPr sz="1200" b="1" spc="75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No.</a:t>
            </a:r>
            <a:r>
              <a:rPr sz="1200" spc="8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fails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infinite-depth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spaces,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spaces</a:t>
            </a:r>
            <a:r>
              <a:rPr sz="1200" spc="-20" dirty="0">
                <a:latin typeface="Tahoma"/>
                <a:cs typeface="Tahoma"/>
              </a:rPr>
              <a:t> with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loops </a:t>
            </a:r>
            <a:r>
              <a:rPr sz="1200" spc="-10" dirty="0">
                <a:latin typeface="Tahoma"/>
                <a:cs typeface="Tahoma"/>
              </a:rPr>
              <a:t>Modify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avoid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repeated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states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along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path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0"/>
              </a:spcBef>
            </a:pPr>
            <a:r>
              <a:rPr sz="1200" spc="65" dirty="0">
                <a:latin typeface="Lucida Sans Unicode"/>
                <a:cs typeface="Lucida Sans Unicode"/>
              </a:rPr>
              <a:t>⇒</a:t>
            </a:r>
            <a:r>
              <a:rPr sz="1200" spc="-35" dirty="0">
                <a:latin typeface="Lucida Sans Unicode"/>
                <a:cs typeface="Lucida Sans Unicode"/>
              </a:rPr>
              <a:t> </a:t>
            </a:r>
            <a:r>
              <a:rPr sz="1200" spc="-55" dirty="0">
                <a:latin typeface="Tahoma"/>
                <a:cs typeface="Tahoma"/>
              </a:rPr>
              <a:t>complete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finite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spaces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rebuchet MS"/>
                <a:cs typeface="Trebuchet MS"/>
              </a:rPr>
              <a:t>Optimal:</a:t>
            </a:r>
            <a:r>
              <a:rPr sz="1200" b="1" spc="5" dirty="0">
                <a:latin typeface="Trebuchet MS"/>
                <a:cs typeface="Trebuchet MS"/>
              </a:rPr>
              <a:t> </a:t>
            </a:r>
            <a:r>
              <a:rPr sz="1200" spc="-25" dirty="0">
                <a:latin typeface="Tahoma"/>
                <a:cs typeface="Tahoma"/>
              </a:rPr>
              <a:t>No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</a:pPr>
            <a:r>
              <a:rPr sz="1200" b="1" dirty="0">
                <a:latin typeface="Trebuchet MS"/>
                <a:cs typeface="Trebuchet MS"/>
              </a:rPr>
              <a:t>Time:</a:t>
            </a:r>
            <a:r>
              <a:rPr sz="1200" b="1" spc="100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200" i="1" dirty="0">
                <a:latin typeface="Trebuchet MS"/>
                <a:cs typeface="Trebuchet MS"/>
              </a:rPr>
              <a:t>b</a:t>
            </a:r>
            <a:r>
              <a:rPr sz="1200" i="1" baseline="31250" dirty="0">
                <a:latin typeface="Arial"/>
                <a:cs typeface="Arial"/>
              </a:rPr>
              <a:t>m</a:t>
            </a:r>
            <a:r>
              <a:rPr sz="1200" dirty="0">
                <a:latin typeface="Tahoma"/>
                <a:cs typeface="Tahoma"/>
              </a:rPr>
              <a:t>):</a:t>
            </a:r>
            <a:r>
              <a:rPr sz="1200" spc="9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terrible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m</a:t>
            </a:r>
            <a:r>
              <a:rPr sz="1200" i="1" spc="10" dirty="0">
                <a:latin typeface="Trebuchet MS"/>
                <a:cs typeface="Trebuchet MS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much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larger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than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i="1" spc="-50" dirty="0">
                <a:latin typeface="Trebuchet MS"/>
                <a:cs typeface="Trebuchet MS"/>
              </a:rPr>
              <a:t>d</a:t>
            </a:r>
            <a:endParaRPr sz="12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200" spc="-10" dirty="0">
                <a:latin typeface="Tahoma"/>
                <a:cs typeface="Tahoma"/>
              </a:rPr>
              <a:t>but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if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solutions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are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90" dirty="0">
                <a:latin typeface="Tahoma"/>
                <a:cs typeface="Tahoma"/>
              </a:rPr>
              <a:t>dense,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may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be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much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faster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than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breadth-</a:t>
            </a:r>
            <a:r>
              <a:rPr sz="1200" spc="-10" dirty="0">
                <a:latin typeface="Tahoma"/>
                <a:cs typeface="Tahoma"/>
              </a:rPr>
              <a:t>first</a:t>
            </a:r>
            <a:endParaRPr sz="12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1200" b="1" dirty="0">
                <a:latin typeface="Trebuchet MS"/>
                <a:cs typeface="Trebuchet MS"/>
              </a:rPr>
              <a:t>Space:</a:t>
            </a:r>
            <a:r>
              <a:rPr sz="1200" b="1" spc="65" dirty="0">
                <a:latin typeface="Trebuchet MS"/>
                <a:cs typeface="Trebuchet MS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O</a:t>
            </a:r>
            <a:r>
              <a:rPr sz="1200" dirty="0">
                <a:latin typeface="Tahoma"/>
                <a:cs typeface="Tahoma"/>
              </a:rPr>
              <a:t>(</a:t>
            </a:r>
            <a:r>
              <a:rPr sz="1200" i="1" dirty="0">
                <a:latin typeface="Trebuchet MS"/>
                <a:cs typeface="Trebuchet MS"/>
              </a:rPr>
              <a:t>bm</a:t>
            </a:r>
            <a:r>
              <a:rPr sz="1200" dirty="0">
                <a:latin typeface="Tahoma"/>
                <a:cs typeface="Tahoma"/>
              </a:rPr>
              <a:t>),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35" dirty="0">
                <a:latin typeface="Tahoma"/>
                <a:cs typeface="Tahoma"/>
              </a:rPr>
              <a:t>i.e.,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linear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space!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66" y="1902828"/>
            <a:ext cx="2159000" cy="11811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28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04"/>
            <a:ext cx="1799589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85" dirty="0">
                <a:solidFill>
                  <a:srgbClr val="CC0000"/>
                </a:solidFill>
                <a:latin typeface="Tahoma"/>
                <a:cs typeface="Tahoma"/>
              </a:rPr>
              <a:t>Depth-</a:t>
            </a:r>
            <a:r>
              <a:rPr sz="1700" spc="-60" dirty="0">
                <a:solidFill>
                  <a:srgbClr val="CC0000"/>
                </a:solidFill>
                <a:latin typeface="Tahoma"/>
                <a:cs typeface="Tahoma"/>
              </a:rPr>
              <a:t>limited</a:t>
            </a:r>
            <a:r>
              <a:rPr sz="1700" spc="2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10" dirty="0">
                <a:solidFill>
                  <a:srgbClr val="CC0000"/>
                </a:solidFill>
                <a:latin typeface="Tahoma"/>
                <a:cs typeface="Tahoma"/>
              </a:rPr>
              <a:t>search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1525193"/>
            <a:ext cx="71526" cy="715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3298" y="1395489"/>
            <a:ext cx="3509010" cy="468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200" spc="-60" dirty="0">
                <a:latin typeface="Tahoma"/>
                <a:cs typeface="Tahoma"/>
              </a:rPr>
              <a:t>depth-</a:t>
            </a:r>
            <a:r>
              <a:rPr sz="1200" spc="-20" dirty="0">
                <a:latin typeface="Tahoma"/>
                <a:cs typeface="Tahoma"/>
              </a:rPr>
              <a:t>first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search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with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depth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limit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i="1" spc="-50" dirty="0">
                <a:latin typeface="Trebuchet MS"/>
                <a:cs typeface="Trebuchet MS"/>
              </a:rPr>
              <a:t>L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b="1" spc="-25" dirty="0">
                <a:latin typeface="Trebuchet MS"/>
                <a:cs typeface="Trebuchet MS"/>
              </a:rPr>
              <a:t>Implementation</a:t>
            </a:r>
            <a:r>
              <a:rPr sz="1200" spc="-25" dirty="0">
                <a:latin typeface="Tahoma"/>
                <a:cs typeface="Tahoma"/>
              </a:rPr>
              <a:t>:</a:t>
            </a:r>
            <a:r>
              <a:rPr sz="1200" spc="9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Nodes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at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depth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i="1" dirty="0">
                <a:latin typeface="Trebuchet MS"/>
                <a:cs typeface="Trebuchet MS"/>
              </a:rPr>
              <a:t>L</a:t>
            </a:r>
            <a:r>
              <a:rPr sz="1200" i="1" spc="-10" dirty="0">
                <a:latin typeface="Trebuchet MS"/>
                <a:cs typeface="Trebuchet MS"/>
              </a:rPr>
              <a:t> </a:t>
            </a:r>
            <a:r>
              <a:rPr sz="1200" spc="-75" dirty="0">
                <a:latin typeface="Tahoma"/>
                <a:cs typeface="Tahoma"/>
              </a:rPr>
              <a:t>have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no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successors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1746618"/>
            <a:ext cx="71526" cy="7152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4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29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Iterative</a:t>
            </a:r>
            <a:r>
              <a:rPr dirty="0"/>
              <a:t> </a:t>
            </a:r>
            <a:r>
              <a:rPr spc="-130" dirty="0"/>
              <a:t>deepening</a:t>
            </a:r>
            <a:r>
              <a:rPr spc="5" dirty="0"/>
              <a:t> </a:t>
            </a:r>
            <a:r>
              <a:rPr spc="-110" dirty="0"/>
              <a:t>search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139" y="1305039"/>
            <a:ext cx="71526" cy="715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33298" y="1214562"/>
            <a:ext cx="3786504" cy="979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8575" algn="just">
              <a:lnSpc>
                <a:spcPct val="100000"/>
              </a:lnSpc>
              <a:spcBef>
                <a:spcPts val="95"/>
              </a:spcBef>
            </a:pPr>
            <a:r>
              <a:rPr sz="1200" spc="-55" dirty="0">
                <a:latin typeface="Tahoma"/>
                <a:cs typeface="Tahoma"/>
              </a:rPr>
              <a:t>Iterative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deepening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search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(or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iterative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deepening</a:t>
            </a:r>
            <a:r>
              <a:rPr sz="120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depth-</a:t>
            </a:r>
            <a:r>
              <a:rPr sz="1200" spc="-10" dirty="0">
                <a:latin typeface="Tahoma"/>
                <a:cs typeface="Tahoma"/>
              </a:rPr>
              <a:t>first </a:t>
            </a:r>
            <a:r>
              <a:rPr sz="1200" spc="-70" dirty="0">
                <a:latin typeface="Tahoma"/>
                <a:cs typeface="Tahoma"/>
              </a:rPr>
              <a:t>search)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75" dirty="0">
                <a:latin typeface="Tahoma"/>
                <a:cs typeface="Tahoma"/>
              </a:rPr>
              <a:t>general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strategy,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often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85" dirty="0">
                <a:latin typeface="Tahoma"/>
                <a:cs typeface="Tahoma"/>
              </a:rPr>
              <a:t>used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combination</a:t>
            </a:r>
            <a:r>
              <a:rPr sz="1200" spc="-20" dirty="0">
                <a:latin typeface="Tahoma"/>
                <a:cs typeface="Tahoma"/>
              </a:rPr>
              <a:t> with </a:t>
            </a:r>
            <a:r>
              <a:rPr sz="1200" spc="-60" dirty="0">
                <a:latin typeface="Tahoma"/>
                <a:cs typeface="Tahoma"/>
              </a:rPr>
              <a:t>depth-</a:t>
            </a:r>
            <a:r>
              <a:rPr sz="1200" spc="-20" dirty="0">
                <a:latin typeface="Tahoma"/>
                <a:cs typeface="Tahoma"/>
              </a:rPr>
              <a:t>first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tree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search,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which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finds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5" dirty="0">
                <a:latin typeface="Tahoma"/>
                <a:cs typeface="Tahoma"/>
              </a:rPr>
              <a:t>best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depth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limit.</a:t>
            </a:r>
            <a:endParaRPr sz="12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  <a:spcBef>
                <a:spcPts val="310"/>
              </a:spcBef>
            </a:pPr>
            <a:r>
              <a:rPr sz="1200" spc="-10" dirty="0">
                <a:latin typeface="Tahoma"/>
                <a:cs typeface="Tahoma"/>
              </a:rPr>
              <a:t>It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70" dirty="0">
                <a:latin typeface="Tahoma"/>
                <a:cs typeface="Tahoma"/>
              </a:rPr>
              <a:t>does</a:t>
            </a:r>
            <a:r>
              <a:rPr sz="1200" spc="-20" dirty="0">
                <a:latin typeface="Tahoma"/>
                <a:cs typeface="Tahoma"/>
              </a:rPr>
              <a:t> this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by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gradually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increasing</a:t>
            </a:r>
            <a:r>
              <a:rPr sz="1200" spc="-40" dirty="0">
                <a:latin typeface="Tahoma"/>
                <a:cs typeface="Tahoma"/>
              </a:rPr>
              <a:t> the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limit—</a:t>
            </a:r>
            <a:r>
              <a:rPr sz="1200" dirty="0">
                <a:latin typeface="Tahoma"/>
                <a:cs typeface="Tahoma"/>
              </a:rPr>
              <a:t>first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0,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then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1, </a:t>
            </a:r>
            <a:r>
              <a:rPr sz="1200" spc="-55" dirty="0">
                <a:latin typeface="Tahoma"/>
                <a:cs typeface="Tahoma"/>
              </a:rPr>
              <a:t>then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2,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and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60" dirty="0">
                <a:latin typeface="Tahoma"/>
                <a:cs typeface="Tahoma"/>
              </a:rPr>
              <a:t>so</a:t>
            </a:r>
            <a:r>
              <a:rPr sz="1200" spc="-35" dirty="0">
                <a:latin typeface="Tahoma"/>
                <a:cs typeface="Tahoma"/>
              </a:rPr>
              <a:t> on—</a:t>
            </a:r>
            <a:r>
              <a:rPr sz="1200" spc="-20" dirty="0">
                <a:latin typeface="Tahoma"/>
                <a:cs typeface="Tahoma"/>
              </a:rPr>
              <a:t>until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45" dirty="0">
                <a:latin typeface="Tahoma"/>
                <a:cs typeface="Tahoma"/>
              </a:rPr>
              <a:t> goal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is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found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1893379"/>
            <a:ext cx="71526" cy="71526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4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30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04"/>
            <a:ext cx="169608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55" dirty="0">
                <a:solidFill>
                  <a:srgbClr val="CC0000"/>
                </a:solidFill>
                <a:latin typeface="Tahoma"/>
                <a:cs typeface="Tahoma"/>
              </a:rPr>
              <a:t>Bidirectional</a:t>
            </a:r>
            <a:r>
              <a:rPr sz="1700" spc="-10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10" dirty="0">
                <a:solidFill>
                  <a:srgbClr val="CC0000"/>
                </a:solidFill>
                <a:latin typeface="Tahoma"/>
                <a:cs typeface="Tahoma"/>
              </a:rPr>
              <a:t>search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9532" y="963053"/>
            <a:ext cx="4175188" cy="160039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31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60904"/>
            <a:ext cx="257238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95" dirty="0">
                <a:solidFill>
                  <a:srgbClr val="CC0000"/>
                </a:solidFill>
                <a:latin typeface="Tahoma"/>
                <a:cs typeface="Tahoma"/>
              </a:rPr>
              <a:t>Comparing</a:t>
            </a:r>
            <a:r>
              <a:rPr sz="1700" spc="3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14" dirty="0">
                <a:solidFill>
                  <a:srgbClr val="CC0000"/>
                </a:solidFill>
                <a:latin typeface="Tahoma"/>
                <a:cs typeface="Tahoma"/>
              </a:rPr>
              <a:t>uninformed</a:t>
            </a:r>
            <a:r>
              <a:rPr sz="1700" spc="35" dirty="0">
                <a:solidFill>
                  <a:srgbClr val="CC0000"/>
                </a:solidFill>
                <a:latin typeface="Tahoma"/>
                <a:cs typeface="Tahoma"/>
              </a:rPr>
              <a:t> </a:t>
            </a:r>
            <a:r>
              <a:rPr sz="1700" spc="-105" dirty="0">
                <a:solidFill>
                  <a:srgbClr val="CC0000"/>
                </a:solidFill>
                <a:latin typeface="Tahoma"/>
                <a:cs typeface="Tahoma"/>
              </a:rPr>
              <a:t>search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248" y="998486"/>
            <a:ext cx="4175188" cy="149409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" name="object 5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3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32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04"/>
            <a:ext cx="184467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Exercise/Home</a:t>
            </a:r>
            <a:r>
              <a:rPr spc="-10" dirty="0"/>
              <a:t> </a:t>
            </a:r>
            <a:r>
              <a:rPr spc="-50" dirty="0"/>
              <a:t>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666" y="695553"/>
            <a:ext cx="3888105" cy="16592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0139" y="2540139"/>
            <a:ext cx="71526" cy="7152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3298" y="2449662"/>
            <a:ext cx="3964304" cy="39116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00" spc="-40" dirty="0">
                <a:latin typeface="Tahoma"/>
                <a:cs typeface="Tahoma"/>
              </a:rPr>
              <a:t>Simulate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BFS,DFS</a:t>
            </a:r>
            <a:r>
              <a:rPr lang="en-US" sz="1200" dirty="0">
                <a:latin typeface="Tahoma"/>
                <a:cs typeface="Tahoma"/>
              </a:rPr>
              <a:t>,</a:t>
            </a:r>
            <a:r>
              <a:rPr sz="1200" dirty="0">
                <a:latin typeface="Tahoma"/>
                <a:cs typeface="Tahoma"/>
              </a:rPr>
              <a:t>UCS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using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 graph.</a:t>
            </a:r>
            <a:r>
              <a:rPr sz="1200" spc="65" dirty="0">
                <a:latin typeface="Tahoma"/>
                <a:cs typeface="Tahoma"/>
              </a:rPr>
              <a:t> </a:t>
            </a:r>
            <a:r>
              <a:rPr sz="1200" spc="-65" dirty="0">
                <a:latin typeface="Tahoma"/>
                <a:cs typeface="Tahoma"/>
              </a:rPr>
              <a:t>Show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the </a:t>
            </a:r>
            <a:r>
              <a:rPr sz="1200" spc="-65" dirty="0">
                <a:latin typeface="Tahoma"/>
                <a:cs typeface="Tahoma"/>
              </a:rPr>
              <a:t>expand </a:t>
            </a:r>
            <a:r>
              <a:rPr sz="1200" spc="-55" dirty="0">
                <a:latin typeface="Tahoma"/>
                <a:cs typeface="Tahoma"/>
              </a:rPr>
              <a:t>tree,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80" dirty="0">
                <a:latin typeface="Tahoma"/>
                <a:cs typeface="Tahoma"/>
              </a:rPr>
              <a:t>explored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set(visited),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40" dirty="0">
                <a:latin typeface="Tahoma"/>
                <a:cs typeface="Tahoma"/>
              </a:rPr>
              <a:t>Frontier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5" dirty="0">
                <a:latin typeface="Tahoma"/>
                <a:cs typeface="Tahoma"/>
              </a:rPr>
              <a:t>and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30" dirty="0">
                <a:latin typeface="Tahoma"/>
                <a:cs typeface="Tahoma"/>
              </a:rPr>
              <a:t>path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cost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4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33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9F14-317C-9689-A7F6-871849BB7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60904"/>
            <a:ext cx="3427095" cy="26161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ea typeface="Tahoma"/>
              </a:rPr>
              <a:t>BFS</a:t>
            </a:r>
            <a:endParaRPr lang="en-US" dirty="0"/>
          </a:p>
        </p:txBody>
      </p:sp>
      <p:pic>
        <p:nvPicPr>
          <p:cNvPr id="4" name="Picture 3" descr="A screenshot of a white sheet&#10;&#10;AI-generated content may be incorrect.">
            <a:extLst>
              <a:ext uri="{FF2B5EF4-FFF2-40B4-BE49-F238E27FC236}">
                <a16:creationId xmlns:a16="http://schemas.microsoft.com/office/drawing/2014/main" id="{19A5C462-06E9-52C1-747B-F4A2E2A3B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4530"/>
            <a:ext cx="4607934" cy="2815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61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5C07-D56F-CC1C-B883-DEAF65459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60904"/>
            <a:ext cx="3427095" cy="26161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ea typeface="Tahoma"/>
              </a:rPr>
              <a:t>DFS</a:t>
            </a:r>
            <a:endParaRPr lang="en-US" dirty="0"/>
          </a:p>
        </p:txBody>
      </p:sp>
      <p:pic>
        <p:nvPicPr>
          <p:cNvPr id="4" name="Picture 3" descr="A screenshot of a white sheet">
            <a:extLst>
              <a:ext uri="{FF2B5EF4-FFF2-40B4-BE49-F238E27FC236}">
                <a16:creationId xmlns:a16="http://schemas.microsoft.com/office/drawing/2014/main" id="{EF01DBB7-35DC-4266-0A0F-1B50FCF9F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4077"/>
            <a:ext cx="4607934" cy="2523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91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815A7-F645-5407-1FE8-69B841DBD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60904"/>
            <a:ext cx="3427095" cy="26161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ea typeface="Tahoma"/>
              </a:rPr>
              <a:t>IDS</a:t>
            </a:r>
            <a:endParaRPr lang="en-US" dirty="0"/>
          </a:p>
        </p:txBody>
      </p:sp>
      <p:pic>
        <p:nvPicPr>
          <p:cNvPr id="4" name="Picture 3" descr="A diagram of a goal found&#10;&#10;AI-generated content may be incorrect.">
            <a:extLst>
              <a:ext uri="{FF2B5EF4-FFF2-40B4-BE49-F238E27FC236}">
                <a16:creationId xmlns:a16="http://schemas.microsoft.com/office/drawing/2014/main" id="{8A88E295-B7E0-62BA-4BA0-9B5AFD8D3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98" y="603139"/>
            <a:ext cx="3715708" cy="2250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858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535CF-FECE-48A4-C0FF-405079650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00" y="60904"/>
            <a:ext cx="3427095" cy="261610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ea typeface="Tahoma"/>
              </a:rPr>
              <a:t>UCS</a:t>
            </a:r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71378FC-B797-4BB6-4AAD-2C9AC4E1B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" y="658201"/>
            <a:ext cx="4602136" cy="2558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399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0" dirty="0"/>
              <a:t>References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4086" y="990757"/>
            <a:ext cx="106680" cy="144780"/>
            <a:chOff x="184086" y="990757"/>
            <a:chExt cx="106680" cy="144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626" y="993297"/>
              <a:ext cx="101219" cy="1391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6626" y="99329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9278" y="101227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1931" y="103125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9278" y="106288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562" y="1059720"/>
              <a:ext cx="31635" cy="4428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3562" y="111349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62540" y="99329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84086" y="1612308"/>
            <a:ext cx="106680" cy="144780"/>
            <a:chOff x="184086" y="1612308"/>
            <a:chExt cx="106680" cy="14478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6626" y="1614848"/>
              <a:ext cx="101219" cy="13917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6626" y="1614848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9278" y="163382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1931" y="1652805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9278" y="168443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562" y="1681271"/>
              <a:ext cx="31635" cy="4428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43562" y="173504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62540" y="1614848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184086" y="1892254"/>
            <a:ext cx="106680" cy="144780"/>
            <a:chOff x="184086" y="1892254"/>
            <a:chExt cx="106680" cy="14478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626" y="1894794"/>
              <a:ext cx="101219" cy="139174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86626" y="1894794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9278" y="1913772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1931" y="1932751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99278" y="1964381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562" y="1961217"/>
              <a:ext cx="31635" cy="4428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43562" y="2014990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2540" y="1894794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84086" y="2172187"/>
            <a:ext cx="106680" cy="144780"/>
            <a:chOff x="184086" y="2172187"/>
            <a:chExt cx="106680" cy="14478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626" y="2174727"/>
              <a:ext cx="101219" cy="13917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86626" y="2174727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99278" y="2193706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11931" y="2212684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99278" y="2244315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562" y="2241151"/>
              <a:ext cx="31635" cy="4428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43562" y="2294924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62540" y="2174727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2275560" y="2292400"/>
            <a:ext cx="45085" cy="0"/>
          </a:xfrm>
          <a:custGeom>
            <a:avLst/>
            <a:gdLst/>
            <a:ahLst/>
            <a:cxnLst/>
            <a:rect l="l" t="t" r="r" b="b"/>
            <a:pathLst>
              <a:path w="45085">
                <a:moveTo>
                  <a:pt x="0" y="0"/>
                </a:moveTo>
                <a:lnTo>
                  <a:pt x="44602" y="0"/>
                </a:lnTo>
              </a:path>
            </a:pathLst>
          </a:custGeom>
          <a:ln w="505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87438" y="948966"/>
            <a:ext cx="3933190" cy="16694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Stuart</a:t>
            </a:r>
            <a:r>
              <a:rPr sz="1200" spc="-5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3333B2"/>
                </a:solidFill>
                <a:latin typeface="Tahoma"/>
                <a:cs typeface="Tahoma"/>
              </a:rPr>
              <a:t>Russell</a:t>
            </a:r>
            <a:r>
              <a:rPr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3333B2"/>
                </a:solidFill>
                <a:latin typeface="Tahoma"/>
                <a:cs typeface="Tahoma"/>
              </a:rPr>
              <a:t>and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3333B2"/>
                </a:solidFill>
                <a:latin typeface="Tahoma"/>
                <a:cs typeface="Tahoma"/>
              </a:rPr>
              <a:t>Peter</a:t>
            </a:r>
            <a:r>
              <a:rPr sz="1200" spc="-40" dirty="0">
                <a:solidFill>
                  <a:srgbClr val="3333B2"/>
                </a:solidFill>
                <a:latin typeface="Tahoma"/>
                <a:cs typeface="Tahoma"/>
              </a:rPr>
              <a:t> Norvig. </a:t>
            </a:r>
            <a:r>
              <a:rPr sz="1200" spc="-60" dirty="0">
                <a:solidFill>
                  <a:srgbClr val="3333B2"/>
                </a:solidFill>
                <a:latin typeface="Tahoma"/>
                <a:cs typeface="Tahoma"/>
              </a:rPr>
              <a:t>2009.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Artificial</a:t>
            </a:r>
            <a:r>
              <a:rPr sz="1200" spc="-4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55" dirty="0">
                <a:solidFill>
                  <a:srgbClr val="3333B2"/>
                </a:solidFill>
                <a:latin typeface="Tahoma"/>
                <a:cs typeface="Tahoma"/>
              </a:rPr>
              <a:t>Intelligence:</a:t>
            </a:r>
            <a:r>
              <a:rPr sz="1200" spc="7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3333B2"/>
                </a:solidFill>
                <a:latin typeface="Tahoma"/>
                <a:cs typeface="Tahoma"/>
              </a:rPr>
              <a:t>A 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Modern </a:t>
            </a:r>
            <a:r>
              <a:rPr sz="1200" spc="-45" dirty="0">
                <a:solidFill>
                  <a:srgbClr val="3333B2"/>
                </a:solidFill>
                <a:latin typeface="Tahoma"/>
                <a:cs typeface="Tahoma"/>
              </a:rPr>
              <a:t>Approach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5" dirty="0">
                <a:solidFill>
                  <a:srgbClr val="3333B2"/>
                </a:solidFill>
                <a:latin typeface="Tahoma"/>
                <a:cs typeface="Tahoma"/>
              </a:rPr>
              <a:t>(3rd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3333B2"/>
                </a:solidFill>
                <a:latin typeface="Tahoma"/>
                <a:cs typeface="Tahoma"/>
              </a:rPr>
              <a:t>ed.).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3333B2"/>
                </a:solidFill>
                <a:latin typeface="Tahoma"/>
                <a:cs typeface="Tahoma"/>
              </a:rPr>
              <a:t>Prentice </a:t>
            </a:r>
            <a:r>
              <a:rPr sz="1200" dirty="0">
                <a:solidFill>
                  <a:srgbClr val="3333B2"/>
                </a:solidFill>
                <a:latin typeface="Tahoma"/>
                <a:cs typeface="Tahoma"/>
              </a:rPr>
              <a:t>Hall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3333B2"/>
                </a:solidFill>
                <a:latin typeface="Tahoma"/>
                <a:cs typeface="Tahoma"/>
              </a:rPr>
              <a:t>Press,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45" dirty="0">
                <a:solidFill>
                  <a:srgbClr val="3333B2"/>
                </a:solidFill>
                <a:latin typeface="Tahoma"/>
                <a:cs typeface="Tahoma"/>
              </a:rPr>
              <a:t>Upper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30" dirty="0">
                <a:solidFill>
                  <a:srgbClr val="3333B2"/>
                </a:solidFill>
                <a:latin typeface="Tahoma"/>
                <a:cs typeface="Tahoma"/>
              </a:rPr>
              <a:t>Saddle </a:t>
            </a:r>
            <a:r>
              <a:rPr sz="1200" spc="-35" dirty="0">
                <a:solidFill>
                  <a:srgbClr val="3333B2"/>
                </a:solidFill>
                <a:latin typeface="Tahoma"/>
                <a:cs typeface="Tahoma"/>
              </a:rPr>
              <a:t>River,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dirty="0">
                <a:solidFill>
                  <a:srgbClr val="3333B2"/>
                </a:solidFill>
                <a:latin typeface="Tahoma"/>
                <a:cs typeface="Tahoma"/>
              </a:rPr>
              <a:t>NJ,</a:t>
            </a:r>
            <a:r>
              <a:rPr sz="1200" spc="-1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200" spc="-20" dirty="0">
                <a:solidFill>
                  <a:srgbClr val="3333B2"/>
                </a:solidFill>
                <a:latin typeface="Tahoma"/>
                <a:cs typeface="Tahoma"/>
              </a:rPr>
              <a:t>USA.</a:t>
            </a:r>
            <a:endParaRPr sz="1200">
              <a:latin typeface="Tahoma"/>
              <a:cs typeface="Tahoma"/>
            </a:endParaRPr>
          </a:p>
          <a:p>
            <a:pPr marL="12700" marR="556260">
              <a:lnSpc>
                <a:spcPts val="2200"/>
              </a:lnSpc>
            </a:pPr>
            <a:r>
              <a:rPr sz="1200" spc="-45" dirty="0">
                <a:solidFill>
                  <a:srgbClr val="FF0000"/>
                </a:solidFill>
                <a:latin typeface="Tahoma"/>
                <a:cs typeface="Tahoma"/>
                <a:hlinkClick r:id="rId6"/>
              </a:rPr>
              <a:t>https://www.cs.cmu.edu/</a:t>
            </a:r>
            <a:r>
              <a:rPr sz="1200" spc="100" dirty="0">
                <a:solidFill>
                  <a:srgbClr val="FF0000"/>
                </a:solidFill>
                <a:latin typeface="Tahoma"/>
                <a:cs typeface="Tahoma"/>
                <a:hlinkClick r:id="rId6"/>
              </a:rPr>
              <a:t> </a:t>
            </a:r>
            <a:r>
              <a:rPr sz="1200" spc="-50" dirty="0">
                <a:solidFill>
                  <a:srgbClr val="FF0000"/>
                </a:solidFill>
                <a:latin typeface="Tahoma"/>
                <a:cs typeface="Tahoma"/>
                <a:hlinkClick r:id="rId6"/>
              </a:rPr>
              <a:t>15281/coursenotes/search/</a:t>
            </a:r>
            <a:r>
              <a:rPr sz="1200" spc="-5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0000"/>
                </a:solidFill>
                <a:latin typeface="Tahoma"/>
                <a:cs typeface="Tahoma"/>
                <a:hlinkClick r:id="rId7"/>
              </a:rPr>
              <a:t>https://inst.eecs.berkeley.edu/</a:t>
            </a:r>
            <a:r>
              <a:rPr sz="1200" spc="85" dirty="0">
                <a:solidFill>
                  <a:srgbClr val="FF0000"/>
                </a:solidFill>
                <a:latin typeface="Tahoma"/>
                <a:cs typeface="Tahoma"/>
                <a:hlinkClick r:id="rId7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Tahoma"/>
                <a:cs typeface="Tahoma"/>
                <a:hlinkClick r:id="rId7"/>
              </a:rPr>
              <a:t>cs188/fa24/</a:t>
            </a:r>
            <a:r>
              <a:rPr sz="12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0000"/>
                </a:solidFill>
                <a:latin typeface="Tahoma"/>
                <a:cs typeface="Tahoma"/>
                <a:hlinkClick r:id="rId8"/>
              </a:rPr>
              <a:t>https://ai.berkeley.edu/course</a:t>
            </a:r>
            <a:r>
              <a:rPr sz="1200" spc="75" dirty="0">
                <a:solidFill>
                  <a:srgbClr val="FF0000"/>
                </a:solidFill>
                <a:latin typeface="Tahoma"/>
                <a:cs typeface="Tahoma"/>
                <a:hlinkClick r:id="rId8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Tahoma"/>
                <a:cs typeface="Tahoma"/>
                <a:hlinkClick r:id="rId8"/>
              </a:rPr>
              <a:t>schedule.html</a:t>
            </a:r>
            <a:r>
              <a:rPr sz="1200" spc="-10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FF0000"/>
                </a:solidFill>
                <a:latin typeface="Tahoma"/>
                <a:cs typeface="Tahoma"/>
                <a:hlinkClick r:id="rId9"/>
              </a:rPr>
              <a:t>https://inst.eecs.berkeley.edu/</a:t>
            </a:r>
            <a:r>
              <a:rPr sz="1200" spc="85" dirty="0">
                <a:solidFill>
                  <a:srgbClr val="FF0000"/>
                </a:solidFill>
                <a:latin typeface="Tahoma"/>
                <a:cs typeface="Tahoma"/>
                <a:hlinkClick r:id="rId9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Tahoma"/>
                <a:cs typeface="Tahoma"/>
                <a:hlinkClick r:id="rId9"/>
              </a:rPr>
              <a:t>cs188/su24/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84086" y="2452121"/>
            <a:ext cx="106680" cy="144780"/>
            <a:chOff x="184086" y="2452121"/>
            <a:chExt cx="106680" cy="144780"/>
          </a:xfrm>
        </p:grpSpPr>
        <p:pic>
          <p:nvPicPr>
            <p:cNvPr id="42" name="object 4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626" y="2454661"/>
              <a:ext cx="101219" cy="13917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86626" y="2454661"/>
              <a:ext cx="101600" cy="139700"/>
            </a:xfrm>
            <a:custGeom>
              <a:avLst/>
              <a:gdLst/>
              <a:ahLst/>
              <a:cxnLst/>
              <a:rect l="l" t="t" r="r" b="b"/>
              <a:pathLst>
                <a:path w="101600" h="139700">
                  <a:moveTo>
                    <a:pt x="0" y="139174"/>
                  </a:moveTo>
                  <a:lnTo>
                    <a:pt x="101219" y="139174"/>
                  </a:lnTo>
                  <a:lnTo>
                    <a:pt x="101219" y="25304"/>
                  </a:lnTo>
                  <a:lnTo>
                    <a:pt x="75914" y="0"/>
                  </a:lnTo>
                  <a:lnTo>
                    <a:pt x="0" y="0"/>
                  </a:lnTo>
                  <a:lnTo>
                    <a:pt x="0" y="139174"/>
                  </a:lnTo>
                  <a:close/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99278" y="2473639"/>
              <a:ext cx="63500" cy="0"/>
            </a:xfrm>
            <a:custGeom>
              <a:avLst/>
              <a:gdLst/>
              <a:ahLst/>
              <a:cxnLst/>
              <a:rect l="l" t="t" r="r" b="b"/>
              <a:pathLst>
                <a:path w="63500">
                  <a:moveTo>
                    <a:pt x="0" y="0"/>
                  </a:moveTo>
                  <a:lnTo>
                    <a:pt x="63262" y="0"/>
                  </a:lnTo>
                </a:path>
              </a:pathLst>
            </a:custGeom>
            <a:ln w="507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1931" y="2492617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50609" y="0"/>
                  </a:lnTo>
                </a:path>
                <a:path w="50800" h="12700">
                  <a:moveTo>
                    <a:pt x="0" y="12652"/>
                  </a:moveTo>
                  <a:lnTo>
                    <a:pt x="50609" y="12652"/>
                  </a:lnTo>
                </a:path>
              </a:pathLst>
            </a:custGeom>
            <a:ln w="5079">
              <a:solidFill>
                <a:srgbClr val="999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99278" y="2524248"/>
              <a:ext cx="31750" cy="50800"/>
            </a:xfrm>
            <a:custGeom>
              <a:avLst/>
              <a:gdLst/>
              <a:ahLst/>
              <a:cxnLst/>
              <a:rect l="l" t="t" r="r" b="b"/>
              <a:pathLst>
                <a:path w="31750" h="50800">
                  <a:moveTo>
                    <a:pt x="0" y="0"/>
                  </a:moveTo>
                  <a:lnTo>
                    <a:pt x="31631" y="0"/>
                  </a:lnTo>
                </a:path>
                <a:path w="31750" h="50800">
                  <a:moveTo>
                    <a:pt x="0" y="12652"/>
                  </a:moveTo>
                  <a:lnTo>
                    <a:pt x="31631" y="12652"/>
                  </a:lnTo>
                </a:path>
                <a:path w="31750" h="50800">
                  <a:moveTo>
                    <a:pt x="0" y="25304"/>
                  </a:moveTo>
                  <a:lnTo>
                    <a:pt x="31631" y="25304"/>
                  </a:lnTo>
                </a:path>
                <a:path w="31750" h="50800">
                  <a:moveTo>
                    <a:pt x="0" y="37956"/>
                  </a:moveTo>
                  <a:lnTo>
                    <a:pt x="31631" y="37956"/>
                  </a:lnTo>
                </a:path>
                <a:path w="31750" h="50800">
                  <a:moveTo>
                    <a:pt x="0" y="50609"/>
                  </a:moveTo>
                  <a:lnTo>
                    <a:pt x="31631" y="50609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562" y="2521084"/>
              <a:ext cx="31635" cy="4428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43562" y="2574857"/>
              <a:ext cx="31750" cy="0"/>
            </a:xfrm>
            <a:custGeom>
              <a:avLst/>
              <a:gdLst/>
              <a:ahLst/>
              <a:cxnLst/>
              <a:rect l="l" t="t" r="r" b="b"/>
              <a:pathLst>
                <a:path w="3175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5079">
              <a:solidFill>
                <a:srgbClr val="B2B2B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62540" y="2454661"/>
              <a:ext cx="25400" cy="25400"/>
            </a:xfrm>
            <a:custGeom>
              <a:avLst/>
              <a:gdLst/>
              <a:ahLst/>
              <a:cxnLst/>
              <a:rect l="l" t="t" r="r" b="b"/>
              <a:pathLst>
                <a:path w="25400" h="25400">
                  <a:moveTo>
                    <a:pt x="25304" y="25304"/>
                  </a:moveTo>
                  <a:lnTo>
                    <a:pt x="0" y="25304"/>
                  </a:lnTo>
                  <a:lnTo>
                    <a:pt x="0" y="0"/>
                  </a:lnTo>
                </a:path>
              </a:pathLst>
            </a:custGeom>
            <a:ln w="50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51" name="object 5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A3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EBEB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Richard,</a:t>
            </a:r>
            <a:r>
              <a:rPr spc="45" dirty="0"/>
              <a:t> </a:t>
            </a:r>
            <a:r>
              <a:rPr dirty="0"/>
              <a:t>Philip</a:t>
            </a:r>
            <a:r>
              <a:rPr spc="254" dirty="0"/>
              <a:t> </a:t>
            </a:r>
            <a:r>
              <a:rPr spc="-10" dirty="0"/>
              <a:t>(AIUB)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2253170" y="3351784"/>
            <a:ext cx="10160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25" dirty="0">
                <a:solidFill>
                  <a:srgbClr val="0000FF"/>
                </a:solidFill>
                <a:latin typeface="Arial MT"/>
                <a:cs typeface="Arial MT"/>
                <a:hlinkClick r:id="rId10" action="ppaction://hlinksldjump"/>
              </a:rPr>
              <a:t>AI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AIUB</a:t>
            </a:r>
            <a:r>
              <a:rPr spc="100" dirty="0"/>
              <a:t> </a:t>
            </a:r>
            <a:r>
              <a:rPr spc="-20" dirty="0"/>
              <a:t>2024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dirty="0"/>
              <a:t>38</a:t>
            </a:fld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2161</Words>
  <Application>Microsoft Office PowerPoint</Application>
  <PresentationFormat>Custom</PresentationFormat>
  <Paragraphs>370</Paragraphs>
  <Slides>38</Slides>
  <Notes>0</Notes>
  <HiddenSlides>7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Artificial Intelligence Lecture 2, Chapter 3 Solving Problems by Searching</vt:lpstr>
      <vt:lpstr>Table of Contents</vt:lpstr>
      <vt:lpstr>PowerPoint Presentation</vt:lpstr>
      <vt:lpstr>Problem formulation</vt:lpstr>
      <vt:lpstr>Search Problem formulation</vt:lpstr>
      <vt:lpstr>Example- Vacuum World</vt:lpstr>
      <vt:lpstr>Example - Route-Finding in Romania</vt:lpstr>
      <vt:lpstr>Example - The 8-puzzle problem</vt:lpstr>
      <vt:lpstr>Space tree of 8 puzzle problem</vt:lpstr>
      <vt:lpstr>Example - The 8-queens problem</vt:lpstr>
      <vt:lpstr>Possible solution</vt:lpstr>
      <vt:lpstr>State space graph</vt:lpstr>
      <vt:lpstr>PowerPoint Presentation</vt:lpstr>
      <vt:lpstr>Searching for Solutions</vt:lpstr>
      <vt:lpstr>Searching for Solutions-cont</vt:lpstr>
      <vt:lpstr>Searching for Solutions-cont</vt:lpstr>
      <vt:lpstr>Search strategy and Data Structure</vt:lpstr>
      <vt:lpstr>PowerPoint Presentation</vt:lpstr>
      <vt:lpstr>PowerPoint Presentation</vt:lpstr>
      <vt:lpstr>Measuring problem-solving performance</vt:lpstr>
      <vt:lpstr>Breadth-first search</vt:lpstr>
      <vt:lpstr>BFS</vt:lpstr>
      <vt:lpstr>Properties of Breadth-first search</vt:lpstr>
      <vt:lpstr>Depth-first search</vt:lpstr>
      <vt:lpstr>DFS</vt:lpstr>
      <vt:lpstr>Uniform-cost search</vt:lpstr>
      <vt:lpstr>UCS</vt:lpstr>
      <vt:lpstr>Properties of Depth-first search</vt:lpstr>
      <vt:lpstr>PowerPoint Presentation</vt:lpstr>
      <vt:lpstr>Iterative deepening search</vt:lpstr>
      <vt:lpstr>PowerPoint Presentation</vt:lpstr>
      <vt:lpstr>PowerPoint Presentation</vt:lpstr>
      <vt:lpstr>Exercise/Home Work</vt:lpstr>
      <vt:lpstr>BFS</vt:lpstr>
      <vt:lpstr>DFS</vt:lpstr>
      <vt:lpstr>IDS</vt:lpstr>
      <vt:lpstr>UCS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- Lecture 2, Chapter 3  Solving Problems by Searching</dc:title>
  <dc:creator>Supta Richard Philip</dc:creator>
  <cp:lastModifiedBy>Ahmed Rifat</cp:lastModifiedBy>
  <cp:revision>237</cp:revision>
  <dcterms:created xsi:type="dcterms:W3CDTF">2025-03-15T17:06:52Z</dcterms:created>
  <dcterms:modified xsi:type="dcterms:W3CDTF">2025-07-23T03:25:04Z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2025-03-07T00:00:00Z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2025-03-15T00:00:00Z</vt:filetime>
  </property>
  <property fmtid="{D5CDD505-2E9C-101B-9397-08002B2CF9AE}" pid="5" name="PTEX.Fullbanner">
    <vt:lpwstr>This is pdfTeX, Version 3.14159265-2.6-1.40.18 (TeX Live 2017) kpathsea version 6.2.3</vt:lpwstr>
  </property>
  <property fmtid="{D5CDD505-2E9C-101B-9397-08002B2CF9AE}" pid="6" name="Producer">
    <vt:lpwstr>pdfTeX-1.40.18</vt:lpwstr>
  </property>
</Properties>
</file>